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3" r:id="rId4"/>
  </p:sldMasterIdLst>
  <p:notesMasterIdLst>
    <p:notesMasterId r:id="rId15"/>
  </p:notesMasterIdLst>
  <p:sldIdLst>
    <p:sldId id="303" r:id="rId5"/>
    <p:sldId id="3050" r:id="rId6"/>
    <p:sldId id="3051" r:id="rId7"/>
    <p:sldId id="3052" r:id="rId8"/>
    <p:sldId id="3053" r:id="rId9"/>
    <p:sldId id="3054" r:id="rId10"/>
    <p:sldId id="3055" r:id="rId11"/>
    <p:sldId id="3056" r:id="rId12"/>
    <p:sldId id="2991" r:id="rId13"/>
    <p:sldId id="2957" r:id="rId14"/>
  </p:sldIdLst>
  <p:sldSz cx="12192000" cy="6858000"/>
  <p:notesSz cx="7099300" cy="10234613"/>
  <p:defaultTextStyle>
    <a:defPPr>
      <a:defRPr lang="pt-PT"/>
    </a:defPPr>
    <a:lvl1pPr marL="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003" userDrawn="1">
          <p15:clr>
            <a:srgbClr val="A4A3A4"/>
          </p15:clr>
        </p15:guide>
        <p15:guide id="2" pos="370" userDrawn="1">
          <p15:clr>
            <a:srgbClr val="A4A3A4"/>
          </p15:clr>
        </p15:guide>
        <p15:guide id="4" orient="horz" pos="1979" userDrawn="1">
          <p15:clr>
            <a:srgbClr val="A4A3A4"/>
          </p15:clr>
        </p15:guide>
        <p15:guide id="5" orient="horz" pos="3770" userDrawn="1">
          <p15:clr>
            <a:srgbClr val="A4A3A4"/>
          </p15:clr>
        </p15:guide>
        <p15:guide id="6" orient="horz" pos="550" userDrawn="1">
          <p15:clr>
            <a:srgbClr val="A4A3A4"/>
          </p15:clr>
        </p15:guide>
        <p15:guide id="7" pos="3613" userDrawn="1">
          <p15:clr>
            <a:srgbClr val="A4A3A4"/>
          </p15:clr>
        </p15:guide>
        <p15:guide id="8" pos="7310" userDrawn="1">
          <p15:clr>
            <a:srgbClr val="A4A3A4"/>
          </p15:clr>
        </p15:guide>
        <p15:guide id="9" pos="619" userDrawn="1">
          <p15:clr>
            <a:srgbClr val="A4A3A4"/>
          </p15:clr>
        </p15:guide>
        <p15:guide id="10" pos="4226" userDrawn="1">
          <p15:clr>
            <a:srgbClr val="A4A3A4"/>
          </p15:clr>
        </p15:guide>
        <p15:guide id="11" orient="horz" pos="322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F1F2F2"/>
    <a:srgbClr val="05687F"/>
    <a:srgbClr val="2BACE2"/>
    <a:srgbClr val="042F5B"/>
    <a:srgbClr val="B7B7B7"/>
    <a:srgbClr val="C8C8C8"/>
    <a:srgbClr val="B5B5B5"/>
    <a:srgbClr val="CACACA"/>
    <a:srgbClr val="F2922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584A425-C12B-7705-A4E7-A0FE1640C104}" v="12" dt="2025-09-25T11:28:06.31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1003"/>
        <p:guide pos="370"/>
        <p:guide orient="horz" pos="1979"/>
        <p:guide orient="horz" pos="3770"/>
        <p:guide orient="horz" pos="550"/>
        <p:guide pos="3613"/>
        <p:guide pos="7310"/>
        <p:guide pos="619"/>
        <p:guide pos="4226"/>
        <p:guide orient="horz" pos="3226"/>
      </p:guideLst>
    </p:cSldViewPr>
  </p:slide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drigo Pio Marques" userId="S::rodrigo.marques.t0133443@edu.atec.pt::ca59d921-fd11-4e3f-80ad-3a411f514c88" providerId="AD" clId="Web-{7584A425-C12B-7705-A4E7-A0FE1640C104}"/>
    <pc:docChg chg="modSld">
      <pc:chgData name="Rodrigo Pio Marques" userId="S::rodrigo.marques.t0133443@edu.atec.pt::ca59d921-fd11-4e3f-80ad-3a411f514c88" providerId="AD" clId="Web-{7584A425-C12B-7705-A4E7-A0FE1640C104}" dt="2025-09-25T11:28:06" v="10" actId="20577"/>
      <pc:docMkLst>
        <pc:docMk/>
      </pc:docMkLst>
      <pc:sldChg chg="modSp">
        <pc:chgData name="Rodrigo Pio Marques" userId="S::rodrigo.marques.t0133443@edu.atec.pt::ca59d921-fd11-4e3f-80ad-3a411f514c88" providerId="AD" clId="Web-{7584A425-C12B-7705-A4E7-A0FE1640C104}" dt="2025-09-25T11:28:06" v="10" actId="20577"/>
        <pc:sldMkLst>
          <pc:docMk/>
          <pc:sldMk cId="1349161468" sldId="3053"/>
        </pc:sldMkLst>
        <pc:spChg chg="mod">
          <ac:chgData name="Rodrigo Pio Marques" userId="S::rodrigo.marques.t0133443@edu.atec.pt::ca59d921-fd11-4e3f-80ad-3a411f514c88" providerId="AD" clId="Web-{7584A425-C12B-7705-A4E7-A0FE1640C104}" dt="2025-09-25T11:28:06" v="10" actId="20577"/>
          <ac:spMkLst>
            <pc:docMk/>
            <pc:sldMk cId="1349161468" sldId="3053"/>
            <ac:spMk id="3" creationId="{FDECDEAF-197C-A4C3-A6C8-355EE1AA3ED9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363" cy="513508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l">
              <a:defRPr sz="1300">
                <a:latin typeface="Segoe UI" panose="020B0502040204020203" pitchFamily="34" charset="0"/>
              </a:defRPr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1294" y="0"/>
            <a:ext cx="3076363" cy="513508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r">
              <a:defRPr sz="1300">
                <a:latin typeface="Segoe UI" panose="020B0502040204020203" pitchFamily="34" charset="0"/>
              </a:defRPr>
            </a:lvl1pPr>
          </a:lstStyle>
          <a:p>
            <a:fld id="{26C4126C-DCDA-49DB-A2BC-A62BEB6C9507}" type="datetimeFigureOut">
              <a:rPr lang="pt-PT" smtClean="0"/>
              <a:pPr/>
              <a:t>25/09/2025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79425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48" tIns="49524" rIns="99048" bIns="49524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9930" y="4925407"/>
            <a:ext cx="5679440" cy="4029879"/>
          </a:xfrm>
          <a:prstGeom prst="rect">
            <a:avLst/>
          </a:prstGeom>
        </p:spPr>
        <p:txBody>
          <a:bodyPr vert="horz" lIns="99048" tIns="49524" rIns="99048" bIns="49524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1107"/>
            <a:ext cx="3076363" cy="513507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l">
              <a:defRPr sz="1300">
                <a:latin typeface="Segoe UI" panose="020B0502040204020203" pitchFamily="34" charset="0"/>
              </a:defRPr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1294" y="9721107"/>
            <a:ext cx="3076363" cy="513507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r">
              <a:defRPr sz="1300">
                <a:latin typeface="Segoe UI" panose="020B0502040204020203" pitchFamily="34" charset="0"/>
              </a:defRPr>
            </a:lvl1pPr>
          </a:lstStyle>
          <a:p>
            <a:fld id="{2A46B27F-7627-47E3-BCCB-824837DAC44F}" type="slidenum">
              <a:rPr lang="pt-PT" smtClean="0"/>
              <a:pPr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7386799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77" rtl="0" eaLnBrk="1" latinLnBrk="0" hangingPunct="1">
      <a:defRPr sz="1200" kern="1200">
        <a:solidFill>
          <a:schemeClr val="tx1"/>
        </a:solidFill>
        <a:latin typeface="Segoe UI" panose="020B0502040204020203" pitchFamily="34" charset="0"/>
        <a:ea typeface="+mn-ea"/>
        <a:cs typeface="+mn-cs"/>
      </a:defRPr>
    </a:lvl1pPr>
    <a:lvl2pPr marL="457189" algn="l" defTabSz="914377" rtl="0" eaLnBrk="1" latinLnBrk="0" hangingPunct="1">
      <a:defRPr sz="1200" kern="1200">
        <a:solidFill>
          <a:schemeClr val="tx1"/>
        </a:solidFill>
        <a:latin typeface="Segoe UI" panose="020B0502040204020203" pitchFamily="34" charset="0"/>
        <a:ea typeface="+mn-ea"/>
        <a:cs typeface="+mn-cs"/>
      </a:defRPr>
    </a:lvl2pPr>
    <a:lvl3pPr marL="914377" algn="l" defTabSz="914377" rtl="0" eaLnBrk="1" latinLnBrk="0" hangingPunct="1">
      <a:defRPr sz="1200" kern="1200">
        <a:solidFill>
          <a:schemeClr val="tx1"/>
        </a:solidFill>
        <a:latin typeface="Segoe UI" panose="020B0502040204020203" pitchFamily="34" charset="0"/>
        <a:ea typeface="+mn-ea"/>
        <a:cs typeface="+mn-cs"/>
      </a:defRPr>
    </a:lvl3pPr>
    <a:lvl4pPr marL="1371566" algn="l" defTabSz="914377" rtl="0" eaLnBrk="1" latinLnBrk="0" hangingPunct="1">
      <a:defRPr sz="1200" kern="1200">
        <a:solidFill>
          <a:schemeClr val="tx1"/>
        </a:solidFill>
        <a:latin typeface="Segoe UI" panose="020B0502040204020203" pitchFamily="34" charset="0"/>
        <a:ea typeface="+mn-ea"/>
        <a:cs typeface="+mn-cs"/>
      </a:defRPr>
    </a:lvl4pPr>
    <a:lvl5pPr marL="1828754" algn="l" defTabSz="914377" rtl="0" eaLnBrk="1" latinLnBrk="0" hangingPunct="1">
      <a:defRPr sz="1200" kern="1200">
        <a:solidFill>
          <a:schemeClr val="tx1"/>
        </a:solidFill>
        <a:latin typeface="Segoe UI" panose="020B0502040204020203" pitchFamily="34" charset="0"/>
        <a:ea typeface="+mn-ea"/>
        <a:cs typeface="+mn-cs"/>
      </a:defRPr>
    </a:lvl5pPr>
    <a:lvl6pPr marL="2285943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m 12">
            <a:extLst>
              <a:ext uri="{FF2B5EF4-FFF2-40B4-BE49-F238E27FC236}">
                <a16:creationId xmlns:a16="http://schemas.microsoft.com/office/drawing/2014/main" id="{844370CF-6371-4608-9DB1-6FFB0029930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43"/>
            <a:ext cx="12192000" cy="6857657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A1457367-E0AD-4641-B199-08FCAFD04C0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5" name="Marcador de Posição do Texto 4">
            <a:extLst>
              <a:ext uri="{FF2B5EF4-FFF2-40B4-BE49-F238E27FC236}">
                <a16:creationId xmlns:a16="http://schemas.microsoft.com/office/drawing/2014/main" id="{7842E9C6-AE9B-4E89-A06A-87897874265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4280517"/>
            <a:ext cx="12192000" cy="731838"/>
          </a:xfrm>
          <a:prstGeom prst="rect">
            <a:avLst/>
          </a:prstGeom>
        </p:spPr>
        <p:txBody>
          <a:bodyPr/>
          <a:lstStyle>
            <a:lvl1pPr algn="ctr">
              <a:defRPr b="1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pt-PT"/>
              <a:t>Editar os estilos de texto do Modelo Global</a:t>
            </a:r>
          </a:p>
        </p:txBody>
      </p:sp>
    </p:spTree>
    <p:extLst>
      <p:ext uri="{BB962C8B-B14F-4D97-AF65-F5344CB8AC3E}">
        <p14:creationId xmlns:p14="http://schemas.microsoft.com/office/powerpoint/2010/main" val="30067648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, Sub-título e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2817" y="390526"/>
            <a:ext cx="9484727" cy="685800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baseline="0">
                <a:solidFill>
                  <a:srgbClr val="134773"/>
                </a:solidFill>
              </a:defRPr>
            </a:lvl1pPr>
          </a:lstStyle>
          <a:p>
            <a:r>
              <a:rPr lang="en-US"/>
              <a:t>TÍTULO DO SLIDE</a:t>
            </a:r>
            <a:endParaRPr lang="pt-PT"/>
          </a:p>
        </p:txBody>
      </p:sp>
      <p:sp>
        <p:nvSpPr>
          <p:cNvPr id="26" name="Text Placeholder 25"/>
          <p:cNvSpPr>
            <a:spLocks noGrp="1"/>
          </p:cNvSpPr>
          <p:nvPr>
            <p:ph type="body" sz="quarter" idx="10"/>
          </p:nvPr>
        </p:nvSpPr>
        <p:spPr>
          <a:xfrm>
            <a:off x="579642" y="1715734"/>
            <a:ext cx="10999214" cy="324643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00000"/>
              </a:lnSpc>
              <a:defRPr sz="1600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lnSpc>
                <a:spcPct val="100000"/>
              </a:lnSpc>
              <a:defRPr sz="1600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lnSpc>
                <a:spcPct val="100000"/>
              </a:lnSpc>
              <a:defRPr sz="1600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>
              <a:lnSpc>
                <a:spcPct val="100000"/>
              </a:lnSpc>
              <a:defRPr sz="1600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 hasCustomPrompt="1"/>
          </p:nvPr>
        </p:nvSpPr>
        <p:spPr>
          <a:xfrm>
            <a:off x="583321" y="1224733"/>
            <a:ext cx="10995535" cy="417091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Sub-</a:t>
            </a:r>
            <a:r>
              <a:rPr lang="en-US" err="1"/>
              <a:t>título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74517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5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e Sub-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2817" y="390526"/>
            <a:ext cx="9484727" cy="685800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baseline="0">
                <a:solidFill>
                  <a:srgbClr val="134773"/>
                </a:solidFill>
              </a:defRPr>
            </a:lvl1pPr>
          </a:lstStyle>
          <a:p>
            <a:r>
              <a:rPr lang="en-US"/>
              <a:t>TÍTULO DO SLIDE</a:t>
            </a:r>
            <a:endParaRPr lang="pt-PT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 hasCustomPrompt="1"/>
          </p:nvPr>
        </p:nvSpPr>
        <p:spPr>
          <a:xfrm>
            <a:off x="583321" y="1224733"/>
            <a:ext cx="10995535" cy="417091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Sub-</a:t>
            </a:r>
            <a:r>
              <a:rPr lang="en-US" err="1"/>
              <a:t>título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90863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5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e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2817" y="390526"/>
            <a:ext cx="9608587" cy="685800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baseline="0">
                <a:solidFill>
                  <a:srgbClr val="134773"/>
                </a:solidFill>
              </a:defRPr>
            </a:lvl1pPr>
          </a:lstStyle>
          <a:p>
            <a:r>
              <a:rPr lang="pt-PT"/>
              <a:t>CLIQUE PARA EDITAR O ESTILO</a:t>
            </a:r>
          </a:p>
        </p:txBody>
      </p:sp>
      <p:sp>
        <p:nvSpPr>
          <p:cNvPr id="26" name="Text Placeholder 25"/>
          <p:cNvSpPr>
            <a:spLocks noGrp="1"/>
          </p:cNvSpPr>
          <p:nvPr>
            <p:ph type="body" sz="quarter" idx="10"/>
          </p:nvPr>
        </p:nvSpPr>
        <p:spPr>
          <a:xfrm>
            <a:off x="579642" y="1224732"/>
            <a:ext cx="11029541" cy="309803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00000"/>
              </a:lnSpc>
              <a:defRPr sz="1600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lnSpc>
                <a:spcPct val="100000"/>
              </a:lnSpc>
              <a:defRPr sz="1600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lnSpc>
                <a:spcPct val="100000"/>
              </a:lnSpc>
              <a:defRPr sz="1600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>
              <a:lnSpc>
                <a:spcPct val="100000"/>
              </a:lnSpc>
              <a:defRPr sz="1600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40727480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2817" y="390526"/>
            <a:ext cx="9608587" cy="685800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baseline="0">
                <a:solidFill>
                  <a:srgbClr val="134773"/>
                </a:solidFill>
              </a:defRPr>
            </a:lvl1pPr>
          </a:lstStyle>
          <a:p>
            <a:r>
              <a:rPr lang="pt-PT"/>
              <a:t>CLIQUE PARA EDITAR O ESTILO</a:t>
            </a:r>
          </a:p>
        </p:txBody>
      </p:sp>
    </p:spTree>
    <p:extLst>
      <p:ext uri="{BB962C8B-B14F-4D97-AF65-F5344CB8AC3E}">
        <p14:creationId xmlns:p14="http://schemas.microsoft.com/office/powerpoint/2010/main" val="32633569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, Sub-título, 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Posição da Imagem 6">
            <a:extLst>
              <a:ext uri="{FF2B5EF4-FFF2-40B4-BE49-F238E27FC236}">
                <a16:creationId xmlns:a16="http://schemas.microsoft.com/office/drawing/2014/main" id="{6AA28ED5-1806-4E62-B34D-D06A6B29074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1223963"/>
            <a:ext cx="5513388" cy="4281487"/>
          </a:xfrm>
        </p:spPr>
        <p:txBody>
          <a:bodyPr/>
          <a:lstStyle/>
          <a:p>
            <a:endParaRPr lang="pt-PT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2817" y="390526"/>
            <a:ext cx="9484727" cy="685800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baseline="0">
                <a:solidFill>
                  <a:srgbClr val="134773"/>
                </a:solidFill>
              </a:defRPr>
            </a:lvl1pPr>
          </a:lstStyle>
          <a:p>
            <a:r>
              <a:rPr lang="en-US"/>
              <a:t>TÍTULO DO SLIDE</a:t>
            </a:r>
            <a:endParaRPr lang="pt-PT"/>
          </a:p>
        </p:txBody>
      </p:sp>
      <p:sp>
        <p:nvSpPr>
          <p:cNvPr id="26" name="Text Placeholder 25"/>
          <p:cNvSpPr>
            <a:spLocks noGrp="1"/>
          </p:cNvSpPr>
          <p:nvPr>
            <p:ph type="body" sz="quarter" idx="10"/>
          </p:nvPr>
        </p:nvSpPr>
        <p:spPr>
          <a:xfrm>
            <a:off x="6064340" y="1715734"/>
            <a:ext cx="5514516" cy="378971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00000"/>
              </a:lnSpc>
              <a:defRPr sz="1600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lnSpc>
                <a:spcPct val="100000"/>
              </a:lnSpc>
              <a:defRPr sz="1600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lnSpc>
                <a:spcPct val="100000"/>
              </a:lnSpc>
              <a:defRPr sz="1600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>
              <a:lnSpc>
                <a:spcPct val="100000"/>
              </a:lnSpc>
              <a:defRPr sz="1600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 hasCustomPrompt="1"/>
          </p:nvPr>
        </p:nvSpPr>
        <p:spPr>
          <a:xfrm>
            <a:off x="6066184" y="1224733"/>
            <a:ext cx="5512672" cy="417091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</a:lstStyle>
          <a:p>
            <a:pPr lvl="0"/>
            <a:r>
              <a:rPr lang="en-US"/>
              <a:t>Sub-</a:t>
            </a:r>
            <a:r>
              <a:rPr lang="en-US" err="1"/>
              <a:t>título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20147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5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, 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Posição da Imagem 6">
            <a:extLst>
              <a:ext uri="{FF2B5EF4-FFF2-40B4-BE49-F238E27FC236}">
                <a16:creationId xmlns:a16="http://schemas.microsoft.com/office/drawing/2014/main" id="{6AA28ED5-1806-4E62-B34D-D06A6B29074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1223963"/>
            <a:ext cx="5513388" cy="4281487"/>
          </a:xfrm>
        </p:spPr>
        <p:txBody>
          <a:bodyPr/>
          <a:lstStyle/>
          <a:p>
            <a:endParaRPr lang="pt-PT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2817" y="390526"/>
            <a:ext cx="9484727" cy="685800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baseline="0">
                <a:solidFill>
                  <a:srgbClr val="134773"/>
                </a:solidFill>
              </a:defRPr>
            </a:lvl1pPr>
          </a:lstStyle>
          <a:p>
            <a:r>
              <a:rPr lang="en-US"/>
              <a:t>TÍTULO DO SLIDE</a:t>
            </a:r>
            <a:endParaRPr lang="pt-PT"/>
          </a:p>
        </p:txBody>
      </p:sp>
      <p:sp>
        <p:nvSpPr>
          <p:cNvPr id="26" name="Text Placeholder 25"/>
          <p:cNvSpPr>
            <a:spLocks noGrp="1"/>
          </p:cNvSpPr>
          <p:nvPr>
            <p:ph type="body" sz="quarter" idx="10"/>
          </p:nvPr>
        </p:nvSpPr>
        <p:spPr>
          <a:xfrm>
            <a:off x="6064340" y="1223963"/>
            <a:ext cx="5514516" cy="4281487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00000"/>
              </a:lnSpc>
              <a:defRPr sz="1600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lnSpc>
                <a:spcPct val="100000"/>
              </a:lnSpc>
              <a:defRPr sz="1600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lnSpc>
                <a:spcPct val="100000"/>
              </a:lnSpc>
              <a:defRPr sz="1600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>
              <a:lnSpc>
                <a:spcPct val="100000"/>
              </a:lnSpc>
              <a:defRPr sz="1600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20695355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5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Logo ATEC co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302117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, Sub-título e Texto - Fundo escur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6AB2F20D-03D8-4169-B30C-F63D690654F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43"/>
            <a:ext cx="12191999" cy="685765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2817" y="390526"/>
            <a:ext cx="9484727" cy="685800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baseline="0">
                <a:solidFill>
                  <a:schemeClr val="accent3"/>
                </a:solidFill>
              </a:defRPr>
            </a:lvl1pPr>
          </a:lstStyle>
          <a:p>
            <a:r>
              <a:rPr lang="en-US"/>
              <a:t>TÍTULO DO SLIDE</a:t>
            </a:r>
            <a:endParaRPr lang="pt-PT"/>
          </a:p>
        </p:txBody>
      </p:sp>
      <p:sp>
        <p:nvSpPr>
          <p:cNvPr id="26" name="Text Placeholder 25"/>
          <p:cNvSpPr>
            <a:spLocks noGrp="1"/>
          </p:cNvSpPr>
          <p:nvPr>
            <p:ph type="body" sz="quarter" idx="10"/>
          </p:nvPr>
        </p:nvSpPr>
        <p:spPr>
          <a:xfrm>
            <a:off x="579642" y="1715734"/>
            <a:ext cx="10999214" cy="324643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00000"/>
              </a:lnSpc>
              <a:defRPr sz="160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lnSpc>
                <a:spcPct val="100000"/>
              </a:lnSpc>
              <a:defRPr sz="160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lnSpc>
                <a:spcPct val="100000"/>
              </a:lnSpc>
              <a:defRPr sz="160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>
              <a:lnSpc>
                <a:spcPct val="100000"/>
              </a:lnSpc>
              <a:defRPr sz="160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 hasCustomPrompt="1"/>
          </p:nvPr>
        </p:nvSpPr>
        <p:spPr>
          <a:xfrm>
            <a:off x="583321" y="1224733"/>
            <a:ext cx="10995535" cy="417091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Sub-</a:t>
            </a:r>
            <a:r>
              <a:rPr lang="en-US" err="1"/>
              <a:t>título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474832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55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e Sub-título - Fundo escur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2ACC5560-A4FF-4E86-9DE2-4AE66E915D2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43"/>
            <a:ext cx="12191999" cy="685765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2817" y="390526"/>
            <a:ext cx="9484727" cy="685800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baseline="0">
                <a:solidFill>
                  <a:schemeClr val="accent3"/>
                </a:solidFill>
              </a:defRPr>
            </a:lvl1pPr>
          </a:lstStyle>
          <a:p>
            <a:r>
              <a:rPr lang="en-US"/>
              <a:t>TÍTULO DO SLIDE</a:t>
            </a:r>
            <a:endParaRPr lang="pt-PT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 hasCustomPrompt="1"/>
          </p:nvPr>
        </p:nvSpPr>
        <p:spPr>
          <a:xfrm>
            <a:off x="583321" y="1224733"/>
            <a:ext cx="10995535" cy="417091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Sub-</a:t>
            </a:r>
            <a:r>
              <a:rPr lang="en-US" err="1"/>
              <a:t>título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839238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55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e Texto - Fundo escur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E91123E0-D667-4FE9-87BC-0A11B602EF6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43"/>
            <a:ext cx="12191999" cy="685765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2817" y="390526"/>
            <a:ext cx="9608587" cy="685800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baseline="0">
                <a:solidFill>
                  <a:schemeClr val="accent3"/>
                </a:solidFill>
              </a:defRPr>
            </a:lvl1pPr>
          </a:lstStyle>
          <a:p>
            <a:r>
              <a:rPr lang="pt-PT"/>
              <a:t>CLIQUE PARA EDITAR O ESTILO</a:t>
            </a:r>
          </a:p>
        </p:txBody>
      </p:sp>
      <p:sp>
        <p:nvSpPr>
          <p:cNvPr id="26" name="Text Placeholder 25"/>
          <p:cNvSpPr>
            <a:spLocks noGrp="1"/>
          </p:cNvSpPr>
          <p:nvPr>
            <p:ph type="body" sz="quarter" idx="10"/>
          </p:nvPr>
        </p:nvSpPr>
        <p:spPr>
          <a:xfrm>
            <a:off x="579642" y="1224732"/>
            <a:ext cx="11029541" cy="309803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00000"/>
              </a:lnSpc>
              <a:defRPr sz="160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lnSpc>
                <a:spcPct val="100000"/>
              </a:lnSpc>
              <a:defRPr sz="160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lnSpc>
                <a:spcPct val="100000"/>
              </a:lnSpc>
              <a:defRPr sz="160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>
              <a:lnSpc>
                <a:spcPct val="100000"/>
              </a:lnSpc>
              <a:defRPr sz="160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67926000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- Fundo escur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30F9D2C4-13BB-4100-B9F5-DA96BF39C05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43"/>
            <a:ext cx="12191999" cy="6857657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0C95A1C4-7284-4A03-8A1C-5AFEA74259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pt-PT"/>
              <a:t>Clique para editar o estilo de título do Modelo Global</a:t>
            </a:r>
          </a:p>
        </p:txBody>
      </p:sp>
    </p:spTree>
    <p:extLst>
      <p:ext uri="{BB962C8B-B14F-4D97-AF65-F5344CB8AC3E}">
        <p14:creationId xmlns:p14="http://schemas.microsoft.com/office/powerpoint/2010/main" val="371494092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, Sub-título, Texto e imagem - Fundo escur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>
            <a:extLst>
              <a:ext uri="{FF2B5EF4-FFF2-40B4-BE49-F238E27FC236}">
                <a16:creationId xmlns:a16="http://schemas.microsoft.com/office/drawing/2014/main" id="{C53849F3-22FA-4D1B-A226-1FA26FC2E40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43"/>
            <a:ext cx="12191999" cy="6857657"/>
          </a:xfrm>
          <a:prstGeom prst="rect">
            <a:avLst/>
          </a:prstGeom>
        </p:spPr>
      </p:pic>
      <p:sp>
        <p:nvSpPr>
          <p:cNvPr id="7" name="Marcador de Posição da Imagem 6">
            <a:extLst>
              <a:ext uri="{FF2B5EF4-FFF2-40B4-BE49-F238E27FC236}">
                <a16:creationId xmlns:a16="http://schemas.microsoft.com/office/drawing/2014/main" id="{6AA28ED5-1806-4E62-B34D-D06A6B29074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1223963"/>
            <a:ext cx="5513388" cy="4281487"/>
          </a:xfrm>
        </p:spPr>
        <p:txBody>
          <a:bodyPr/>
          <a:lstStyle/>
          <a:p>
            <a:endParaRPr lang="pt-PT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2817" y="390526"/>
            <a:ext cx="9484727" cy="685800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baseline="0">
                <a:solidFill>
                  <a:schemeClr val="accent3"/>
                </a:solidFill>
              </a:defRPr>
            </a:lvl1pPr>
          </a:lstStyle>
          <a:p>
            <a:r>
              <a:rPr lang="en-US"/>
              <a:t>TÍTULO DO SLIDE</a:t>
            </a:r>
            <a:endParaRPr lang="pt-PT"/>
          </a:p>
        </p:txBody>
      </p:sp>
      <p:sp>
        <p:nvSpPr>
          <p:cNvPr id="26" name="Text Placeholder 25"/>
          <p:cNvSpPr>
            <a:spLocks noGrp="1"/>
          </p:cNvSpPr>
          <p:nvPr>
            <p:ph type="body" sz="quarter" idx="10"/>
          </p:nvPr>
        </p:nvSpPr>
        <p:spPr>
          <a:xfrm>
            <a:off x="6064340" y="1715734"/>
            <a:ext cx="5514516" cy="378971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00000"/>
              </a:lnSpc>
              <a:defRPr sz="160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lnSpc>
                <a:spcPct val="100000"/>
              </a:lnSpc>
              <a:defRPr sz="160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lnSpc>
                <a:spcPct val="100000"/>
              </a:lnSpc>
              <a:defRPr sz="160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>
              <a:lnSpc>
                <a:spcPct val="100000"/>
              </a:lnSpc>
              <a:defRPr sz="160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 hasCustomPrompt="1"/>
          </p:nvPr>
        </p:nvSpPr>
        <p:spPr>
          <a:xfrm>
            <a:off x="6066184" y="1224733"/>
            <a:ext cx="5512672" cy="417091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</a:lstStyle>
          <a:p>
            <a:pPr lvl="0"/>
            <a:r>
              <a:rPr lang="en-US"/>
              <a:t>Sub-</a:t>
            </a:r>
            <a:r>
              <a:rPr lang="en-US" err="1"/>
              <a:t>título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886474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55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, Texto e imagem - Fundo escur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83C9D125-4EBB-48C0-8865-5B930ED21F8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43"/>
            <a:ext cx="12191999" cy="6857657"/>
          </a:xfrm>
          <a:prstGeom prst="rect">
            <a:avLst/>
          </a:prstGeom>
        </p:spPr>
      </p:pic>
      <p:sp>
        <p:nvSpPr>
          <p:cNvPr id="7" name="Marcador de Posição da Imagem 6">
            <a:extLst>
              <a:ext uri="{FF2B5EF4-FFF2-40B4-BE49-F238E27FC236}">
                <a16:creationId xmlns:a16="http://schemas.microsoft.com/office/drawing/2014/main" id="{6AA28ED5-1806-4E62-B34D-D06A6B29074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1223963"/>
            <a:ext cx="5513388" cy="4281487"/>
          </a:xfrm>
        </p:spPr>
        <p:txBody>
          <a:bodyPr/>
          <a:lstStyle/>
          <a:p>
            <a:endParaRPr lang="pt-PT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2817" y="390526"/>
            <a:ext cx="9484727" cy="685800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baseline="0">
                <a:solidFill>
                  <a:schemeClr val="accent3"/>
                </a:solidFill>
              </a:defRPr>
            </a:lvl1pPr>
          </a:lstStyle>
          <a:p>
            <a:r>
              <a:rPr lang="en-US"/>
              <a:t>TÍTULO DO SLIDE</a:t>
            </a:r>
            <a:endParaRPr lang="pt-PT"/>
          </a:p>
        </p:txBody>
      </p:sp>
      <p:sp>
        <p:nvSpPr>
          <p:cNvPr id="26" name="Text Placeholder 25"/>
          <p:cNvSpPr>
            <a:spLocks noGrp="1"/>
          </p:cNvSpPr>
          <p:nvPr>
            <p:ph type="body" sz="quarter" idx="10"/>
          </p:nvPr>
        </p:nvSpPr>
        <p:spPr>
          <a:xfrm>
            <a:off x="6064340" y="1223963"/>
            <a:ext cx="5514516" cy="4281487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00000"/>
              </a:lnSpc>
              <a:defRPr sz="160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lnSpc>
                <a:spcPct val="100000"/>
              </a:lnSpc>
              <a:defRPr sz="160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lnSpc>
                <a:spcPct val="100000"/>
              </a:lnSpc>
              <a:defRPr sz="160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>
              <a:lnSpc>
                <a:spcPct val="100000"/>
              </a:lnSpc>
              <a:defRPr sz="160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132046510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55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Logo ATEC branco - Fundo escur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1F040E86-0E21-4B5F-8BEE-C084CC25C80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43"/>
            <a:ext cx="12191999" cy="6857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237553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>
            <a:extLst>
              <a:ext uri="{FF2B5EF4-FFF2-40B4-BE49-F238E27FC236}">
                <a16:creationId xmlns:a16="http://schemas.microsoft.com/office/drawing/2014/main" id="{DBBB4069-AFF1-4D14-BA73-A9C31D806154}"/>
              </a:ext>
            </a:extLst>
          </p:cNvPr>
          <p:cNvPicPr>
            <a:picLocks noChangeAspect="1"/>
          </p:cNvPicPr>
          <p:nvPr userDrawn="1"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43"/>
            <a:ext cx="12192000" cy="6857657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2817" y="390526"/>
            <a:ext cx="9504218" cy="685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79120" y="1224732"/>
            <a:ext cx="11033760" cy="4170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itle Placeholder 1"/>
          <p:cNvSpPr txBox="1">
            <a:spLocks/>
          </p:cNvSpPr>
          <p:nvPr userDrawn="1"/>
        </p:nvSpPr>
        <p:spPr>
          <a:xfrm>
            <a:off x="990600" y="542926"/>
            <a:ext cx="10515600" cy="685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rgbClr val="002060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9206834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694" r:id="rId2"/>
    <p:sldLayoutId id="2147483706" r:id="rId3"/>
    <p:sldLayoutId id="2147483695" r:id="rId4"/>
    <p:sldLayoutId id="2147483707" r:id="rId5"/>
    <p:sldLayoutId id="2147483709" r:id="rId6"/>
    <p:sldLayoutId id="2147483710" r:id="rId7"/>
    <p:sldLayoutId id="2147483699" r:id="rId8"/>
    <p:sldLayoutId id="2147483703" r:id="rId9"/>
    <p:sldLayoutId id="2147483713" r:id="rId10"/>
    <p:sldLayoutId id="2147483704" r:id="rId11"/>
    <p:sldLayoutId id="2147483714" r:id="rId12"/>
    <p:sldLayoutId id="2147483711" r:id="rId13"/>
    <p:sldLayoutId id="2147483712" r:id="rId14"/>
    <p:sldLayoutId id="2147483701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b="1" kern="1200">
          <a:solidFill>
            <a:srgbClr val="134773"/>
          </a:solidFill>
          <a:latin typeface="Segoe UI Bold" panose="020B0802040204020203" pitchFamily="34" charset="0"/>
          <a:ea typeface="+mj-ea"/>
          <a:cs typeface="Segoe UI Bold" panose="020B0802040204020203" pitchFamily="34" charset="0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None/>
        <a:defRPr sz="2000" kern="1200">
          <a:solidFill>
            <a:srgbClr val="00B0F0"/>
          </a:solidFill>
          <a:latin typeface="Segoe UI Semibold" panose="020B0702040204020203" pitchFamily="34" charset="0"/>
          <a:ea typeface="Open Sans Semibold" panose="020B0706030804020204" pitchFamily="34" charset="0"/>
          <a:cs typeface="Segoe UI Semibold" panose="020B0702040204020203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3">
              <a:lumMod val="50000"/>
            </a:schemeClr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3">
              <a:lumMod val="50000"/>
            </a:schemeClr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accent3">
              <a:lumMod val="50000"/>
            </a:schemeClr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accent3">
              <a:lumMod val="5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slideLayout" Target="../slideLayouts/slideLayout15.xml"/><Relationship Id="rId1" Type="http://schemas.openxmlformats.org/officeDocument/2006/relationships/tags" Target="../tags/tag1.xml"/><Relationship Id="rId4" Type="http://schemas.openxmlformats.org/officeDocument/2006/relationships/image" Target="../media/image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Texto 1">
            <a:extLst>
              <a:ext uri="{FF2B5EF4-FFF2-40B4-BE49-F238E27FC236}">
                <a16:creationId xmlns:a16="http://schemas.microsoft.com/office/drawing/2014/main" id="{4476C946-46AB-45F8-806D-B34BC9EF664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pt-PT"/>
              <a:t>Arquitetura Computadores</a:t>
            </a:r>
          </a:p>
        </p:txBody>
      </p:sp>
      <p:sp>
        <p:nvSpPr>
          <p:cNvPr id="32" name="AutoShape 18"/>
          <p:cNvSpPr>
            <a:spLocks noChangeAspect="1" noChangeArrowheads="1" noTextEdit="1"/>
          </p:cNvSpPr>
          <p:nvPr/>
        </p:nvSpPr>
        <p:spPr bwMode="auto">
          <a:xfrm>
            <a:off x="-220663" y="5072063"/>
            <a:ext cx="2863851" cy="2209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6456061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569B85-F73B-9D95-4AAA-CBA8D82617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itle 41">
            <a:extLst>
              <a:ext uri="{FF2B5EF4-FFF2-40B4-BE49-F238E27FC236}">
                <a16:creationId xmlns:a16="http://schemas.microsoft.com/office/drawing/2014/main" id="{CFAB74B5-3878-EA75-A4CB-BDC999AEBA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817" y="390526"/>
            <a:ext cx="9484727" cy="685800"/>
          </a:xfrm>
        </p:spPr>
        <p:txBody>
          <a:bodyPr anchor="ctr">
            <a:normAutofit/>
          </a:bodyPr>
          <a:lstStyle/>
          <a:p>
            <a:r>
              <a:rPr lang="pt-PT"/>
              <a:t>Arquitetura de Computadores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9419EABE-B617-02B4-FF43-C9FC87EF122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2817" y="1715734"/>
            <a:ext cx="10996039" cy="3789716"/>
          </a:xfrm>
        </p:spPr>
        <p:txBody>
          <a:bodyPr>
            <a:noAutofit/>
          </a:bodyPr>
          <a:lstStyle/>
          <a:p>
            <a:r>
              <a:rPr lang="en-GB" b="1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Exercícios</a:t>
            </a:r>
            <a:r>
              <a:rPr lang="en-GB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de </a:t>
            </a:r>
            <a:r>
              <a:rPr lang="en-GB" b="1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Conversão</a:t>
            </a:r>
            <a:r>
              <a:rPr lang="en-GB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de Decimal para </a:t>
            </a:r>
            <a:r>
              <a:rPr lang="en-GB" b="1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Binário</a:t>
            </a:r>
            <a:r>
              <a:rPr lang="en-GB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  <a:endParaRPr lang="en-GB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>
              <a:buFont typeface="+mj-lt"/>
              <a:buAutoNum type="arabicPeriod"/>
            </a:pPr>
            <a:r>
              <a:rPr lang="en-GB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Converta</a:t>
            </a:r>
            <a:r>
              <a:rPr lang="en-GB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o </a:t>
            </a:r>
            <a:r>
              <a:rPr lang="en-GB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número</a:t>
            </a:r>
            <a:r>
              <a:rPr lang="en-GB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decimal 156 para a base 2 (</a:t>
            </a:r>
            <a:r>
              <a:rPr lang="en-GB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binário</a:t>
            </a:r>
            <a:r>
              <a:rPr lang="en-GB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).</a:t>
            </a:r>
          </a:p>
          <a:p>
            <a:pPr lvl="1">
              <a:buFont typeface="+mj-lt"/>
              <a:buAutoNum type="arabicPeriod"/>
            </a:pPr>
            <a:r>
              <a:rPr lang="en-GB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Converta</a:t>
            </a:r>
            <a:r>
              <a:rPr lang="en-GB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o </a:t>
            </a:r>
            <a:r>
              <a:rPr lang="en-GB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número</a:t>
            </a:r>
            <a:r>
              <a:rPr lang="en-GB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decimal 233 para a base 2 (</a:t>
            </a:r>
            <a:r>
              <a:rPr lang="en-GB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binário</a:t>
            </a:r>
            <a:r>
              <a:rPr lang="en-GB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).</a:t>
            </a:r>
          </a:p>
          <a:p>
            <a:pPr lvl="1">
              <a:buFont typeface="+mj-lt"/>
              <a:buAutoNum type="arabicPeriod"/>
            </a:pPr>
            <a:r>
              <a:rPr lang="en-GB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Converta</a:t>
            </a:r>
            <a:r>
              <a:rPr lang="en-GB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o </a:t>
            </a:r>
            <a:r>
              <a:rPr lang="en-GB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número</a:t>
            </a:r>
            <a:r>
              <a:rPr lang="en-GB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decimal 45 para a base 2 (</a:t>
            </a:r>
            <a:r>
              <a:rPr lang="en-GB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binário</a:t>
            </a:r>
            <a:r>
              <a:rPr lang="en-GB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).</a:t>
            </a:r>
          </a:p>
          <a:p>
            <a:pPr lvl="1">
              <a:buFont typeface="+mj-lt"/>
              <a:buAutoNum type="arabicPeriod"/>
            </a:pPr>
            <a:r>
              <a:rPr lang="en-GB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Converta</a:t>
            </a:r>
            <a:r>
              <a:rPr lang="en-GB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o </a:t>
            </a:r>
            <a:r>
              <a:rPr lang="en-GB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número</a:t>
            </a:r>
            <a:r>
              <a:rPr lang="en-GB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decimal 102 para a base 2 (</a:t>
            </a:r>
            <a:r>
              <a:rPr lang="en-GB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binário</a:t>
            </a:r>
            <a:r>
              <a:rPr lang="en-GB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).</a:t>
            </a:r>
          </a:p>
          <a:p>
            <a:pPr lvl="1">
              <a:buFont typeface="+mj-lt"/>
              <a:buAutoNum type="arabicPeriod"/>
            </a:pPr>
            <a:r>
              <a:rPr lang="en-GB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Converta</a:t>
            </a:r>
            <a:r>
              <a:rPr lang="en-GB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o </a:t>
            </a:r>
            <a:r>
              <a:rPr lang="en-GB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número</a:t>
            </a:r>
            <a:r>
              <a:rPr lang="en-GB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decimal 999 para a base 2 (</a:t>
            </a:r>
            <a:r>
              <a:rPr lang="en-GB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binário</a:t>
            </a:r>
            <a:r>
              <a:rPr lang="en-GB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).</a:t>
            </a:r>
          </a:p>
          <a:p>
            <a:r>
              <a:rPr lang="en-GB" b="1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Exercícios</a:t>
            </a:r>
            <a:r>
              <a:rPr lang="en-GB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de </a:t>
            </a:r>
            <a:r>
              <a:rPr lang="en-GB" b="1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Conversão</a:t>
            </a:r>
            <a:r>
              <a:rPr lang="en-GB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de </a:t>
            </a:r>
            <a:r>
              <a:rPr lang="en-GB" b="1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Binário</a:t>
            </a:r>
            <a:r>
              <a:rPr lang="en-GB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para Decimal:</a:t>
            </a:r>
            <a:endParaRPr lang="en-GB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>
              <a:buFont typeface="+mj-lt"/>
              <a:buAutoNum type="arabicPeriod"/>
            </a:pPr>
            <a:r>
              <a:rPr lang="en-GB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Converta</a:t>
            </a:r>
            <a:r>
              <a:rPr lang="en-GB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o </a:t>
            </a:r>
            <a:r>
              <a:rPr lang="en-GB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número</a:t>
            </a:r>
            <a:r>
              <a:rPr lang="en-GB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binário</a:t>
            </a:r>
            <a:r>
              <a:rPr lang="en-GB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11011101 para a base 10 (decimal).</a:t>
            </a:r>
          </a:p>
          <a:p>
            <a:pPr lvl="1">
              <a:buFont typeface="+mj-lt"/>
              <a:buAutoNum type="arabicPeriod"/>
            </a:pPr>
            <a:r>
              <a:rPr lang="en-GB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Converta</a:t>
            </a:r>
            <a:r>
              <a:rPr lang="en-GB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o </a:t>
            </a:r>
            <a:r>
              <a:rPr lang="en-GB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número</a:t>
            </a:r>
            <a:r>
              <a:rPr lang="en-GB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binário</a:t>
            </a:r>
            <a:r>
              <a:rPr lang="en-GB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1001011011 para a base 10 (decimal).</a:t>
            </a:r>
          </a:p>
          <a:p>
            <a:pPr lvl="1">
              <a:buFont typeface="+mj-lt"/>
              <a:buAutoNum type="arabicPeriod"/>
            </a:pPr>
            <a:r>
              <a:rPr lang="en-GB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Converta</a:t>
            </a:r>
            <a:r>
              <a:rPr lang="en-GB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o </a:t>
            </a:r>
            <a:r>
              <a:rPr lang="en-GB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número</a:t>
            </a:r>
            <a:r>
              <a:rPr lang="en-GB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binário</a:t>
            </a:r>
            <a:r>
              <a:rPr lang="en-GB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111001000 para a base 10 (decimal).</a:t>
            </a:r>
          </a:p>
          <a:p>
            <a:pPr lvl="1">
              <a:buFont typeface="+mj-lt"/>
              <a:buAutoNum type="arabicPeriod"/>
            </a:pPr>
            <a:r>
              <a:rPr lang="en-GB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Converta</a:t>
            </a:r>
            <a:r>
              <a:rPr lang="en-GB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o </a:t>
            </a:r>
            <a:r>
              <a:rPr lang="en-GB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número</a:t>
            </a:r>
            <a:r>
              <a:rPr lang="en-GB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binário</a:t>
            </a:r>
            <a:r>
              <a:rPr lang="en-GB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10101101 para a base 10 (decimal).</a:t>
            </a:r>
          </a:p>
          <a:p>
            <a:pPr lvl="1">
              <a:buFont typeface="+mj-lt"/>
              <a:buAutoNum type="arabicPeriod"/>
            </a:pPr>
            <a:r>
              <a:rPr lang="en-GB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Converta</a:t>
            </a:r>
            <a:r>
              <a:rPr lang="en-GB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o </a:t>
            </a:r>
            <a:r>
              <a:rPr lang="en-GB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número</a:t>
            </a:r>
            <a:r>
              <a:rPr lang="en-GB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binário</a:t>
            </a:r>
            <a:r>
              <a:rPr lang="en-GB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1100100101 para a base 10 (decimal).</a:t>
            </a:r>
          </a:p>
          <a:p>
            <a:br>
              <a:rPr lang="en-GB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endParaRPr lang="pt-PT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Marcador de Posição do Texto 1">
            <a:extLst>
              <a:ext uri="{FF2B5EF4-FFF2-40B4-BE49-F238E27FC236}">
                <a16:creationId xmlns:a16="http://schemas.microsoft.com/office/drawing/2014/main" id="{DE2BD2BD-9864-EE94-5641-14B8E84A996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68164" y="1298643"/>
            <a:ext cx="5512672" cy="417091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pt-PT"/>
              <a:t>Revisões representação binária </a:t>
            </a:r>
            <a:endParaRPr lang="pt-PT" altLang="pt-PT" b="1"/>
          </a:p>
        </p:txBody>
      </p:sp>
    </p:spTree>
    <p:extLst>
      <p:ext uri="{BB962C8B-B14F-4D97-AF65-F5344CB8AC3E}">
        <p14:creationId xmlns:p14="http://schemas.microsoft.com/office/powerpoint/2010/main" val="41576025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064050-9939-263B-35A7-3A896BABB4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itle 41">
            <a:extLst>
              <a:ext uri="{FF2B5EF4-FFF2-40B4-BE49-F238E27FC236}">
                <a16:creationId xmlns:a16="http://schemas.microsoft.com/office/drawing/2014/main" id="{1EE8FC4E-3363-8784-3BA9-02FC302A68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817" y="390526"/>
            <a:ext cx="9484727" cy="685800"/>
          </a:xfrm>
        </p:spPr>
        <p:txBody>
          <a:bodyPr anchor="ctr">
            <a:normAutofit/>
          </a:bodyPr>
          <a:lstStyle/>
          <a:p>
            <a:r>
              <a:rPr lang="pt-PT"/>
              <a:t>Arquitetura de Computadores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92AEC470-5116-24AA-2F62-EE5C4D35F25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2817" y="1715734"/>
            <a:ext cx="10996039" cy="3789716"/>
          </a:xfrm>
        </p:spPr>
        <p:txBody>
          <a:bodyPr>
            <a:noAutofit/>
          </a:bodyPr>
          <a:lstStyle/>
          <a:p>
            <a:r>
              <a:rPr lang="en-GB" b="1">
                <a:solidFill>
                  <a:schemeClr val="tx1"/>
                </a:solidFill>
                <a:latin typeface="Söhne"/>
              </a:rPr>
              <a:t>Octal (Base 8):</a:t>
            </a:r>
            <a:endParaRPr lang="en-GB">
              <a:solidFill>
                <a:schemeClr val="tx1"/>
              </a:solidFill>
              <a:latin typeface="Söhne"/>
            </a:endParaRPr>
          </a:p>
          <a:p>
            <a:pPr lvl="1"/>
            <a:r>
              <a:rPr lang="en-GB">
                <a:solidFill>
                  <a:schemeClr val="tx1"/>
                </a:solidFill>
                <a:latin typeface="Söhne"/>
              </a:rPr>
              <a:t>O </a:t>
            </a:r>
            <a:r>
              <a:rPr lang="en-GB" err="1">
                <a:solidFill>
                  <a:schemeClr val="tx1"/>
                </a:solidFill>
                <a:latin typeface="Söhne"/>
              </a:rPr>
              <a:t>sistema</a:t>
            </a:r>
            <a:r>
              <a:rPr lang="en-GB">
                <a:solidFill>
                  <a:schemeClr val="tx1"/>
                </a:solidFill>
                <a:latin typeface="Söhne"/>
              </a:rPr>
              <a:t> octal </a:t>
            </a:r>
            <a:r>
              <a:rPr lang="en-GB" err="1">
                <a:solidFill>
                  <a:schemeClr val="tx1"/>
                </a:solidFill>
                <a:latin typeface="Söhne"/>
              </a:rPr>
              <a:t>utiliza</a:t>
            </a:r>
            <a:r>
              <a:rPr lang="en-GB">
                <a:solidFill>
                  <a:schemeClr val="tx1"/>
                </a:solidFill>
                <a:latin typeface="Söhne"/>
              </a:rPr>
              <a:t> </a:t>
            </a:r>
            <a:r>
              <a:rPr lang="en-GB" err="1">
                <a:solidFill>
                  <a:schemeClr val="tx1"/>
                </a:solidFill>
                <a:latin typeface="Söhne"/>
              </a:rPr>
              <a:t>oito</a:t>
            </a:r>
            <a:r>
              <a:rPr lang="en-GB">
                <a:solidFill>
                  <a:schemeClr val="tx1"/>
                </a:solidFill>
                <a:latin typeface="Söhne"/>
              </a:rPr>
              <a:t> </a:t>
            </a:r>
            <a:r>
              <a:rPr lang="en-GB" err="1">
                <a:solidFill>
                  <a:schemeClr val="tx1"/>
                </a:solidFill>
                <a:latin typeface="Söhne"/>
              </a:rPr>
              <a:t>dígitos</a:t>
            </a:r>
            <a:r>
              <a:rPr lang="en-GB">
                <a:solidFill>
                  <a:schemeClr val="tx1"/>
                </a:solidFill>
                <a:latin typeface="Söhne"/>
              </a:rPr>
              <a:t>: 0 a 7.</a:t>
            </a:r>
          </a:p>
          <a:p>
            <a:pPr lvl="1"/>
            <a:r>
              <a:rPr lang="en-GB">
                <a:solidFill>
                  <a:schemeClr val="tx1"/>
                </a:solidFill>
                <a:latin typeface="Söhne"/>
              </a:rPr>
              <a:t>Cada </a:t>
            </a:r>
            <a:r>
              <a:rPr lang="en-GB" err="1">
                <a:solidFill>
                  <a:schemeClr val="tx1"/>
                </a:solidFill>
                <a:latin typeface="Söhne"/>
              </a:rPr>
              <a:t>dígito</a:t>
            </a:r>
            <a:r>
              <a:rPr lang="en-GB">
                <a:solidFill>
                  <a:schemeClr val="tx1"/>
                </a:solidFill>
                <a:latin typeface="Söhne"/>
              </a:rPr>
              <a:t> octal </a:t>
            </a:r>
            <a:r>
              <a:rPr lang="en-GB" err="1">
                <a:solidFill>
                  <a:schemeClr val="tx1"/>
                </a:solidFill>
                <a:latin typeface="Söhne"/>
              </a:rPr>
              <a:t>representa</a:t>
            </a:r>
            <a:r>
              <a:rPr lang="en-GB">
                <a:solidFill>
                  <a:schemeClr val="tx1"/>
                </a:solidFill>
                <a:latin typeface="Söhne"/>
              </a:rPr>
              <a:t> </a:t>
            </a:r>
            <a:r>
              <a:rPr lang="en-GB" err="1">
                <a:solidFill>
                  <a:schemeClr val="tx1"/>
                </a:solidFill>
                <a:latin typeface="Söhne"/>
              </a:rPr>
              <a:t>três</a:t>
            </a:r>
            <a:r>
              <a:rPr lang="en-GB">
                <a:solidFill>
                  <a:schemeClr val="tx1"/>
                </a:solidFill>
                <a:latin typeface="Söhne"/>
              </a:rPr>
              <a:t> </a:t>
            </a:r>
            <a:r>
              <a:rPr lang="en-GB" err="1">
                <a:solidFill>
                  <a:schemeClr val="tx1"/>
                </a:solidFill>
                <a:latin typeface="Söhne"/>
              </a:rPr>
              <a:t>dígitos</a:t>
            </a:r>
            <a:r>
              <a:rPr lang="en-GB">
                <a:solidFill>
                  <a:schemeClr val="tx1"/>
                </a:solidFill>
                <a:latin typeface="Söhne"/>
              </a:rPr>
              <a:t> </a:t>
            </a:r>
            <a:r>
              <a:rPr lang="en-GB" err="1">
                <a:solidFill>
                  <a:schemeClr val="tx1"/>
                </a:solidFill>
                <a:latin typeface="Söhne"/>
              </a:rPr>
              <a:t>binários</a:t>
            </a:r>
            <a:r>
              <a:rPr lang="en-GB">
                <a:solidFill>
                  <a:schemeClr val="tx1"/>
                </a:solidFill>
                <a:latin typeface="Söhne"/>
              </a:rPr>
              <a:t>.</a:t>
            </a:r>
          </a:p>
          <a:p>
            <a:pPr lvl="1"/>
            <a:r>
              <a:rPr lang="en-GB">
                <a:solidFill>
                  <a:schemeClr val="tx1"/>
                </a:solidFill>
                <a:latin typeface="Söhne"/>
              </a:rPr>
              <a:t>Era </a:t>
            </a:r>
            <a:r>
              <a:rPr lang="en-GB" err="1">
                <a:solidFill>
                  <a:schemeClr val="tx1"/>
                </a:solidFill>
                <a:latin typeface="Söhne"/>
              </a:rPr>
              <a:t>usado</a:t>
            </a:r>
            <a:r>
              <a:rPr lang="en-GB">
                <a:solidFill>
                  <a:schemeClr val="tx1"/>
                </a:solidFill>
                <a:latin typeface="Söhne"/>
              </a:rPr>
              <a:t> </a:t>
            </a:r>
            <a:r>
              <a:rPr lang="en-GB" err="1">
                <a:solidFill>
                  <a:schemeClr val="tx1"/>
                </a:solidFill>
                <a:latin typeface="Söhne"/>
              </a:rPr>
              <a:t>em</a:t>
            </a:r>
            <a:r>
              <a:rPr lang="en-GB">
                <a:solidFill>
                  <a:schemeClr val="tx1"/>
                </a:solidFill>
                <a:latin typeface="Söhne"/>
              </a:rPr>
              <a:t> </a:t>
            </a:r>
            <a:r>
              <a:rPr lang="en-GB" err="1">
                <a:solidFill>
                  <a:schemeClr val="tx1"/>
                </a:solidFill>
                <a:latin typeface="Söhne"/>
              </a:rPr>
              <a:t>sistemas</a:t>
            </a:r>
            <a:r>
              <a:rPr lang="en-GB">
                <a:solidFill>
                  <a:schemeClr val="tx1"/>
                </a:solidFill>
                <a:latin typeface="Söhne"/>
              </a:rPr>
              <a:t> </a:t>
            </a:r>
            <a:r>
              <a:rPr lang="en-GB" err="1">
                <a:solidFill>
                  <a:schemeClr val="tx1"/>
                </a:solidFill>
                <a:latin typeface="Söhne"/>
              </a:rPr>
              <a:t>mais</a:t>
            </a:r>
            <a:r>
              <a:rPr lang="en-GB">
                <a:solidFill>
                  <a:schemeClr val="tx1"/>
                </a:solidFill>
                <a:latin typeface="Söhne"/>
              </a:rPr>
              <a:t> </a:t>
            </a:r>
            <a:r>
              <a:rPr lang="en-GB" err="1">
                <a:solidFill>
                  <a:schemeClr val="tx1"/>
                </a:solidFill>
                <a:latin typeface="Söhne"/>
              </a:rPr>
              <a:t>antigos</a:t>
            </a:r>
            <a:r>
              <a:rPr lang="en-GB">
                <a:solidFill>
                  <a:schemeClr val="tx1"/>
                </a:solidFill>
                <a:latin typeface="Söhne"/>
              </a:rPr>
              <a:t>, mas </a:t>
            </a:r>
            <a:r>
              <a:rPr lang="en-GB" err="1">
                <a:solidFill>
                  <a:schemeClr val="tx1"/>
                </a:solidFill>
                <a:latin typeface="Söhne"/>
              </a:rPr>
              <a:t>é</a:t>
            </a:r>
            <a:r>
              <a:rPr lang="en-GB">
                <a:solidFill>
                  <a:schemeClr val="tx1"/>
                </a:solidFill>
                <a:latin typeface="Söhne"/>
              </a:rPr>
              <a:t> </a:t>
            </a:r>
            <a:r>
              <a:rPr lang="en-GB" err="1">
                <a:solidFill>
                  <a:schemeClr val="tx1"/>
                </a:solidFill>
                <a:latin typeface="Söhne"/>
              </a:rPr>
              <a:t>menos</a:t>
            </a:r>
            <a:r>
              <a:rPr lang="en-GB">
                <a:solidFill>
                  <a:schemeClr val="tx1"/>
                </a:solidFill>
                <a:latin typeface="Söhne"/>
              </a:rPr>
              <a:t> </a:t>
            </a:r>
            <a:r>
              <a:rPr lang="en-GB" err="1">
                <a:solidFill>
                  <a:schemeClr val="tx1"/>
                </a:solidFill>
                <a:latin typeface="Söhne"/>
              </a:rPr>
              <a:t>comum</a:t>
            </a:r>
            <a:r>
              <a:rPr lang="en-GB">
                <a:solidFill>
                  <a:schemeClr val="tx1"/>
                </a:solidFill>
                <a:latin typeface="Söhne"/>
              </a:rPr>
              <a:t> </a:t>
            </a:r>
            <a:r>
              <a:rPr lang="en-GB" err="1">
                <a:solidFill>
                  <a:schemeClr val="tx1"/>
                </a:solidFill>
                <a:latin typeface="Söhne"/>
              </a:rPr>
              <a:t>hoje</a:t>
            </a:r>
            <a:r>
              <a:rPr lang="en-GB">
                <a:solidFill>
                  <a:schemeClr val="tx1"/>
                </a:solidFill>
                <a:latin typeface="Söhne"/>
              </a:rPr>
              <a:t> </a:t>
            </a:r>
            <a:r>
              <a:rPr lang="en-GB" err="1">
                <a:solidFill>
                  <a:schemeClr val="tx1"/>
                </a:solidFill>
                <a:latin typeface="Söhne"/>
              </a:rPr>
              <a:t>em</a:t>
            </a:r>
            <a:r>
              <a:rPr lang="en-GB">
                <a:solidFill>
                  <a:schemeClr val="tx1"/>
                </a:solidFill>
                <a:latin typeface="Söhne"/>
              </a:rPr>
              <a:t> dia.</a:t>
            </a:r>
          </a:p>
        </p:txBody>
      </p:sp>
      <p:sp>
        <p:nvSpPr>
          <p:cNvPr id="2" name="Marcador de Posição do Texto 1">
            <a:extLst>
              <a:ext uri="{FF2B5EF4-FFF2-40B4-BE49-F238E27FC236}">
                <a16:creationId xmlns:a16="http://schemas.microsoft.com/office/drawing/2014/main" id="{E6FC7728-07B7-808C-B847-C53FC640109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68164" y="1298643"/>
            <a:ext cx="5512672" cy="417091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pt-PT"/>
              <a:t>Sistema de Numeração Octal(Base 8)</a:t>
            </a:r>
            <a:endParaRPr lang="pt-PT" altLang="pt-PT" b="1"/>
          </a:p>
        </p:txBody>
      </p:sp>
    </p:spTree>
    <p:extLst>
      <p:ext uri="{BB962C8B-B14F-4D97-AF65-F5344CB8AC3E}">
        <p14:creationId xmlns:p14="http://schemas.microsoft.com/office/powerpoint/2010/main" val="41273110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8114AF-DD36-5795-0331-D434C15F08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itle 41">
            <a:extLst>
              <a:ext uri="{FF2B5EF4-FFF2-40B4-BE49-F238E27FC236}">
                <a16:creationId xmlns:a16="http://schemas.microsoft.com/office/drawing/2014/main" id="{41196B68-CC79-D888-DAF7-7EEFD02B64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817" y="390526"/>
            <a:ext cx="9484727" cy="685800"/>
          </a:xfrm>
        </p:spPr>
        <p:txBody>
          <a:bodyPr anchor="ctr">
            <a:normAutofit/>
          </a:bodyPr>
          <a:lstStyle/>
          <a:p>
            <a:r>
              <a:rPr lang="pt-PT"/>
              <a:t>Arquitetura de Computadores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97D3C6CD-9BE1-866D-0E39-35782A038F8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2818" y="1715734"/>
            <a:ext cx="3727926" cy="3789716"/>
          </a:xfrm>
        </p:spPr>
        <p:txBody>
          <a:bodyPr>
            <a:noAutofit/>
          </a:bodyPr>
          <a:lstStyle/>
          <a:p>
            <a:pPr marL="457200" lvl="1" indent="0">
              <a:buNone/>
            </a:pPr>
            <a:r>
              <a:rPr lang="en-GB" sz="200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Conversão</a:t>
            </a:r>
            <a:r>
              <a:rPr lang="en-GB" sz="20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Decimal -&gt; Octal</a:t>
            </a:r>
            <a:endParaRPr lang="en-GB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Marcador de Posição do Texto 1">
            <a:extLst>
              <a:ext uri="{FF2B5EF4-FFF2-40B4-BE49-F238E27FC236}">
                <a16:creationId xmlns:a16="http://schemas.microsoft.com/office/drawing/2014/main" id="{693FE0D3-193B-75FA-C981-0E2F46E06D5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68164" y="1298643"/>
            <a:ext cx="5512672" cy="417091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pt-PT"/>
              <a:t>Sistema de Numeração Octal(Base 8)</a:t>
            </a:r>
            <a:endParaRPr lang="pt-PT" altLang="pt-PT" b="1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174173F-9AB6-6810-91E9-E8EB4EE5D2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466" y="2132825"/>
            <a:ext cx="5685840" cy="1767940"/>
          </a:xfrm>
          <a:prstGeom prst="rect">
            <a:avLst/>
          </a:prstGeom>
        </p:spPr>
      </p:pic>
      <p:sp>
        <p:nvSpPr>
          <p:cNvPr id="5" name="Marcador de Posição do Texto 2">
            <a:extLst>
              <a:ext uri="{FF2B5EF4-FFF2-40B4-BE49-F238E27FC236}">
                <a16:creationId xmlns:a16="http://schemas.microsoft.com/office/drawing/2014/main" id="{D153B82F-E42B-BAFB-814A-23C7722BE44E}"/>
              </a:ext>
            </a:extLst>
          </p:cNvPr>
          <p:cNvSpPr txBox="1">
            <a:spLocks/>
          </p:cNvSpPr>
          <p:nvPr/>
        </p:nvSpPr>
        <p:spPr>
          <a:xfrm>
            <a:off x="7336985" y="1715734"/>
            <a:ext cx="3727926" cy="378971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kern="1200">
                <a:solidFill>
                  <a:schemeClr val="tx2"/>
                </a:solidFill>
                <a:latin typeface="Segoe UI" panose="020B0502040204020203" pitchFamily="34" charset="0"/>
                <a:ea typeface="Open Sans Semibold" panose="020B0706030804020204" pitchFamily="34" charset="0"/>
                <a:cs typeface="Segoe UI" panose="020B05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Segoe UI" panose="020B0502040204020203" pitchFamily="34" charset="0"/>
                <a:ea typeface="Open Sans" panose="020B0606030504020204" pitchFamily="34" charset="0"/>
                <a:cs typeface="Segoe UI" panose="020B0502040204020203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Segoe UI" panose="020B0502040204020203" pitchFamily="34" charset="0"/>
                <a:ea typeface="Open Sans" panose="020B0606030504020204" pitchFamily="34" charset="0"/>
                <a:cs typeface="Segoe UI" panose="020B0502040204020203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Segoe UI" panose="020B0502040204020203" pitchFamily="34" charset="0"/>
                <a:ea typeface="Open Sans" panose="020B0606030504020204" pitchFamily="34" charset="0"/>
                <a:cs typeface="Segoe UI" panose="020B050204020402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accent3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Font typeface="Wingdings 2" panose="05020102010507070707" pitchFamily="18" charset="2"/>
              <a:buNone/>
            </a:pPr>
            <a:r>
              <a:rPr lang="en-GB" sz="200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Conversão</a:t>
            </a:r>
            <a:r>
              <a:rPr lang="en-GB" sz="20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Octal -&gt; Decimal</a:t>
            </a:r>
          </a:p>
        </p:txBody>
      </p:sp>
      <p:pic>
        <p:nvPicPr>
          <p:cNvPr id="6" name="Picture 2" descr="octal para decimal">
            <a:extLst>
              <a:ext uri="{FF2B5EF4-FFF2-40B4-BE49-F238E27FC236}">
                <a16:creationId xmlns:a16="http://schemas.microsoft.com/office/drawing/2014/main" id="{DFAE7E06-8FC8-0532-B6DF-68D014284F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82127" y="2290163"/>
            <a:ext cx="4027055" cy="26408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68622B4-6D79-6A38-E6E9-A54977628FBD}"/>
              </a:ext>
            </a:extLst>
          </p:cNvPr>
          <p:cNvSpPr txBox="1"/>
          <p:nvPr/>
        </p:nvSpPr>
        <p:spPr>
          <a:xfrm>
            <a:off x="2446781" y="3900765"/>
            <a:ext cx="162095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>
                <a:latin typeface="Calibri" panose="020F0502020204030204" pitchFamily="34" charset="0"/>
                <a:cs typeface="Calibri" panose="020F0502020204030204" pitchFamily="34" charset="0"/>
              </a:rPr>
              <a:t>Octal</a:t>
            </a:r>
            <a:r>
              <a:rPr lang="pt-PT"/>
              <a:t> = </a:t>
            </a:r>
            <a:r>
              <a:rPr lang="pt-PT">
                <a:solidFill>
                  <a:srgbClr val="FF0000"/>
                </a:solidFill>
              </a:rPr>
              <a:t>627</a:t>
            </a:r>
          </a:p>
          <a:p>
            <a:br>
              <a:rPr lang="pt-PT"/>
            </a:br>
            <a:r>
              <a:rPr lang="pt-PT">
                <a:latin typeface="Calibri" panose="020F0502020204030204" pitchFamily="34" charset="0"/>
                <a:cs typeface="Calibri" panose="020F0502020204030204" pitchFamily="34" charset="0"/>
              </a:rPr>
              <a:t>Decimal</a:t>
            </a:r>
            <a:r>
              <a:rPr lang="pt-PT"/>
              <a:t> = </a:t>
            </a:r>
            <a:r>
              <a:rPr lang="pt-PT">
                <a:solidFill>
                  <a:srgbClr val="FF0000"/>
                </a:solidFill>
              </a:rPr>
              <a:t>407</a:t>
            </a:r>
            <a:r>
              <a:rPr lang="pt-PT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9209083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31C425-B5A4-FCF6-D10F-AFA161A58C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itle 41">
            <a:extLst>
              <a:ext uri="{FF2B5EF4-FFF2-40B4-BE49-F238E27FC236}">
                <a16:creationId xmlns:a16="http://schemas.microsoft.com/office/drawing/2014/main" id="{0F824B5E-EB50-4A5F-335E-8E52136192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817" y="390526"/>
            <a:ext cx="9484727" cy="685800"/>
          </a:xfrm>
        </p:spPr>
        <p:txBody>
          <a:bodyPr anchor="ctr">
            <a:normAutofit/>
          </a:bodyPr>
          <a:lstStyle/>
          <a:p>
            <a:r>
              <a:rPr lang="pt-PT"/>
              <a:t>Arquitetura de Computadores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FDECDEAF-197C-A4C3-A6C8-355EE1AA3ED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2817" y="1715734"/>
            <a:ext cx="10996039" cy="3789716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GB" b="1" err="1">
                <a:solidFill>
                  <a:schemeClr val="tx1"/>
                </a:solidFill>
                <a:latin typeface="Söhne"/>
                <a:ea typeface="Open Sans Semibold"/>
                <a:cs typeface="Segoe UI"/>
              </a:rPr>
              <a:t>Exercícios</a:t>
            </a:r>
            <a:r>
              <a:rPr lang="en-GB" b="1">
                <a:solidFill>
                  <a:schemeClr val="tx1"/>
                </a:solidFill>
                <a:latin typeface="Söhne"/>
                <a:ea typeface="Open Sans Semibold"/>
                <a:cs typeface="Segoe UI"/>
              </a:rPr>
              <a:t> de </a:t>
            </a:r>
            <a:r>
              <a:rPr lang="en-GB" b="1" err="1">
                <a:solidFill>
                  <a:schemeClr val="tx1"/>
                </a:solidFill>
                <a:latin typeface="Söhne"/>
                <a:ea typeface="Open Sans Semibold"/>
                <a:cs typeface="Segoe UI"/>
              </a:rPr>
              <a:t>Conversão</a:t>
            </a:r>
            <a:r>
              <a:rPr lang="en-GB" b="1">
                <a:solidFill>
                  <a:schemeClr val="tx1"/>
                </a:solidFill>
                <a:latin typeface="Söhne"/>
                <a:ea typeface="Open Sans Semibold"/>
                <a:cs typeface="Segoe UI"/>
              </a:rPr>
              <a:t> de Decimal para Octal:</a:t>
            </a:r>
            <a:endParaRPr lang="en-GB">
              <a:solidFill>
                <a:schemeClr val="tx1"/>
              </a:solidFill>
              <a:latin typeface="Söhne"/>
              <a:ea typeface="Open Sans Semibold"/>
              <a:cs typeface="Segoe UI"/>
            </a:endParaRPr>
          </a:p>
          <a:p>
            <a:pPr lvl="1">
              <a:buFont typeface="+mj-lt"/>
              <a:buAutoNum type="arabicPeriod"/>
            </a:pPr>
            <a:r>
              <a:rPr lang="en-GB" err="1">
                <a:solidFill>
                  <a:schemeClr val="tx1"/>
                </a:solidFill>
                <a:latin typeface="Söhne"/>
                <a:ea typeface="Open Sans"/>
                <a:cs typeface="Segoe UI"/>
              </a:rPr>
              <a:t>Converta</a:t>
            </a:r>
            <a:r>
              <a:rPr lang="en-GB">
                <a:solidFill>
                  <a:schemeClr val="tx1"/>
                </a:solidFill>
                <a:latin typeface="Söhne"/>
                <a:ea typeface="Open Sans"/>
                <a:cs typeface="Segoe UI"/>
              </a:rPr>
              <a:t> o </a:t>
            </a:r>
            <a:r>
              <a:rPr lang="en-GB" err="1">
                <a:solidFill>
                  <a:schemeClr val="tx1"/>
                </a:solidFill>
                <a:latin typeface="Söhne"/>
                <a:ea typeface="Open Sans"/>
                <a:cs typeface="Segoe UI"/>
              </a:rPr>
              <a:t>número</a:t>
            </a:r>
            <a:r>
              <a:rPr lang="en-GB">
                <a:solidFill>
                  <a:schemeClr val="tx1"/>
                </a:solidFill>
                <a:latin typeface="Söhne"/>
                <a:ea typeface="Open Sans"/>
                <a:cs typeface="Segoe UI"/>
              </a:rPr>
              <a:t> decimal 42 para a base 8 (octal).</a:t>
            </a:r>
          </a:p>
          <a:p>
            <a:pPr lvl="1">
              <a:buFont typeface="+mj-lt"/>
              <a:buAutoNum type="arabicPeriod"/>
            </a:pPr>
            <a:r>
              <a:rPr lang="en-GB" err="1">
                <a:solidFill>
                  <a:schemeClr val="tx1"/>
                </a:solidFill>
                <a:latin typeface="Söhne"/>
                <a:ea typeface="Open Sans"/>
                <a:cs typeface="Segoe UI"/>
              </a:rPr>
              <a:t>Converta</a:t>
            </a:r>
            <a:r>
              <a:rPr lang="en-GB">
                <a:solidFill>
                  <a:schemeClr val="tx1"/>
                </a:solidFill>
                <a:latin typeface="Söhne"/>
                <a:ea typeface="Open Sans"/>
                <a:cs typeface="Segoe UI"/>
              </a:rPr>
              <a:t> o </a:t>
            </a:r>
            <a:r>
              <a:rPr lang="en-GB" err="1">
                <a:solidFill>
                  <a:schemeClr val="tx1"/>
                </a:solidFill>
                <a:latin typeface="Söhne"/>
                <a:ea typeface="Open Sans"/>
                <a:cs typeface="Segoe UI"/>
              </a:rPr>
              <a:t>número</a:t>
            </a:r>
            <a:r>
              <a:rPr lang="en-GB">
                <a:solidFill>
                  <a:schemeClr val="tx1"/>
                </a:solidFill>
                <a:latin typeface="Söhne"/>
                <a:ea typeface="Open Sans"/>
                <a:cs typeface="Segoe UI"/>
              </a:rPr>
              <a:t> decimal 119 para a base 8 (octal).</a:t>
            </a:r>
          </a:p>
          <a:p>
            <a:pPr lvl="1">
              <a:buFont typeface="+mj-lt"/>
              <a:buAutoNum type="arabicPeriod"/>
            </a:pPr>
            <a:r>
              <a:rPr lang="en-GB" dirty="0">
                <a:solidFill>
                  <a:schemeClr val="tx1"/>
                </a:solidFill>
                <a:latin typeface="Söhne"/>
                <a:ea typeface="Open Sans"/>
                <a:cs typeface="Segoe UI"/>
              </a:rPr>
              <a:t>Converta o </a:t>
            </a:r>
            <a:r>
              <a:rPr lang="en-GB" dirty="0" err="1">
                <a:solidFill>
                  <a:schemeClr val="tx1"/>
                </a:solidFill>
                <a:latin typeface="Söhne"/>
                <a:ea typeface="Open Sans"/>
                <a:cs typeface="Segoe UI"/>
              </a:rPr>
              <a:t>número</a:t>
            </a:r>
            <a:r>
              <a:rPr lang="en-GB" dirty="0">
                <a:solidFill>
                  <a:schemeClr val="tx1"/>
                </a:solidFill>
                <a:latin typeface="Söhne"/>
                <a:ea typeface="Open Sans"/>
                <a:cs typeface="Segoe UI"/>
              </a:rPr>
              <a:t> decimal 255 para a base 8 (octal).</a:t>
            </a:r>
            <a:endParaRPr lang="en-GB">
              <a:solidFill>
                <a:schemeClr val="tx1"/>
              </a:solidFill>
            </a:endParaRPr>
          </a:p>
          <a:p>
            <a:pPr lvl="1">
              <a:buFont typeface="+mj-lt"/>
              <a:buAutoNum type="arabicPeriod"/>
            </a:pPr>
            <a:r>
              <a:rPr lang="en-GB" err="1">
                <a:solidFill>
                  <a:schemeClr val="tx1"/>
                </a:solidFill>
                <a:latin typeface="Söhne"/>
                <a:ea typeface="Open Sans"/>
                <a:cs typeface="Segoe UI"/>
              </a:rPr>
              <a:t>Converta</a:t>
            </a:r>
            <a:r>
              <a:rPr lang="en-GB">
                <a:solidFill>
                  <a:schemeClr val="tx1"/>
                </a:solidFill>
                <a:latin typeface="Söhne"/>
                <a:ea typeface="Open Sans"/>
                <a:cs typeface="Segoe UI"/>
              </a:rPr>
              <a:t> o </a:t>
            </a:r>
            <a:r>
              <a:rPr lang="en-GB" err="1">
                <a:solidFill>
                  <a:schemeClr val="tx1"/>
                </a:solidFill>
                <a:latin typeface="Söhne"/>
                <a:ea typeface="Open Sans"/>
                <a:cs typeface="Segoe UI"/>
              </a:rPr>
              <a:t>número</a:t>
            </a:r>
            <a:r>
              <a:rPr lang="en-GB">
                <a:solidFill>
                  <a:schemeClr val="tx1"/>
                </a:solidFill>
                <a:latin typeface="Söhne"/>
                <a:ea typeface="Open Sans"/>
                <a:cs typeface="Segoe UI"/>
              </a:rPr>
              <a:t> decimal 512 para a base 8 (octal).</a:t>
            </a:r>
          </a:p>
          <a:p>
            <a:pPr lvl="1">
              <a:buFont typeface="+mj-lt"/>
              <a:buAutoNum type="arabicPeriod"/>
            </a:pPr>
            <a:r>
              <a:rPr lang="en-GB" err="1">
                <a:solidFill>
                  <a:schemeClr val="tx1"/>
                </a:solidFill>
                <a:latin typeface="Söhne"/>
                <a:ea typeface="Open Sans"/>
                <a:cs typeface="Segoe UI"/>
              </a:rPr>
              <a:t>Converta</a:t>
            </a:r>
            <a:r>
              <a:rPr lang="en-GB">
                <a:solidFill>
                  <a:schemeClr val="tx1"/>
                </a:solidFill>
                <a:latin typeface="Söhne"/>
                <a:ea typeface="Open Sans"/>
                <a:cs typeface="Segoe UI"/>
              </a:rPr>
              <a:t> o </a:t>
            </a:r>
            <a:r>
              <a:rPr lang="en-GB" err="1">
                <a:solidFill>
                  <a:schemeClr val="tx1"/>
                </a:solidFill>
                <a:latin typeface="Söhne"/>
                <a:ea typeface="Open Sans"/>
                <a:cs typeface="Segoe UI"/>
              </a:rPr>
              <a:t>número</a:t>
            </a:r>
            <a:r>
              <a:rPr lang="en-GB">
                <a:solidFill>
                  <a:schemeClr val="tx1"/>
                </a:solidFill>
                <a:latin typeface="Söhne"/>
                <a:ea typeface="Open Sans"/>
                <a:cs typeface="Segoe UI"/>
              </a:rPr>
              <a:t> decimal 1023 para a base 8 (octal).</a:t>
            </a:r>
          </a:p>
          <a:p>
            <a:r>
              <a:rPr lang="en-GB" b="1" err="1">
                <a:solidFill>
                  <a:schemeClr val="tx1"/>
                </a:solidFill>
                <a:latin typeface="Söhne"/>
                <a:ea typeface="Open Sans Semibold"/>
                <a:cs typeface="Segoe UI"/>
              </a:rPr>
              <a:t>Exercícios</a:t>
            </a:r>
            <a:r>
              <a:rPr lang="en-GB" b="1">
                <a:solidFill>
                  <a:schemeClr val="tx1"/>
                </a:solidFill>
                <a:latin typeface="Söhne"/>
                <a:ea typeface="Open Sans Semibold"/>
                <a:cs typeface="Segoe UI"/>
              </a:rPr>
              <a:t> de </a:t>
            </a:r>
            <a:r>
              <a:rPr lang="en-GB" b="1" err="1">
                <a:solidFill>
                  <a:schemeClr val="tx1"/>
                </a:solidFill>
                <a:latin typeface="Söhne"/>
                <a:ea typeface="Open Sans Semibold"/>
                <a:cs typeface="Segoe UI"/>
              </a:rPr>
              <a:t>Conversão</a:t>
            </a:r>
            <a:r>
              <a:rPr lang="en-GB" b="1">
                <a:solidFill>
                  <a:schemeClr val="tx1"/>
                </a:solidFill>
                <a:latin typeface="Söhne"/>
                <a:ea typeface="Open Sans Semibold"/>
                <a:cs typeface="Segoe UI"/>
              </a:rPr>
              <a:t> de Octal para Decimal:</a:t>
            </a:r>
            <a:endParaRPr lang="en-GB">
              <a:solidFill>
                <a:schemeClr val="tx1"/>
              </a:solidFill>
              <a:latin typeface="Söhne"/>
              <a:ea typeface="Open Sans Semibold"/>
              <a:cs typeface="Segoe UI"/>
            </a:endParaRPr>
          </a:p>
          <a:p>
            <a:pPr lvl="1">
              <a:buFont typeface="+mj-lt"/>
              <a:buAutoNum type="arabicPeriod"/>
            </a:pPr>
            <a:r>
              <a:rPr lang="en-GB" err="1">
                <a:solidFill>
                  <a:schemeClr val="tx1"/>
                </a:solidFill>
                <a:latin typeface="Söhne"/>
                <a:ea typeface="Open Sans"/>
                <a:cs typeface="Segoe UI"/>
              </a:rPr>
              <a:t>Converta</a:t>
            </a:r>
            <a:r>
              <a:rPr lang="en-GB">
                <a:solidFill>
                  <a:schemeClr val="tx1"/>
                </a:solidFill>
                <a:latin typeface="Söhne"/>
                <a:ea typeface="Open Sans"/>
                <a:cs typeface="Segoe UI"/>
              </a:rPr>
              <a:t> o </a:t>
            </a:r>
            <a:r>
              <a:rPr lang="en-GB" err="1">
                <a:solidFill>
                  <a:schemeClr val="tx1"/>
                </a:solidFill>
                <a:latin typeface="Söhne"/>
                <a:ea typeface="Open Sans"/>
                <a:cs typeface="Segoe UI"/>
              </a:rPr>
              <a:t>número</a:t>
            </a:r>
            <a:r>
              <a:rPr lang="en-GB">
                <a:solidFill>
                  <a:schemeClr val="tx1"/>
                </a:solidFill>
                <a:latin typeface="Söhne"/>
                <a:ea typeface="Open Sans"/>
                <a:cs typeface="Segoe UI"/>
              </a:rPr>
              <a:t> octal 54 para a base 10 (decimal).</a:t>
            </a:r>
          </a:p>
          <a:p>
            <a:pPr lvl="1">
              <a:buFont typeface="+mj-lt"/>
              <a:buAutoNum type="arabicPeriod"/>
            </a:pPr>
            <a:r>
              <a:rPr lang="en-GB" err="1">
                <a:solidFill>
                  <a:schemeClr val="tx1"/>
                </a:solidFill>
                <a:latin typeface="Söhne"/>
                <a:ea typeface="Open Sans"/>
                <a:cs typeface="Segoe UI"/>
              </a:rPr>
              <a:t>Converta</a:t>
            </a:r>
            <a:r>
              <a:rPr lang="en-GB">
                <a:solidFill>
                  <a:schemeClr val="tx1"/>
                </a:solidFill>
                <a:latin typeface="Söhne"/>
                <a:ea typeface="Open Sans"/>
                <a:cs typeface="Segoe UI"/>
              </a:rPr>
              <a:t> o </a:t>
            </a:r>
            <a:r>
              <a:rPr lang="en-GB" err="1">
                <a:solidFill>
                  <a:schemeClr val="tx1"/>
                </a:solidFill>
                <a:latin typeface="Söhne"/>
                <a:ea typeface="Open Sans"/>
                <a:cs typeface="Segoe UI"/>
              </a:rPr>
              <a:t>número</a:t>
            </a:r>
            <a:r>
              <a:rPr lang="en-GB">
                <a:solidFill>
                  <a:schemeClr val="tx1"/>
                </a:solidFill>
                <a:latin typeface="Söhne"/>
                <a:ea typeface="Open Sans"/>
                <a:cs typeface="Segoe UI"/>
              </a:rPr>
              <a:t> octal 777 para a base 10 (decimal).</a:t>
            </a:r>
          </a:p>
          <a:p>
            <a:pPr lvl="1">
              <a:buFont typeface="+mj-lt"/>
              <a:buAutoNum type="arabicPeriod"/>
            </a:pPr>
            <a:r>
              <a:rPr lang="en-GB" err="1">
                <a:solidFill>
                  <a:schemeClr val="tx1"/>
                </a:solidFill>
                <a:latin typeface="Söhne"/>
                <a:ea typeface="Open Sans"/>
                <a:cs typeface="Segoe UI"/>
              </a:rPr>
              <a:t>Converta</a:t>
            </a:r>
            <a:r>
              <a:rPr lang="en-GB">
                <a:solidFill>
                  <a:schemeClr val="tx1"/>
                </a:solidFill>
                <a:latin typeface="Söhne"/>
                <a:ea typeface="Open Sans"/>
                <a:cs typeface="Segoe UI"/>
              </a:rPr>
              <a:t> o </a:t>
            </a:r>
            <a:r>
              <a:rPr lang="en-GB" err="1">
                <a:solidFill>
                  <a:schemeClr val="tx1"/>
                </a:solidFill>
                <a:latin typeface="Söhne"/>
                <a:ea typeface="Open Sans"/>
                <a:cs typeface="Segoe UI"/>
              </a:rPr>
              <a:t>número</a:t>
            </a:r>
            <a:r>
              <a:rPr lang="en-GB">
                <a:solidFill>
                  <a:schemeClr val="tx1"/>
                </a:solidFill>
                <a:latin typeface="Söhne"/>
                <a:ea typeface="Open Sans"/>
                <a:cs typeface="Segoe UI"/>
              </a:rPr>
              <a:t> octal 1234 para a base 10 (decimal).</a:t>
            </a:r>
          </a:p>
          <a:p>
            <a:pPr lvl="1">
              <a:buFont typeface="+mj-lt"/>
              <a:buAutoNum type="arabicPeriod"/>
            </a:pPr>
            <a:r>
              <a:rPr lang="en-GB" err="1">
                <a:solidFill>
                  <a:schemeClr val="tx1"/>
                </a:solidFill>
                <a:latin typeface="Söhne"/>
                <a:ea typeface="Open Sans"/>
                <a:cs typeface="Segoe UI"/>
              </a:rPr>
              <a:t>Converta</a:t>
            </a:r>
            <a:r>
              <a:rPr lang="en-GB">
                <a:solidFill>
                  <a:schemeClr val="tx1"/>
                </a:solidFill>
                <a:latin typeface="Söhne"/>
                <a:ea typeface="Open Sans"/>
                <a:cs typeface="Segoe UI"/>
              </a:rPr>
              <a:t> o </a:t>
            </a:r>
            <a:r>
              <a:rPr lang="en-GB" err="1">
                <a:solidFill>
                  <a:schemeClr val="tx1"/>
                </a:solidFill>
                <a:latin typeface="Söhne"/>
                <a:ea typeface="Open Sans"/>
                <a:cs typeface="Segoe UI"/>
              </a:rPr>
              <a:t>número</a:t>
            </a:r>
            <a:r>
              <a:rPr lang="en-GB">
                <a:solidFill>
                  <a:schemeClr val="tx1"/>
                </a:solidFill>
                <a:latin typeface="Söhne"/>
                <a:ea typeface="Open Sans"/>
                <a:cs typeface="Segoe UI"/>
              </a:rPr>
              <a:t> octal 10 para a base 10 (decimal).</a:t>
            </a:r>
          </a:p>
          <a:p>
            <a:pPr lvl="1">
              <a:buFont typeface="+mj-lt"/>
              <a:buAutoNum type="arabicPeriod"/>
            </a:pPr>
            <a:r>
              <a:rPr lang="en-GB" err="1">
                <a:solidFill>
                  <a:schemeClr val="tx1"/>
                </a:solidFill>
                <a:latin typeface="Söhne"/>
                <a:ea typeface="Open Sans"/>
                <a:cs typeface="Segoe UI"/>
              </a:rPr>
              <a:t>Converta</a:t>
            </a:r>
            <a:r>
              <a:rPr lang="en-GB">
                <a:solidFill>
                  <a:schemeClr val="tx1"/>
                </a:solidFill>
                <a:latin typeface="Söhne"/>
                <a:ea typeface="Open Sans"/>
                <a:cs typeface="Segoe UI"/>
              </a:rPr>
              <a:t> o </a:t>
            </a:r>
            <a:r>
              <a:rPr lang="en-GB" err="1">
                <a:solidFill>
                  <a:schemeClr val="tx1"/>
                </a:solidFill>
                <a:latin typeface="Söhne"/>
                <a:ea typeface="Open Sans"/>
                <a:cs typeface="Segoe UI"/>
              </a:rPr>
              <a:t>número</a:t>
            </a:r>
            <a:r>
              <a:rPr lang="en-GB">
                <a:solidFill>
                  <a:schemeClr val="tx1"/>
                </a:solidFill>
                <a:latin typeface="Söhne"/>
                <a:ea typeface="Open Sans"/>
                <a:cs typeface="Segoe UI"/>
              </a:rPr>
              <a:t> octal 76543 para a base 10 (decimal).</a:t>
            </a:r>
            <a:br>
              <a:rPr lang="en-GB" sz="1400" dirty="0"/>
            </a:br>
            <a:endParaRPr lang="en-GB" sz="1400">
              <a:solidFill>
                <a:schemeClr val="tx1"/>
              </a:solidFill>
              <a:latin typeface="Söhne"/>
            </a:endParaRPr>
          </a:p>
        </p:txBody>
      </p:sp>
      <p:sp>
        <p:nvSpPr>
          <p:cNvPr id="2" name="Marcador de Posição do Texto 1">
            <a:extLst>
              <a:ext uri="{FF2B5EF4-FFF2-40B4-BE49-F238E27FC236}">
                <a16:creationId xmlns:a16="http://schemas.microsoft.com/office/drawing/2014/main" id="{D5AF3DBC-E0EA-464F-9CF1-B31E6D80C64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68164" y="1298643"/>
            <a:ext cx="5512672" cy="417091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pt-PT" err="1"/>
              <a:t>Exercicios</a:t>
            </a:r>
            <a:r>
              <a:rPr lang="pt-PT"/>
              <a:t> representação Octal </a:t>
            </a:r>
            <a:endParaRPr lang="pt-PT" altLang="pt-PT" b="1"/>
          </a:p>
        </p:txBody>
      </p:sp>
    </p:spTree>
    <p:extLst>
      <p:ext uri="{BB962C8B-B14F-4D97-AF65-F5344CB8AC3E}">
        <p14:creationId xmlns:p14="http://schemas.microsoft.com/office/powerpoint/2010/main" val="13491614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A23444-3510-07FA-DB55-D75C931B77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itle 41">
            <a:extLst>
              <a:ext uri="{FF2B5EF4-FFF2-40B4-BE49-F238E27FC236}">
                <a16:creationId xmlns:a16="http://schemas.microsoft.com/office/drawing/2014/main" id="{15FDCC0C-AA0D-01B4-3AD2-2D5F2A8E25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817" y="390526"/>
            <a:ext cx="9484727" cy="685800"/>
          </a:xfrm>
        </p:spPr>
        <p:txBody>
          <a:bodyPr anchor="ctr">
            <a:normAutofit/>
          </a:bodyPr>
          <a:lstStyle/>
          <a:p>
            <a:r>
              <a:rPr lang="pt-PT"/>
              <a:t>Arquitetura de Computadores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F7E358B8-FC07-4F08-C301-44491D0AC16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2817" y="1715734"/>
            <a:ext cx="10996039" cy="3789716"/>
          </a:xfrm>
        </p:spPr>
        <p:txBody>
          <a:bodyPr>
            <a:noAutofit/>
          </a:bodyPr>
          <a:lstStyle/>
          <a:p>
            <a:r>
              <a:rPr lang="en-GB" b="1">
                <a:solidFill>
                  <a:schemeClr val="tx1"/>
                </a:solidFill>
                <a:latin typeface="Söhne"/>
              </a:rPr>
              <a:t>Hexadecimal (Base 16):</a:t>
            </a:r>
            <a:endParaRPr lang="en-GB">
              <a:solidFill>
                <a:schemeClr val="tx1"/>
              </a:solidFill>
              <a:latin typeface="Söhne"/>
            </a:endParaRPr>
          </a:p>
          <a:p>
            <a:pPr lvl="1"/>
            <a:r>
              <a:rPr lang="en-GB">
                <a:solidFill>
                  <a:schemeClr val="tx1"/>
                </a:solidFill>
                <a:latin typeface="Söhne"/>
              </a:rPr>
              <a:t>O </a:t>
            </a:r>
            <a:r>
              <a:rPr lang="en-GB" err="1">
                <a:solidFill>
                  <a:schemeClr val="tx1"/>
                </a:solidFill>
                <a:latin typeface="Söhne"/>
              </a:rPr>
              <a:t>sistema</a:t>
            </a:r>
            <a:r>
              <a:rPr lang="en-GB">
                <a:solidFill>
                  <a:schemeClr val="tx1"/>
                </a:solidFill>
                <a:latin typeface="Söhne"/>
              </a:rPr>
              <a:t> hexadecimal </a:t>
            </a:r>
            <a:r>
              <a:rPr lang="en-GB" err="1">
                <a:solidFill>
                  <a:schemeClr val="tx1"/>
                </a:solidFill>
                <a:latin typeface="Söhne"/>
              </a:rPr>
              <a:t>usa</a:t>
            </a:r>
            <a:r>
              <a:rPr lang="en-GB">
                <a:solidFill>
                  <a:schemeClr val="tx1"/>
                </a:solidFill>
                <a:latin typeface="Söhne"/>
              </a:rPr>
              <a:t> </a:t>
            </a:r>
            <a:r>
              <a:rPr lang="en-GB" err="1">
                <a:solidFill>
                  <a:schemeClr val="tx1"/>
                </a:solidFill>
                <a:latin typeface="Söhne"/>
              </a:rPr>
              <a:t>dezesseis</a:t>
            </a:r>
            <a:r>
              <a:rPr lang="en-GB">
                <a:solidFill>
                  <a:schemeClr val="tx1"/>
                </a:solidFill>
                <a:latin typeface="Söhne"/>
              </a:rPr>
              <a:t> </a:t>
            </a:r>
            <a:r>
              <a:rPr lang="en-GB" err="1">
                <a:solidFill>
                  <a:schemeClr val="tx1"/>
                </a:solidFill>
                <a:latin typeface="Söhne"/>
              </a:rPr>
              <a:t>dígitos</a:t>
            </a:r>
            <a:r>
              <a:rPr lang="en-GB">
                <a:solidFill>
                  <a:schemeClr val="tx1"/>
                </a:solidFill>
                <a:latin typeface="Söhne"/>
              </a:rPr>
              <a:t>: 0 a 9 e A a F (</a:t>
            </a:r>
            <a:r>
              <a:rPr lang="en-GB" err="1">
                <a:solidFill>
                  <a:schemeClr val="tx1"/>
                </a:solidFill>
                <a:latin typeface="Söhne"/>
              </a:rPr>
              <a:t>representando</a:t>
            </a:r>
            <a:r>
              <a:rPr lang="en-GB">
                <a:solidFill>
                  <a:schemeClr val="tx1"/>
                </a:solidFill>
                <a:latin typeface="Söhne"/>
              </a:rPr>
              <a:t> 10 a 15).</a:t>
            </a:r>
          </a:p>
          <a:p>
            <a:pPr lvl="1"/>
            <a:r>
              <a:rPr lang="en-GB">
                <a:solidFill>
                  <a:schemeClr val="tx1"/>
                </a:solidFill>
                <a:latin typeface="Söhne"/>
              </a:rPr>
              <a:t>Cada </a:t>
            </a:r>
            <a:r>
              <a:rPr lang="en-GB" err="1">
                <a:solidFill>
                  <a:schemeClr val="tx1"/>
                </a:solidFill>
                <a:latin typeface="Söhne"/>
              </a:rPr>
              <a:t>dígito</a:t>
            </a:r>
            <a:r>
              <a:rPr lang="en-GB">
                <a:solidFill>
                  <a:schemeClr val="tx1"/>
                </a:solidFill>
                <a:latin typeface="Söhne"/>
              </a:rPr>
              <a:t> hexadecimal </a:t>
            </a:r>
            <a:r>
              <a:rPr lang="en-GB" err="1">
                <a:solidFill>
                  <a:schemeClr val="tx1"/>
                </a:solidFill>
                <a:latin typeface="Söhne"/>
              </a:rPr>
              <a:t>representa</a:t>
            </a:r>
            <a:r>
              <a:rPr lang="en-GB">
                <a:solidFill>
                  <a:schemeClr val="tx1"/>
                </a:solidFill>
                <a:latin typeface="Söhne"/>
              </a:rPr>
              <a:t> </a:t>
            </a:r>
            <a:r>
              <a:rPr lang="en-GB" err="1">
                <a:solidFill>
                  <a:schemeClr val="tx1"/>
                </a:solidFill>
                <a:latin typeface="Söhne"/>
              </a:rPr>
              <a:t>quatro</a:t>
            </a:r>
            <a:r>
              <a:rPr lang="en-GB">
                <a:solidFill>
                  <a:schemeClr val="tx1"/>
                </a:solidFill>
                <a:latin typeface="Söhne"/>
              </a:rPr>
              <a:t> </a:t>
            </a:r>
            <a:r>
              <a:rPr lang="en-GB" err="1">
                <a:solidFill>
                  <a:schemeClr val="tx1"/>
                </a:solidFill>
                <a:latin typeface="Söhne"/>
              </a:rPr>
              <a:t>dígitos</a:t>
            </a:r>
            <a:r>
              <a:rPr lang="en-GB">
                <a:solidFill>
                  <a:schemeClr val="tx1"/>
                </a:solidFill>
                <a:latin typeface="Söhne"/>
              </a:rPr>
              <a:t> </a:t>
            </a:r>
            <a:r>
              <a:rPr lang="en-GB" err="1">
                <a:solidFill>
                  <a:schemeClr val="tx1"/>
                </a:solidFill>
                <a:latin typeface="Söhne"/>
              </a:rPr>
              <a:t>binários</a:t>
            </a:r>
            <a:r>
              <a:rPr lang="en-GB">
                <a:solidFill>
                  <a:schemeClr val="tx1"/>
                </a:solidFill>
                <a:latin typeface="Söhne"/>
              </a:rPr>
              <a:t>.</a:t>
            </a:r>
          </a:p>
          <a:p>
            <a:pPr lvl="1"/>
            <a:r>
              <a:rPr lang="en-GB" err="1">
                <a:solidFill>
                  <a:schemeClr val="tx1"/>
                </a:solidFill>
                <a:latin typeface="Söhne"/>
              </a:rPr>
              <a:t>É</a:t>
            </a:r>
            <a:r>
              <a:rPr lang="en-GB">
                <a:solidFill>
                  <a:schemeClr val="tx1"/>
                </a:solidFill>
                <a:latin typeface="Söhne"/>
              </a:rPr>
              <a:t> </a:t>
            </a:r>
            <a:r>
              <a:rPr lang="en-GB" err="1">
                <a:solidFill>
                  <a:schemeClr val="tx1"/>
                </a:solidFill>
                <a:latin typeface="Söhne"/>
              </a:rPr>
              <a:t>amplamente</a:t>
            </a:r>
            <a:r>
              <a:rPr lang="en-GB">
                <a:solidFill>
                  <a:schemeClr val="tx1"/>
                </a:solidFill>
                <a:latin typeface="Söhne"/>
              </a:rPr>
              <a:t> </a:t>
            </a:r>
            <a:r>
              <a:rPr lang="en-GB" err="1">
                <a:solidFill>
                  <a:schemeClr val="tx1"/>
                </a:solidFill>
                <a:latin typeface="Söhne"/>
              </a:rPr>
              <a:t>usado</a:t>
            </a:r>
            <a:r>
              <a:rPr lang="en-GB">
                <a:solidFill>
                  <a:schemeClr val="tx1"/>
                </a:solidFill>
                <a:latin typeface="Söhne"/>
              </a:rPr>
              <a:t> </a:t>
            </a:r>
            <a:r>
              <a:rPr lang="en-GB" err="1">
                <a:solidFill>
                  <a:schemeClr val="tx1"/>
                </a:solidFill>
                <a:latin typeface="Söhne"/>
              </a:rPr>
              <a:t>na</a:t>
            </a:r>
            <a:r>
              <a:rPr lang="en-GB">
                <a:solidFill>
                  <a:schemeClr val="tx1"/>
                </a:solidFill>
                <a:latin typeface="Söhne"/>
              </a:rPr>
              <a:t> </a:t>
            </a:r>
            <a:r>
              <a:rPr lang="en-GB" err="1">
                <a:solidFill>
                  <a:schemeClr val="tx1"/>
                </a:solidFill>
                <a:latin typeface="Söhne"/>
              </a:rPr>
              <a:t>programação</a:t>
            </a:r>
            <a:r>
              <a:rPr lang="en-GB">
                <a:solidFill>
                  <a:schemeClr val="tx1"/>
                </a:solidFill>
                <a:latin typeface="Söhne"/>
              </a:rPr>
              <a:t> e </a:t>
            </a:r>
            <a:r>
              <a:rPr lang="en-GB" err="1">
                <a:solidFill>
                  <a:schemeClr val="tx1"/>
                </a:solidFill>
                <a:latin typeface="Söhne"/>
              </a:rPr>
              <a:t>em</a:t>
            </a:r>
            <a:r>
              <a:rPr lang="en-GB">
                <a:solidFill>
                  <a:schemeClr val="tx1"/>
                </a:solidFill>
                <a:latin typeface="Söhne"/>
              </a:rPr>
              <a:t> </a:t>
            </a:r>
            <a:r>
              <a:rPr lang="en-GB" err="1">
                <a:solidFill>
                  <a:schemeClr val="tx1"/>
                </a:solidFill>
                <a:latin typeface="Söhne"/>
              </a:rPr>
              <a:t>ciência</a:t>
            </a:r>
            <a:r>
              <a:rPr lang="en-GB">
                <a:solidFill>
                  <a:schemeClr val="tx1"/>
                </a:solidFill>
                <a:latin typeface="Söhne"/>
              </a:rPr>
              <a:t> da </a:t>
            </a:r>
            <a:r>
              <a:rPr lang="en-GB" err="1">
                <a:solidFill>
                  <a:schemeClr val="tx1"/>
                </a:solidFill>
                <a:latin typeface="Söhne"/>
              </a:rPr>
              <a:t>computação</a:t>
            </a:r>
            <a:r>
              <a:rPr lang="en-GB">
                <a:solidFill>
                  <a:schemeClr val="tx1"/>
                </a:solidFill>
                <a:latin typeface="Söhne"/>
              </a:rPr>
              <a:t> para </a:t>
            </a:r>
            <a:r>
              <a:rPr lang="en-GB" err="1">
                <a:solidFill>
                  <a:schemeClr val="tx1"/>
                </a:solidFill>
                <a:latin typeface="Söhne"/>
              </a:rPr>
              <a:t>representar</a:t>
            </a:r>
            <a:r>
              <a:rPr lang="en-GB">
                <a:solidFill>
                  <a:schemeClr val="tx1"/>
                </a:solidFill>
                <a:latin typeface="Söhne"/>
              </a:rPr>
              <a:t> </a:t>
            </a:r>
            <a:r>
              <a:rPr lang="en-GB" err="1">
                <a:solidFill>
                  <a:schemeClr val="tx1"/>
                </a:solidFill>
                <a:latin typeface="Söhne"/>
              </a:rPr>
              <a:t>valores</a:t>
            </a:r>
            <a:r>
              <a:rPr lang="en-GB">
                <a:solidFill>
                  <a:schemeClr val="tx1"/>
                </a:solidFill>
                <a:latin typeface="Söhne"/>
              </a:rPr>
              <a:t> </a:t>
            </a:r>
            <a:r>
              <a:rPr lang="en-GB" err="1">
                <a:solidFill>
                  <a:schemeClr val="tx1"/>
                </a:solidFill>
                <a:latin typeface="Söhne"/>
              </a:rPr>
              <a:t>binários</a:t>
            </a:r>
            <a:r>
              <a:rPr lang="en-GB">
                <a:solidFill>
                  <a:schemeClr val="tx1"/>
                </a:solidFill>
                <a:latin typeface="Söhne"/>
              </a:rPr>
              <a:t> de forma </a:t>
            </a:r>
            <a:r>
              <a:rPr lang="en-GB" err="1">
                <a:solidFill>
                  <a:schemeClr val="tx1"/>
                </a:solidFill>
                <a:latin typeface="Söhne"/>
              </a:rPr>
              <a:t>mais</a:t>
            </a:r>
            <a:r>
              <a:rPr lang="en-GB">
                <a:solidFill>
                  <a:schemeClr val="tx1"/>
                </a:solidFill>
                <a:latin typeface="Söhne"/>
              </a:rPr>
              <a:t> compacta e </a:t>
            </a:r>
            <a:r>
              <a:rPr lang="en-GB" err="1">
                <a:solidFill>
                  <a:schemeClr val="tx1"/>
                </a:solidFill>
                <a:latin typeface="Söhne"/>
              </a:rPr>
              <a:t>legível</a:t>
            </a:r>
            <a:r>
              <a:rPr lang="en-GB">
                <a:solidFill>
                  <a:schemeClr val="tx1"/>
                </a:solidFill>
                <a:latin typeface="Söhne"/>
              </a:rPr>
              <a:t>. </a:t>
            </a:r>
          </a:p>
        </p:txBody>
      </p:sp>
      <p:sp>
        <p:nvSpPr>
          <p:cNvPr id="2" name="Marcador de Posição do Texto 1">
            <a:extLst>
              <a:ext uri="{FF2B5EF4-FFF2-40B4-BE49-F238E27FC236}">
                <a16:creationId xmlns:a16="http://schemas.microsoft.com/office/drawing/2014/main" id="{9B3ABCED-BFE1-2407-CA85-D7AA39419AB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68164" y="1298643"/>
            <a:ext cx="5512672" cy="417091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pt-PT"/>
              <a:t>Sistema de Numeração Hexadecimal(Base 16)</a:t>
            </a:r>
            <a:endParaRPr lang="pt-PT" altLang="pt-PT" b="1"/>
          </a:p>
        </p:txBody>
      </p:sp>
    </p:spTree>
    <p:extLst>
      <p:ext uri="{BB962C8B-B14F-4D97-AF65-F5344CB8AC3E}">
        <p14:creationId xmlns:p14="http://schemas.microsoft.com/office/powerpoint/2010/main" val="13955593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747BA7-223C-E8E6-02DE-8679C29DF4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itle 41">
            <a:extLst>
              <a:ext uri="{FF2B5EF4-FFF2-40B4-BE49-F238E27FC236}">
                <a16:creationId xmlns:a16="http://schemas.microsoft.com/office/drawing/2014/main" id="{48D80F26-3D32-B7C1-9641-71830B0938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817" y="390526"/>
            <a:ext cx="9484727" cy="685800"/>
          </a:xfrm>
        </p:spPr>
        <p:txBody>
          <a:bodyPr anchor="ctr">
            <a:normAutofit/>
          </a:bodyPr>
          <a:lstStyle/>
          <a:p>
            <a:r>
              <a:rPr lang="pt-PT"/>
              <a:t>Arquitetura de Computadores</a:t>
            </a:r>
          </a:p>
        </p:txBody>
      </p:sp>
      <p:sp>
        <p:nvSpPr>
          <p:cNvPr id="2" name="Marcador de Posição do Texto 1">
            <a:extLst>
              <a:ext uri="{FF2B5EF4-FFF2-40B4-BE49-F238E27FC236}">
                <a16:creationId xmlns:a16="http://schemas.microsoft.com/office/drawing/2014/main" id="{DC74A0EA-91B4-889C-1062-7A533EB5B63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68164" y="1298643"/>
            <a:ext cx="5512672" cy="417091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pt-PT"/>
              <a:t>Sistema de Numeração Hexadecimal(Base 16)</a:t>
            </a:r>
            <a:endParaRPr lang="pt-PT" altLang="pt-PT" b="1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2671CCCC-40B2-B3CF-D4CD-ED39914A9DB3}"/>
              </a:ext>
            </a:extLst>
          </p:cNvPr>
          <p:cNvSpPr txBox="1">
            <a:spLocks/>
          </p:cNvSpPr>
          <p:nvPr/>
        </p:nvSpPr>
        <p:spPr>
          <a:xfrm>
            <a:off x="647136" y="2773638"/>
            <a:ext cx="5514808" cy="114330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kern="1200">
                <a:solidFill>
                  <a:srgbClr val="00B0F0"/>
                </a:solidFill>
                <a:latin typeface="Segoe UI Semibold" panose="020B0702040204020203" pitchFamily="34" charset="0"/>
                <a:ea typeface="Open Sans Semibold" panose="020B0706030804020204" pitchFamily="34" charset="0"/>
                <a:cs typeface="Segoe UI Semibold" panose="020B07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3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3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accent3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accent3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Font typeface="Arial" panose="020B0604020202020204" pitchFamily="34" charset="0"/>
              <a:buNone/>
            </a:pPr>
            <a:r>
              <a:rPr lang="en-GB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Conversão</a:t>
            </a:r>
            <a:r>
              <a:rPr lang="en-GB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Decimal -&gt; Hexadecimal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6C6DE5B3-C0EA-D959-43D8-256FACA927BA}"/>
              </a:ext>
            </a:extLst>
          </p:cNvPr>
          <p:cNvSpPr txBox="1">
            <a:spLocks/>
          </p:cNvSpPr>
          <p:nvPr/>
        </p:nvSpPr>
        <p:spPr>
          <a:xfrm>
            <a:off x="5845919" y="2356857"/>
            <a:ext cx="5514808" cy="114330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Font typeface="Wingdings 2" panose="05020102010507070707" pitchFamily="18" charset="2"/>
              <a:buNone/>
            </a:pPr>
            <a:r>
              <a:rPr lang="en-GB" sz="200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Conversão</a:t>
            </a:r>
            <a:r>
              <a:rPr lang="en-GB" sz="20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Hexadecimal -&gt; Decimal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CD88C04-2EF1-1D09-5130-DBA6039A1211}"/>
              </a:ext>
            </a:extLst>
          </p:cNvPr>
          <p:cNvSpPr txBox="1"/>
          <p:nvPr/>
        </p:nvSpPr>
        <p:spPr>
          <a:xfrm>
            <a:off x="3720565" y="3882541"/>
            <a:ext cx="229460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>
                <a:latin typeface="Calibri" panose="020F0502020204030204" pitchFamily="34" charset="0"/>
                <a:cs typeface="Calibri" panose="020F0502020204030204" pitchFamily="34" charset="0"/>
              </a:rPr>
              <a:t>Hexadecimal</a:t>
            </a:r>
            <a:r>
              <a:rPr lang="pt-PT"/>
              <a:t> = </a:t>
            </a:r>
            <a:r>
              <a:rPr lang="pt-PT">
                <a:solidFill>
                  <a:srgbClr val="FF0000"/>
                </a:solidFill>
              </a:rPr>
              <a:t>4D86B</a:t>
            </a:r>
          </a:p>
          <a:p>
            <a:br>
              <a:rPr lang="pt-PT"/>
            </a:br>
            <a:r>
              <a:rPr lang="pt-PT">
                <a:latin typeface="Calibri" panose="020F0502020204030204" pitchFamily="34" charset="0"/>
                <a:cs typeface="Calibri" panose="020F0502020204030204" pitchFamily="34" charset="0"/>
              </a:rPr>
              <a:t>Decimal</a:t>
            </a:r>
            <a:r>
              <a:rPr lang="pt-PT"/>
              <a:t> = </a:t>
            </a:r>
            <a:r>
              <a:rPr lang="pt-PT">
                <a:solidFill>
                  <a:srgbClr val="FF0000"/>
                </a:solidFill>
              </a:rPr>
              <a:t>317547</a:t>
            </a:r>
            <a:r>
              <a:rPr lang="pt-PT"/>
              <a:t> 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B68ED5FD-47BA-F9AA-816A-BB7A222DDE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9719" y="1940077"/>
            <a:ext cx="7772400" cy="833561"/>
          </a:xfrm>
          <a:prstGeom prst="rect">
            <a:avLst/>
          </a:prstGeom>
        </p:spPr>
      </p:pic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FEF5B2E8-1FCD-1D7D-AE79-99BE39A2AD98}"/>
              </a:ext>
            </a:extLst>
          </p:cNvPr>
          <p:cNvSpPr txBox="1">
            <a:spLocks/>
          </p:cNvSpPr>
          <p:nvPr/>
        </p:nvSpPr>
        <p:spPr>
          <a:xfrm>
            <a:off x="6477969" y="2865745"/>
            <a:ext cx="2294603" cy="36376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 algn="ctr">
              <a:buFont typeface="Wingdings 2" panose="05020102010507070707" pitchFamily="18" charset="2"/>
              <a:buNone/>
            </a:pPr>
            <a:r>
              <a:rPr lang="en-GB" sz="28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1EF</a:t>
            </a:r>
          </a:p>
          <a:p>
            <a:pPr marL="457200" lvl="1" indent="0" algn="ctr">
              <a:buFont typeface="Wingdings 2" panose="05020102010507070707" pitchFamily="18" charset="2"/>
              <a:buNone/>
            </a:pPr>
            <a:r>
              <a:rPr lang="en-GB" sz="28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1x16</a:t>
            </a:r>
            <a:r>
              <a:rPr lang="en-GB" sz="2800" baseline="3000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^2</a:t>
            </a:r>
            <a:r>
              <a:rPr lang="en-GB" sz="2800" baseline="300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sz="28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+ 14x16</a:t>
            </a:r>
            <a:r>
              <a:rPr lang="en-GB" sz="2800" baseline="3000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^1</a:t>
            </a:r>
            <a:r>
              <a:rPr lang="en-GB" sz="28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+ 15x16</a:t>
            </a:r>
            <a:r>
              <a:rPr lang="en-GB" sz="2800" baseline="3000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^0</a:t>
            </a:r>
            <a:endParaRPr lang="en-GB" sz="2800" baseline="3000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83FEC95-5D38-4E41-0BA3-35DA766B7873}"/>
              </a:ext>
            </a:extLst>
          </p:cNvPr>
          <p:cNvSpPr txBox="1"/>
          <p:nvPr/>
        </p:nvSpPr>
        <p:spPr>
          <a:xfrm>
            <a:off x="9002060" y="4222912"/>
            <a:ext cx="198522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>
                <a:latin typeface="Calibri" panose="020F0502020204030204" pitchFamily="34" charset="0"/>
                <a:cs typeface="Calibri" panose="020F0502020204030204" pitchFamily="34" charset="0"/>
              </a:rPr>
              <a:t>Hexadecimal</a:t>
            </a:r>
            <a:r>
              <a:rPr lang="pt-PT"/>
              <a:t> = </a:t>
            </a:r>
            <a:r>
              <a:rPr lang="pt-PT">
                <a:solidFill>
                  <a:srgbClr val="FF0000"/>
                </a:solidFill>
              </a:rPr>
              <a:t>1EF</a:t>
            </a:r>
          </a:p>
          <a:p>
            <a:br>
              <a:rPr lang="pt-PT"/>
            </a:br>
            <a:r>
              <a:rPr lang="pt-PT">
                <a:latin typeface="Calibri" panose="020F0502020204030204" pitchFamily="34" charset="0"/>
                <a:cs typeface="Calibri" panose="020F0502020204030204" pitchFamily="34" charset="0"/>
              </a:rPr>
              <a:t>Decimal</a:t>
            </a:r>
            <a:r>
              <a:rPr lang="pt-PT"/>
              <a:t> = </a:t>
            </a:r>
            <a:r>
              <a:rPr lang="pt-PT">
                <a:solidFill>
                  <a:srgbClr val="FF0000"/>
                </a:solidFill>
              </a:rPr>
              <a:t>495</a:t>
            </a:r>
            <a:r>
              <a:rPr lang="pt-PT"/>
              <a:t> 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25DD4C5A-74C1-A56A-A6DB-7CEA7F22FCA9}"/>
              </a:ext>
            </a:extLst>
          </p:cNvPr>
          <p:cNvSpPr txBox="1">
            <a:spLocks/>
          </p:cNvSpPr>
          <p:nvPr/>
        </p:nvSpPr>
        <p:spPr>
          <a:xfrm>
            <a:off x="331111" y="3156015"/>
            <a:ext cx="3730513" cy="36376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 algn="ctr">
              <a:buFont typeface="Wingdings 2" panose="05020102010507070707" pitchFamily="18" charset="2"/>
              <a:buNone/>
            </a:pPr>
            <a:r>
              <a:rPr lang="en-GB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317547</a:t>
            </a:r>
          </a:p>
          <a:p>
            <a:pPr marL="457200" lvl="1" indent="0" algn="ctr">
              <a:buFont typeface="Wingdings 2" panose="05020102010507070707" pitchFamily="18" charset="2"/>
              <a:buNone/>
            </a:pPr>
            <a:r>
              <a:rPr lang="en-GB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317547 / 16 = 19846</a:t>
            </a:r>
          </a:p>
          <a:p>
            <a:pPr marL="457200" lvl="1" indent="0" algn="ctr">
              <a:buFont typeface="Wingdings 2" panose="05020102010507070707" pitchFamily="18" charset="2"/>
              <a:buNone/>
            </a:pPr>
            <a:r>
              <a:rPr lang="en-GB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317547 – (19846x16) = 11 = </a:t>
            </a:r>
            <a:r>
              <a:rPr lang="en-GB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</a:t>
            </a:r>
          </a:p>
          <a:p>
            <a:pPr marL="457200" lvl="1" indent="0" algn="ctr">
              <a:buFont typeface="Wingdings 2" panose="05020102010507070707" pitchFamily="18" charset="2"/>
              <a:buNone/>
            </a:pPr>
            <a:r>
              <a:rPr lang="en-GB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19846 / 16 = 1240</a:t>
            </a:r>
          </a:p>
          <a:p>
            <a:pPr marL="457200" lvl="1" indent="0" algn="ctr">
              <a:buFont typeface="Wingdings 2" panose="05020102010507070707" pitchFamily="18" charset="2"/>
              <a:buNone/>
            </a:pPr>
            <a:r>
              <a:rPr lang="en-GB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19846 – (1240x16) = 6 = </a:t>
            </a:r>
            <a:r>
              <a:rPr lang="en-GB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6</a:t>
            </a:r>
          </a:p>
          <a:p>
            <a:pPr marL="457200" lvl="1" indent="0" algn="ctr">
              <a:buFont typeface="Wingdings 2" panose="05020102010507070707" pitchFamily="18" charset="2"/>
              <a:buNone/>
            </a:pPr>
            <a:r>
              <a:rPr lang="en-GB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1240 / 16 = 77</a:t>
            </a:r>
          </a:p>
          <a:p>
            <a:pPr marL="457200" lvl="1" indent="0" algn="ctr">
              <a:buFont typeface="Wingdings 2" panose="05020102010507070707" pitchFamily="18" charset="2"/>
              <a:buNone/>
            </a:pPr>
            <a:r>
              <a:rPr lang="en-GB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1240 – (77x16) = 8 = </a:t>
            </a:r>
            <a:r>
              <a:rPr lang="en-GB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8</a:t>
            </a:r>
          </a:p>
          <a:p>
            <a:pPr marL="457200" lvl="1" indent="0" algn="ctr">
              <a:buFont typeface="Wingdings 2" panose="05020102010507070707" pitchFamily="18" charset="2"/>
              <a:buNone/>
            </a:pPr>
            <a:r>
              <a:rPr lang="en-GB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77 / 16 = </a:t>
            </a:r>
            <a:r>
              <a:rPr lang="en-GB" u="sng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4</a:t>
            </a:r>
          </a:p>
          <a:p>
            <a:pPr marL="457200" lvl="1" indent="0" algn="ctr">
              <a:buFont typeface="Wingdings 2" panose="05020102010507070707" pitchFamily="18" charset="2"/>
              <a:buNone/>
            </a:pPr>
            <a:r>
              <a:rPr lang="en-GB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77 – (4x16) = 13 = </a:t>
            </a:r>
            <a:r>
              <a:rPr lang="en-GB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</a:t>
            </a:r>
          </a:p>
          <a:p>
            <a:pPr marL="457200" lvl="1" indent="0" algn="ctr">
              <a:buFont typeface="Wingdings 2" panose="05020102010507070707" pitchFamily="18" charset="2"/>
              <a:buNone/>
            </a:pPr>
            <a:r>
              <a:rPr lang="en-GB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4&lt;16</a:t>
            </a:r>
          </a:p>
          <a:p>
            <a:pPr marL="457200" lvl="1" indent="0" algn="ctr">
              <a:buFont typeface="Wingdings 2" panose="05020102010507070707" pitchFamily="18" charset="2"/>
              <a:buNone/>
            </a:pPr>
            <a:r>
              <a:rPr lang="en-GB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4 = </a:t>
            </a:r>
            <a:r>
              <a:rPr lang="en-GB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4</a:t>
            </a:r>
            <a:endParaRPr lang="en-GB" sz="80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36053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EBFC35-E442-F9A5-2C00-0C93DF0DC5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itle 41">
            <a:extLst>
              <a:ext uri="{FF2B5EF4-FFF2-40B4-BE49-F238E27FC236}">
                <a16:creationId xmlns:a16="http://schemas.microsoft.com/office/drawing/2014/main" id="{3D0BBD6C-24BF-EC33-DC2D-9627010AFD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817" y="390526"/>
            <a:ext cx="9484727" cy="685800"/>
          </a:xfrm>
        </p:spPr>
        <p:txBody>
          <a:bodyPr anchor="ctr">
            <a:normAutofit/>
          </a:bodyPr>
          <a:lstStyle/>
          <a:p>
            <a:r>
              <a:rPr lang="pt-PT"/>
              <a:t>Arquitetura de Computadores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79F6C120-2C40-DCF6-315D-125018A75C7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2817" y="1715734"/>
            <a:ext cx="10996039" cy="3789716"/>
          </a:xfrm>
        </p:spPr>
        <p:txBody>
          <a:bodyPr>
            <a:noAutofit/>
          </a:bodyPr>
          <a:lstStyle/>
          <a:p>
            <a:r>
              <a:rPr lang="en-GB" b="1" err="1">
                <a:solidFill>
                  <a:schemeClr val="tx1"/>
                </a:solidFill>
                <a:latin typeface="Söhne"/>
              </a:rPr>
              <a:t>Exercícios</a:t>
            </a:r>
            <a:r>
              <a:rPr lang="en-GB" b="1">
                <a:solidFill>
                  <a:schemeClr val="tx1"/>
                </a:solidFill>
                <a:latin typeface="Söhne"/>
              </a:rPr>
              <a:t> de </a:t>
            </a:r>
            <a:r>
              <a:rPr lang="en-GB" b="1" err="1">
                <a:solidFill>
                  <a:schemeClr val="tx1"/>
                </a:solidFill>
                <a:latin typeface="Söhne"/>
              </a:rPr>
              <a:t>Conversão</a:t>
            </a:r>
            <a:r>
              <a:rPr lang="en-GB" b="1">
                <a:solidFill>
                  <a:schemeClr val="tx1"/>
                </a:solidFill>
                <a:latin typeface="Söhne"/>
              </a:rPr>
              <a:t> de Decimal para Hexadecimal:</a:t>
            </a:r>
            <a:endParaRPr lang="en-GB">
              <a:solidFill>
                <a:schemeClr val="tx1"/>
              </a:solidFill>
              <a:latin typeface="Söhne"/>
            </a:endParaRPr>
          </a:p>
          <a:p>
            <a:pPr lvl="1">
              <a:buFont typeface="+mj-lt"/>
              <a:buAutoNum type="arabicPeriod"/>
            </a:pPr>
            <a:r>
              <a:rPr lang="en-GB" err="1">
                <a:solidFill>
                  <a:schemeClr val="tx1"/>
                </a:solidFill>
                <a:latin typeface="Söhne"/>
              </a:rPr>
              <a:t>Converta</a:t>
            </a:r>
            <a:r>
              <a:rPr lang="en-GB">
                <a:solidFill>
                  <a:schemeClr val="tx1"/>
                </a:solidFill>
                <a:latin typeface="Söhne"/>
              </a:rPr>
              <a:t> o </a:t>
            </a:r>
            <a:r>
              <a:rPr lang="en-GB" err="1">
                <a:solidFill>
                  <a:schemeClr val="tx1"/>
                </a:solidFill>
                <a:latin typeface="Söhne"/>
              </a:rPr>
              <a:t>número</a:t>
            </a:r>
            <a:r>
              <a:rPr lang="en-GB">
                <a:solidFill>
                  <a:schemeClr val="tx1"/>
                </a:solidFill>
                <a:latin typeface="Söhne"/>
              </a:rPr>
              <a:t> decimal 255 para a base 16 (hexadecimal).</a:t>
            </a:r>
          </a:p>
          <a:p>
            <a:pPr lvl="1">
              <a:buFont typeface="+mj-lt"/>
              <a:buAutoNum type="arabicPeriod"/>
            </a:pPr>
            <a:r>
              <a:rPr lang="en-GB" err="1">
                <a:solidFill>
                  <a:schemeClr val="tx1"/>
                </a:solidFill>
                <a:latin typeface="Söhne"/>
              </a:rPr>
              <a:t>Converta</a:t>
            </a:r>
            <a:r>
              <a:rPr lang="en-GB">
                <a:solidFill>
                  <a:schemeClr val="tx1"/>
                </a:solidFill>
                <a:latin typeface="Söhne"/>
              </a:rPr>
              <a:t> o </a:t>
            </a:r>
            <a:r>
              <a:rPr lang="en-GB" err="1">
                <a:solidFill>
                  <a:schemeClr val="tx1"/>
                </a:solidFill>
                <a:latin typeface="Söhne"/>
              </a:rPr>
              <a:t>número</a:t>
            </a:r>
            <a:r>
              <a:rPr lang="en-GB">
                <a:solidFill>
                  <a:schemeClr val="tx1"/>
                </a:solidFill>
                <a:latin typeface="Söhne"/>
              </a:rPr>
              <a:t> decimal 512 para a base 16 (hexadecimal).</a:t>
            </a:r>
          </a:p>
          <a:p>
            <a:pPr lvl="1">
              <a:buFont typeface="+mj-lt"/>
              <a:buAutoNum type="arabicPeriod"/>
            </a:pPr>
            <a:r>
              <a:rPr lang="en-GB" err="1">
                <a:solidFill>
                  <a:schemeClr val="tx1"/>
                </a:solidFill>
                <a:latin typeface="Söhne"/>
              </a:rPr>
              <a:t>Converta</a:t>
            </a:r>
            <a:r>
              <a:rPr lang="en-GB">
                <a:solidFill>
                  <a:schemeClr val="tx1"/>
                </a:solidFill>
                <a:latin typeface="Söhne"/>
              </a:rPr>
              <a:t> o </a:t>
            </a:r>
            <a:r>
              <a:rPr lang="en-GB" err="1">
                <a:solidFill>
                  <a:schemeClr val="tx1"/>
                </a:solidFill>
                <a:latin typeface="Söhne"/>
              </a:rPr>
              <a:t>número</a:t>
            </a:r>
            <a:r>
              <a:rPr lang="en-GB">
                <a:solidFill>
                  <a:schemeClr val="tx1"/>
                </a:solidFill>
                <a:latin typeface="Söhne"/>
              </a:rPr>
              <a:t> decimal 4095 para a base 16 (hexadecimal).</a:t>
            </a:r>
          </a:p>
          <a:p>
            <a:pPr lvl="1">
              <a:buFont typeface="+mj-lt"/>
              <a:buAutoNum type="arabicPeriod"/>
            </a:pPr>
            <a:r>
              <a:rPr lang="en-GB" err="1">
                <a:solidFill>
                  <a:schemeClr val="tx1"/>
                </a:solidFill>
                <a:latin typeface="Söhne"/>
              </a:rPr>
              <a:t>Converta</a:t>
            </a:r>
            <a:r>
              <a:rPr lang="en-GB">
                <a:solidFill>
                  <a:schemeClr val="tx1"/>
                </a:solidFill>
                <a:latin typeface="Söhne"/>
              </a:rPr>
              <a:t> o </a:t>
            </a:r>
            <a:r>
              <a:rPr lang="en-GB" err="1">
                <a:solidFill>
                  <a:schemeClr val="tx1"/>
                </a:solidFill>
                <a:latin typeface="Söhne"/>
              </a:rPr>
              <a:t>número</a:t>
            </a:r>
            <a:r>
              <a:rPr lang="en-GB">
                <a:solidFill>
                  <a:schemeClr val="tx1"/>
                </a:solidFill>
                <a:latin typeface="Söhne"/>
              </a:rPr>
              <a:t> decimal 1023 para a base 16 (hexadecimal).</a:t>
            </a:r>
          </a:p>
          <a:p>
            <a:pPr lvl="1">
              <a:buFont typeface="+mj-lt"/>
              <a:buAutoNum type="arabicPeriod"/>
            </a:pPr>
            <a:r>
              <a:rPr lang="en-GB" err="1">
                <a:solidFill>
                  <a:schemeClr val="tx1"/>
                </a:solidFill>
                <a:latin typeface="Söhne"/>
              </a:rPr>
              <a:t>Converta</a:t>
            </a:r>
            <a:r>
              <a:rPr lang="en-GB">
                <a:solidFill>
                  <a:schemeClr val="tx1"/>
                </a:solidFill>
                <a:latin typeface="Söhne"/>
              </a:rPr>
              <a:t> o </a:t>
            </a:r>
            <a:r>
              <a:rPr lang="en-GB" err="1">
                <a:solidFill>
                  <a:schemeClr val="tx1"/>
                </a:solidFill>
                <a:latin typeface="Söhne"/>
              </a:rPr>
              <a:t>número</a:t>
            </a:r>
            <a:r>
              <a:rPr lang="en-GB">
                <a:solidFill>
                  <a:schemeClr val="tx1"/>
                </a:solidFill>
                <a:latin typeface="Söhne"/>
              </a:rPr>
              <a:t> decimal 65535 para a base 16 (hexadecimal).</a:t>
            </a:r>
          </a:p>
          <a:p>
            <a:r>
              <a:rPr lang="en-GB" b="1" err="1">
                <a:solidFill>
                  <a:schemeClr val="tx1"/>
                </a:solidFill>
                <a:latin typeface="Söhne"/>
              </a:rPr>
              <a:t>Exercícios</a:t>
            </a:r>
            <a:r>
              <a:rPr lang="en-GB" b="1">
                <a:solidFill>
                  <a:schemeClr val="tx1"/>
                </a:solidFill>
                <a:latin typeface="Söhne"/>
              </a:rPr>
              <a:t> de </a:t>
            </a:r>
            <a:r>
              <a:rPr lang="en-GB" b="1" err="1">
                <a:solidFill>
                  <a:schemeClr val="tx1"/>
                </a:solidFill>
                <a:latin typeface="Söhne"/>
              </a:rPr>
              <a:t>Conversão</a:t>
            </a:r>
            <a:r>
              <a:rPr lang="en-GB" b="1">
                <a:solidFill>
                  <a:schemeClr val="tx1"/>
                </a:solidFill>
                <a:latin typeface="Söhne"/>
              </a:rPr>
              <a:t> de Hexadecimal para Decimal:</a:t>
            </a:r>
            <a:endParaRPr lang="en-GB">
              <a:solidFill>
                <a:schemeClr val="tx1"/>
              </a:solidFill>
              <a:latin typeface="Söhne"/>
            </a:endParaRPr>
          </a:p>
          <a:p>
            <a:pPr lvl="1">
              <a:buFont typeface="+mj-lt"/>
              <a:buAutoNum type="arabicPeriod"/>
            </a:pPr>
            <a:r>
              <a:rPr lang="en-GB" err="1">
                <a:solidFill>
                  <a:schemeClr val="tx1"/>
                </a:solidFill>
                <a:latin typeface="Söhne"/>
              </a:rPr>
              <a:t>Converta</a:t>
            </a:r>
            <a:r>
              <a:rPr lang="en-GB">
                <a:solidFill>
                  <a:schemeClr val="tx1"/>
                </a:solidFill>
                <a:latin typeface="Söhne"/>
              </a:rPr>
              <a:t> o </a:t>
            </a:r>
            <a:r>
              <a:rPr lang="en-GB" err="1">
                <a:solidFill>
                  <a:schemeClr val="tx1"/>
                </a:solidFill>
                <a:latin typeface="Söhne"/>
              </a:rPr>
              <a:t>número</a:t>
            </a:r>
            <a:r>
              <a:rPr lang="en-GB">
                <a:solidFill>
                  <a:schemeClr val="tx1"/>
                </a:solidFill>
                <a:latin typeface="Söhne"/>
              </a:rPr>
              <a:t> hexadecimal A3 para a base 10 (decimal).</a:t>
            </a:r>
          </a:p>
          <a:p>
            <a:pPr lvl="1">
              <a:buFont typeface="+mj-lt"/>
              <a:buAutoNum type="arabicPeriod"/>
            </a:pPr>
            <a:r>
              <a:rPr lang="en-GB" err="1">
                <a:solidFill>
                  <a:schemeClr val="tx1"/>
                </a:solidFill>
                <a:latin typeface="Söhne"/>
              </a:rPr>
              <a:t>Converta</a:t>
            </a:r>
            <a:r>
              <a:rPr lang="en-GB">
                <a:solidFill>
                  <a:schemeClr val="tx1"/>
                </a:solidFill>
                <a:latin typeface="Söhne"/>
              </a:rPr>
              <a:t> o </a:t>
            </a:r>
            <a:r>
              <a:rPr lang="en-GB" err="1">
                <a:solidFill>
                  <a:schemeClr val="tx1"/>
                </a:solidFill>
                <a:latin typeface="Söhne"/>
              </a:rPr>
              <a:t>número</a:t>
            </a:r>
            <a:r>
              <a:rPr lang="en-GB">
                <a:solidFill>
                  <a:schemeClr val="tx1"/>
                </a:solidFill>
                <a:latin typeface="Söhne"/>
              </a:rPr>
              <a:t> hexadecimal 1FF para a base 10 (decimal).</a:t>
            </a:r>
          </a:p>
          <a:p>
            <a:pPr lvl="1">
              <a:buFont typeface="+mj-lt"/>
              <a:buAutoNum type="arabicPeriod"/>
            </a:pPr>
            <a:r>
              <a:rPr lang="en-GB" err="1">
                <a:solidFill>
                  <a:schemeClr val="tx1"/>
                </a:solidFill>
                <a:latin typeface="Söhne"/>
              </a:rPr>
              <a:t>Converta</a:t>
            </a:r>
            <a:r>
              <a:rPr lang="en-GB">
                <a:solidFill>
                  <a:schemeClr val="tx1"/>
                </a:solidFill>
                <a:latin typeface="Söhne"/>
              </a:rPr>
              <a:t> o </a:t>
            </a:r>
            <a:r>
              <a:rPr lang="en-GB" err="1">
                <a:solidFill>
                  <a:schemeClr val="tx1"/>
                </a:solidFill>
                <a:latin typeface="Söhne"/>
              </a:rPr>
              <a:t>número</a:t>
            </a:r>
            <a:r>
              <a:rPr lang="en-GB">
                <a:solidFill>
                  <a:schemeClr val="tx1"/>
                </a:solidFill>
                <a:latin typeface="Söhne"/>
              </a:rPr>
              <a:t> hexadecimal 7B8 para a base 10 (decimal).</a:t>
            </a:r>
          </a:p>
          <a:p>
            <a:pPr lvl="1">
              <a:buFont typeface="+mj-lt"/>
              <a:buAutoNum type="arabicPeriod"/>
            </a:pPr>
            <a:r>
              <a:rPr lang="en-GB" err="1">
                <a:solidFill>
                  <a:schemeClr val="tx1"/>
                </a:solidFill>
                <a:latin typeface="Söhne"/>
              </a:rPr>
              <a:t>Converta</a:t>
            </a:r>
            <a:r>
              <a:rPr lang="en-GB">
                <a:solidFill>
                  <a:schemeClr val="tx1"/>
                </a:solidFill>
                <a:latin typeface="Söhne"/>
              </a:rPr>
              <a:t> o </a:t>
            </a:r>
            <a:r>
              <a:rPr lang="en-GB" err="1">
                <a:solidFill>
                  <a:schemeClr val="tx1"/>
                </a:solidFill>
                <a:latin typeface="Söhne"/>
              </a:rPr>
              <a:t>número</a:t>
            </a:r>
            <a:r>
              <a:rPr lang="en-GB">
                <a:solidFill>
                  <a:schemeClr val="tx1"/>
                </a:solidFill>
                <a:latin typeface="Söhne"/>
              </a:rPr>
              <a:t> hexadecimal 3E para a base 10 (decimal).</a:t>
            </a:r>
          </a:p>
          <a:p>
            <a:pPr lvl="1">
              <a:buFont typeface="+mj-lt"/>
              <a:buAutoNum type="arabicPeriod"/>
            </a:pPr>
            <a:r>
              <a:rPr lang="en-GB" err="1">
                <a:solidFill>
                  <a:schemeClr val="tx1"/>
                </a:solidFill>
                <a:latin typeface="Söhne"/>
              </a:rPr>
              <a:t>Converta</a:t>
            </a:r>
            <a:r>
              <a:rPr lang="en-GB">
                <a:solidFill>
                  <a:schemeClr val="tx1"/>
                </a:solidFill>
                <a:latin typeface="Söhne"/>
              </a:rPr>
              <a:t> o </a:t>
            </a:r>
            <a:r>
              <a:rPr lang="en-GB" err="1">
                <a:solidFill>
                  <a:schemeClr val="tx1"/>
                </a:solidFill>
                <a:latin typeface="Söhne"/>
              </a:rPr>
              <a:t>número</a:t>
            </a:r>
            <a:r>
              <a:rPr lang="en-GB">
                <a:solidFill>
                  <a:schemeClr val="tx1"/>
                </a:solidFill>
                <a:latin typeface="Söhne"/>
              </a:rPr>
              <a:t> hexadecimal FFFF para a base 10 (decimal).</a:t>
            </a:r>
          </a:p>
        </p:txBody>
      </p:sp>
      <p:sp>
        <p:nvSpPr>
          <p:cNvPr id="2" name="Marcador de Posição do Texto 1">
            <a:extLst>
              <a:ext uri="{FF2B5EF4-FFF2-40B4-BE49-F238E27FC236}">
                <a16:creationId xmlns:a16="http://schemas.microsoft.com/office/drawing/2014/main" id="{6510A231-B49D-5381-6653-C22E68DC043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68164" y="1298643"/>
            <a:ext cx="5512672" cy="417091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pt-PT" err="1"/>
              <a:t>Exercicios</a:t>
            </a:r>
            <a:r>
              <a:rPr lang="pt-PT"/>
              <a:t> representação Hexadecimal </a:t>
            </a:r>
            <a:endParaRPr lang="pt-PT" altLang="pt-PT" b="1"/>
          </a:p>
        </p:txBody>
      </p:sp>
    </p:spTree>
    <p:extLst>
      <p:ext uri="{BB962C8B-B14F-4D97-AF65-F5344CB8AC3E}">
        <p14:creationId xmlns:p14="http://schemas.microsoft.com/office/powerpoint/2010/main" val="34505221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4">
            <a:extLst>
              <a:ext uri="{FF2B5EF4-FFF2-40B4-BE49-F238E27FC236}">
                <a16:creationId xmlns:a16="http://schemas.microsoft.com/office/drawing/2014/main" id="{510DCA1F-4290-43A3-A161-E997230BE5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-44619" y="-9268"/>
            <a:ext cx="12236619" cy="686726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PT">
              <a:solidFill>
                <a:srgbClr val="2BACE2"/>
              </a:solidFill>
              <a:latin typeface="Segoe UI" panose="020B0502040204020203" pitchFamily="34" charset="0"/>
            </a:endParaRPr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21E68017-0F2F-40A8-A580-AF36CB2CF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44619" y="3086100"/>
            <a:ext cx="12236619" cy="685800"/>
          </a:xfrm>
        </p:spPr>
        <p:txBody>
          <a:bodyPr>
            <a:normAutofit/>
          </a:bodyPr>
          <a:lstStyle/>
          <a:p>
            <a:pPr algn="ctr"/>
            <a:r>
              <a:rPr lang="en-GB" sz="3200">
                <a:solidFill>
                  <a:schemeClr val="bg1"/>
                </a:solidFill>
              </a:rPr>
              <a:t>O</a:t>
            </a:r>
            <a:r>
              <a:rPr lang="pt-PT" sz="3200">
                <a:solidFill>
                  <a:schemeClr val="bg1"/>
                </a:solidFill>
              </a:rPr>
              <a:t>BRIGADO PELA VOSSA ATENÇÃO E COLABORAÇÃO</a:t>
            </a:r>
          </a:p>
        </p:txBody>
      </p:sp>
    </p:spTree>
    <p:extLst>
      <p:ext uri="{BB962C8B-B14F-4D97-AF65-F5344CB8AC3E}">
        <p14:creationId xmlns:p14="http://schemas.microsoft.com/office/powerpoint/2010/main" val="33290261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4">
            <a:extLst>
              <a:ext uri="{FF2B5EF4-FFF2-40B4-BE49-F238E27FC236}">
                <a16:creationId xmlns:a16="http://schemas.microsoft.com/office/drawing/2014/main" id="{A6B44AB8-C57E-4B4B-9DE9-D2913E1804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-23501" y="5286562"/>
            <a:ext cx="12236619" cy="15714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PT">
              <a:solidFill>
                <a:srgbClr val="2BACE2"/>
              </a:solidFill>
              <a:latin typeface="Segoe UI" panose="020B0502040204020203" pitchFamily="34" charset="0"/>
            </a:endParaRPr>
          </a:p>
        </p:txBody>
      </p:sp>
      <p:sp>
        <p:nvSpPr>
          <p:cNvPr id="10" name="Rectangle 14"/>
          <p:cNvSpPr>
            <a:spLocks noChangeArrowheads="1"/>
          </p:cNvSpPr>
          <p:nvPr/>
        </p:nvSpPr>
        <p:spPr bwMode="auto">
          <a:xfrm>
            <a:off x="-44619" y="-9268"/>
            <a:ext cx="12236619" cy="530407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PT">
              <a:solidFill>
                <a:srgbClr val="2BACE2"/>
              </a:solidFill>
              <a:latin typeface="Segoe UI" panose="020B0502040204020203" pitchFamily="34" charset="0"/>
            </a:endParaRPr>
          </a:p>
        </p:txBody>
      </p:sp>
      <p:sp>
        <p:nvSpPr>
          <p:cNvPr id="15" name="AutoShape 3"/>
          <p:cNvSpPr>
            <a:spLocks noChangeAspect="1" noChangeArrowheads="1" noTextEdit="1"/>
          </p:cNvSpPr>
          <p:nvPr/>
        </p:nvSpPr>
        <p:spPr bwMode="auto">
          <a:xfrm>
            <a:off x="2341563" y="-471488"/>
            <a:ext cx="2997200" cy="21304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PT">
              <a:latin typeface="Segoe UI" panose="020B0502040204020203" pitchFamily="34" charset="0"/>
            </a:endParaRPr>
          </a:p>
        </p:txBody>
      </p:sp>
      <p:sp>
        <p:nvSpPr>
          <p:cNvPr id="54" name="AutoShape 37"/>
          <p:cNvSpPr>
            <a:spLocks noChangeAspect="1" noChangeArrowheads="1" noTextEdit="1"/>
          </p:cNvSpPr>
          <p:nvPr/>
        </p:nvSpPr>
        <p:spPr bwMode="auto">
          <a:xfrm>
            <a:off x="8786813" y="4030663"/>
            <a:ext cx="3670300" cy="3251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PT">
              <a:latin typeface="Segoe UI" panose="020B0502040204020203" pitchFamily="34" charset="0"/>
            </a:endParaRPr>
          </a:p>
        </p:txBody>
      </p:sp>
      <p:sp>
        <p:nvSpPr>
          <p:cNvPr id="85" name="Title 1"/>
          <p:cNvSpPr txBox="1">
            <a:spLocks/>
          </p:cNvSpPr>
          <p:nvPr/>
        </p:nvSpPr>
        <p:spPr>
          <a:xfrm>
            <a:off x="0" y="5667050"/>
            <a:ext cx="12189619" cy="67188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ts val="1500"/>
              </a:lnSpc>
              <a:spcBef>
                <a:spcPct val="0"/>
              </a:spcBef>
              <a:buNone/>
              <a:defRPr sz="2600" b="1" u="sng" kern="1200" baseline="0">
                <a:solidFill>
                  <a:schemeClr val="tx1"/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</a:lstStyle>
          <a:p>
            <a:pPr algn="ctr">
              <a:lnSpc>
                <a:spcPts val="2300"/>
              </a:lnSpc>
            </a:pPr>
            <a:r>
              <a:rPr lang="pt-PT" sz="2800" b="0" u="none">
                <a:solidFill>
                  <a:schemeClr val="bg1"/>
                </a:solidFill>
                <a:latin typeface="+mn-lt"/>
                <a:ea typeface="Segoe UI Black" panose="020B0A02040204020203" pitchFamily="34" charset="0"/>
                <a:cs typeface="Open Sans bold" panose="020B0806030504020204" pitchFamily="34" charset="0"/>
              </a:rPr>
              <a:t>www.</a:t>
            </a:r>
            <a:r>
              <a:rPr lang="pt-PT" sz="2800" b="0" u="none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Open Sans bold" panose="020B0806030504020204" pitchFamily="34" charset="0"/>
              </a:rPr>
              <a:t>atec</a:t>
            </a:r>
            <a:r>
              <a:rPr lang="pt-PT" sz="2800" b="0" u="none">
                <a:solidFill>
                  <a:schemeClr val="bg1"/>
                </a:solidFill>
                <a:latin typeface="+mn-lt"/>
                <a:ea typeface="Segoe UI Black" panose="020B0A02040204020203" pitchFamily="34" charset="0"/>
                <a:cs typeface="Open Sans bold" panose="020B0806030504020204" pitchFamily="34" charset="0"/>
              </a:rPr>
              <a:t>.pt</a:t>
            </a:r>
            <a:endParaRPr lang="pt-PT" sz="2800" b="0" u="none">
              <a:solidFill>
                <a:schemeClr val="bg1"/>
              </a:solidFill>
              <a:latin typeface="+mn-lt"/>
              <a:ea typeface="Open Sans Light" panose="020B0306030504020204" pitchFamily="34" charset="0"/>
              <a:cs typeface="Segoe UI Light" panose="020B0502040204020203" pitchFamily="34" charset="0"/>
            </a:endParaRPr>
          </a:p>
        </p:txBody>
      </p:sp>
      <p:sp>
        <p:nvSpPr>
          <p:cNvPr id="56" name="Rectangle 55"/>
          <p:cNvSpPr/>
          <p:nvPr/>
        </p:nvSpPr>
        <p:spPr>
          <a:xfrm>
            <a:off x="4982763" y="1219149"/>
            <a:ext cx="7206856" cy="12721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2300"/>
              </a:lnSpc>
            </a:pPr>
            <a:r>
              <a:rPr lang="pt-PT" sz="1600" b="1">
                <a:solidFill>
                  <a:schemeClr val="accent3"/>
                </a:solidFill>
                <a:latin typeface="Segoe UI" panose="020B0502040204020203" pitchFamily="34" charset="0"/>
                <a:ea typeface="Open Sans" panose="020B0606030504020204" pitchFamily="34" charset="0"/>
                <a:cs typeface="Segoe UI" panose="020B0502040204020203" pitchFamily="34" charset="0"/>
              </a:rPr>
              <a:t>PALMELA</a:t>
            </a:r>
          </a:p>
          <a:p>
            <a:pPr>
              <a:lnSpc>
                <a:spcPts val="2300"/>
              </a:lnSpc>
            </a:pPr>
            <a:r>
              <a:rPr lang="pt-PT">
                <a:solidFill>
                  <a:schemeClr val="bg1"/>
                </a:solidFill>
                <a:latin typeface="Segoe UI Light" panose="020B0502040204020203" pitchFamily="34" charset="0"/>
                <a:ea typeface="Open Sans Light" panose="020B0306030504020204" pitchFamily="34" charset="0"/>
                <a:cs typeface="Segoe UI Light" panose="020B0502040204020203" pitchFamily="34" charset="0"/>
              </a:rPr>
              <a:t>Edifício ATEC · Parque Industrial da Volkswagen Autoeuropa</a:t>
            </a:r>
          </a:p>
          <a:p>
            <a:pPr>
              <a:lnSpc>
                <a:spcPts val="2300"/>
              </a:lnSpc>
            </a:pPr>
            <a:r>
              <a:rPr lang="pt-PT">
                <a:solidFill>
                  <a:schemeClr val="bg1"/>
                </a:solidFill>
                <a:latin typeface="Segoe UI Light" panose="020B0502040204020203" pitchFamily="34" charset="0"/>
                <a:ea typeface="Open Sans Light" panose="020B0306030504020204" pitchFamily="34" charset="0"/>
                <a:cs typeface="Segoe UI Light" panose="020B0502040204020203" pitchFamily="34" charset="0"/>
              </a:rPr>
              <a:t>2950-557 · Quinta do Anjo</a:t>
            </a:r>
          </a:p>
          <a:p>
            <a:pPr>
              <a:lnSpc>
                <a:spcPts val="2300"/>
              </a:lnSpc>
            </a:pPr>
            <a:r>
              <a:rPr lang="pt-PT">
                <a:solidFill>
                  <a:schemeClr val="bg1"/>
                </a:solidFill>
                <a:latin typeface="Segoe UI" panose="020B0502040204020203" pitchFamily="34" charset="0"/>
                <a:ea typeface="Open Sans" panose="020B0606030504020204" pitchFamily="34" charset="0"/>
                <a:cs typeface="Segoe UI" panose="020B0502040204020203" pitchFamily="34" charset="0"/>
              </a:rPr>
              <a:t>Tel. </a:t>
            </a:r>
            <a:r>
              <a:rPr lang="pt-PT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Open Sans bold" panose="020B0806030504020204" pitchFamily="34" charset="0"/>
              </a:rPr>
              <a:t>212 107 300</a:t>
            </a:r>
            <a:r>
              <a:rPr lang="pt-PT">
                <a:solidFill>
                  <a:schemeClr val="bg1"/>
                </a:solidFill>
                <a:latin typeface="Segoe UI" panose="020B0502040204020203" pitchFamily="34" charset="0"/>
                <a:ea typeface="Open Sans" panose="020B0606030504020204" pitchFamily="34" charset="0"/>
                <a:cs typeface="Segoe UI" panose="020B0502040204020203" pitchFamily="34" charset="0"/>
              </a:rPr>
              <a:t> | </a:t>
            </a:r>
            <a:r>
              <a:rPr lang="pt-PT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Open Sans bold" panose="020B0806030504020204" pitchFamily="34" charset="0"/>
              </a:rPr>
              <a:t>info</a:t>
            </a:r>
            <a:r>
              <a:rPr lang="pt-PT">
                <a:solidFill>
                  <a:schemeClr val="bg1"/>
                </a:solidFill>
                <a:latin typeface="Segoe UI" panose="020B0502040204020203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  <a:t>@atec.pt</a:t>
            </a:r>
          </a:p>
        </p:txBody>
      </p:sp>
      <p:cxnSp>
        <p:nvCxnSpPr>
          <p:cNvPr id="3" name="Straight Connector 2"/>
          <p:cNvCxnSpPr/>
          <p:nvPr/>
        </p:nvCxnSpPr>
        <p:spPr>
          <a:xfrm>
            <a:off x="4956636" y="1304214"/>
            <a:ext cx="0" cy="1071155"/>
          </a:xfrm>
          <a:prstGeom prst="line">
            <a:avLst/>
          </a:prstGeom>
          <a:ln w="190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Rectangle 56"/>
          <p:cNvSpPr/>
          <p:nvPr/>
        </p:nvSpPr>
        <p:spPr>
          <a:xfrm>
            <a:off x="4982763" y="2935739"/>
            <a:ext cx="7206856" cy="1250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2300"/>
              </a:lnSpc>
            </a:pPr>
            <a:r>
              <a:rPr lang="pt-PT" sz="1600" b="1">
                <a:solidFill>
                  <a:schemeClr val="accent3"/>
                </a:solidFill>
                <a:latin typeface="Segoe UI" panose="020B0502040204020203" pitchFamily="34" charset="0"/>
                <a:ea typeface="Open Sans" panose="020B0606030504020204" pitchFamily="34" charset="0"/>
                <a:cs typeface="Segoe UI" panose="020B0502040204020203" pitchFamily="34" charset="0"/>
              </a:rPr>
              <a:t>MATOSINHOS</a:t>
            </a:r>
          </a:p>
          <a:p>
            <a:pPr>
              <a:lnSpc>
                <a:spcPts val="2300"/>
              </a:lnSpc>
            </a:pPr>
            <a:r>
              <a:rPr lang="pt-PT">
                <a:solidFill>
                  <a:schemeClr val="bg1"/>
                </a:solidFill>
                <a:latin typeface="Segoe UI Light" panose="020B0502040204020203" pitchFamily="34" charset="0"/>
                <a:ea typeface="Open Sans Light" panose="020B0306030504020204" pitchFamily="34" charset="0"/>
                <a:cs typeface="Segoe UI Light" panose="020B0502040204020203" pitchFamily="34" charset="0"/>
              </a:rPr>
              <a:t>Edifício Siemens · Av. Mário Brito (EN107), nº 3570  </a:t>
            </a:r>
          </a:p>
          <a:p>
            <a:pPr>
              <a:lnSpc>
                <a:spcPts val="2300"/>
              </a:lnSpc>
            </a:pPr>
            <a:r>
              <a:rPr lang="pt-PT">
                <a:solidFill>
                  <a:schemeClr val="bg1"/>
                </a:solidFill>
                <a:latin typeface="Segoe UI Light" panose="020B0502040204020203" pitchFamily="34" charset="0"/>
                <a:ea typeface="Open Sans Light" panose="020B0306030504020204" pitchFamily="34" charset="0"/>
                <a:cs typeface="Segoe UI Light" panose="020B0502040204020203" pitchFamily="34" charset="0"/>
              </a:rPr>
              <a:t>Freixieiro · 4456-901 · Perafita</a:t>
            </a:r>
          </a:p>
          <a:p>
            <a:pPr>
              <a:lnSpc>
                <a:spcPts val="2300"/>
              </a:lnSpc>
            </a:pPr>
            <a:r>
              <a:rPr lang="pt-PT">
                <a:solidFill>
                  <a:schemeClr val="bg1"/>
                </a:solidFill>
                <a:latin typeface="Segoe UI" panose="020B0502040204020203" pitchFamily="34" charset="0"/>
                <a:ea typeface="Open Sans" panose="020B0606030504020204" pitchFamily="34" charset="0"/>
                <a:cs typeface="Segoe UI" panose="020B0502040204020203" pitchFamily="34" charset="0"/>
              </a:rPr>
              <a:t>Tel. </a:t>
            </a:r>
            <a:r>
              <a:rPr lang="pt-PT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Open Sans bold" panose="020B0806030504020204" pitchFamily="34" charset="0"/>
              </a:rPr>
              <a:t>220 400 500</a:t>
            </a:r>
            <a:r>
              <a:rPr lang="pt-PT">
                <a:solidFill>
                  <a:schemeClr val="bg1"/>
                </a:solidFill>
                <a:latin typeface="Segoe UI" panose="020B0502040204020203" pitchFamily="34" charset="0"/>
                <a:ea typeface="Open Sans" panose="020B0606030504020204" pitchFamily="34" charset="0"/>
                <a:cs typeface="Segoe UI" panose="020B0502040204020203" pitchFamily="34" charset="0"/>
              </a:rPr>
              <a:t> | </a:t>
            </a:r>
            <a:r>
              <a:rPr lang="pt-PT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Open Sans bold" panose="020B0806030504020204" pitchFamily="34" charset="0"/>
              </a:rPr>
              <a:t>infoporto</a:t>
            </a:r>
            <a:r>
              <a:rPr lang="pt-PT">
                <a:solidFill>
                  <a:schemeClr val="bg1"/>
                </a:solidFill>
                <a:latin typeface="Segoe UI" panose="020B0502040204020203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  <a:t>@atec.pt</a:t>
            </a:r>
          </a:p>
        </p:txBody>
      </p:sp>
      <p:cxnSp>
        <p:nvCxnSpPr>
          <p:cNvPr id="58" name="Straight Connector 57"/>
          <p:cNvCxnSpPr/>
          <p:nvPr/>
        </p:nvCxnSpPr>
        <p:spPr>
          <a:xfrm>
            <a:off x="4956636" y="3036669"/>
            <a:ext cx="0" cy="1071155"/>
          </a:xfrm>
          <a:prstGeom prst="line">
            <a:avLst/>
          </a:prstGeom>
          <a:ln w="190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">
            <a:extLst>
              <a:ext uri="{FF2B5EF4-FFF2-40B4-BE49-F238E27FC236}">
                <a16:creationId xmlns:a16="http://schemas.microsoft.com/office/drawing/2014/main" id="{F5BA44BE-E038-44F0-87EB-5B2726461F45}"/>
              </a:ext>
            </a:extLst>
          </p:cNvPr>
          <p:cNvSpPr/>
          <p:nvPr/>
        </p:nvSpPr>
        <p:spPr>
          <a:xfrm>
            <a:off x="-35089" y="567559"/>
            <a:ext cx="4989344" cy="405770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>
              <a:latin typeface="Segoe UI" panose="020B0502040204020203" pitchFamily="34" charset="0"/>
            </a:endParaRPr>
          </a:p>
        </p:txBody>
      </p:sp>
      <p:pic>
        <p:nvPicPr>
          <p:cNvPr id="2" name="Gráfico 1">
            <a:extLst>
              <a:ext uri="{FF2B5EF4-FFF2-40B4-BE49-F238E27FC236}">
                <a16:creationId xmlns:a16="http://schemas.microsoft.com/office/drawing/2014/main" id="{D873A391-1245-4652-BEED-9F4CF79655D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82285" y="2320238"/>
            <a:ext cx="2848821" cy="744578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630379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3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3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3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75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75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17" presetClass="entr" presetSubtype="1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35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35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35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35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75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75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" grpId="0"/>
      <p:bldP spid="5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INTS" val="1"/>
  <p:tag name="TIME" val="15"/>
</p:tagLst>
</file>

<file path=ppt/theme/theme1.xml><?xml version="1.0" encoding="utf-8"?>
<a:theme xmlns:a="http://schemas.openxmlformats.org/drawingml/2006/main" name="Título e Sub-título">
  <a:themeElements>
    <a:clrScheme name="CORES ATEC">
      <a:dk1>
        <a:srgbClr val="134773"/>
      </a:dk1>
      <a:lt1>
        <a:sysClr val="window" lastClr="FFFFFF"/>
      </a:lt1>
      <a:dk2>
        <a:srgbClr val="6D6E71"/>
      </a:dk2>
      <a:lt2>
        <a:srgbClr val="134773"/>
      </a:lt2>
      <a:accent1>
        <a:srgbClr val="134773"/>
      </a:accent1>
      <a:accent2>
        <a:srgbClr val="0060AC"/>
      </a:accent2>
      <a:accent3>
        <a:srgbClr val="00AEEF"/>
      </a:accent3>
      <a:accent4>
        <a:srgbClr val="E85A26"/>
      </a:accent4>
      <a:accent5>
        <a:srgbClr val="F29122"/>
      </a:accent5>
      <a:accent6>
        <a:srgbClr val="FBAE47"/>
      </a:accent6>
      <a:hlink>
        <a:srgbClr val="134773"/>
      </a:hlink>
      <a:folHlink>
        <a:srgbClr val="00AEEF"/>
      </a:folHlink>
    </a:clrScheme>
    <a:fontScheme name="LETRA ATEC">
      <a:majorFont>
        <a:latin typeface="Segoe UI Black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EA9AA3B46D399499A38902902288AE9" ma:contentTypeVersion="10" ma:contentTypeDescription="Create a new document." ma:contentTypeScope="" ma:versionID="3111731bbf6eed093db0fcb974707f92">
  <xsd:schema xmlns:xsd="http://www.w3.org/2001/XMLSchema" xmlns:xs="http://www.w3.org/2001/XMLSchema" xmlns:p="http://schemas.microsoft.com/office/2006/metadata/properties" xmlns:ns2="c824db9b-d9c7-4797-be33-505d35229944" xmlns:ns3="490bc2b0-995c-4aff-9aba-f2b12d967e9b" targetNamespace="http://schemas.microsoft.com/office/2006/metadata/properties" ma:root="true" ma:fieldsID="8857048fe002474465fdee4a1d1cf537" ns2:_="" ns3:_="">
    <xsd:import namespace="c824db9b-d9c7-4797-be33-505d35229944"/>
    <xsd:import namespace="490bc2b0-995c-4aff-9aba-f2b12d967e9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824db9b-d9c7-4797-be33-505d3522994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930164bd-3db1-4035-80db-1f2bd81da9c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90bc2b0-995c-4aff-9aba-f2b12d967e9b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f1882fea-8b44-44a5-af3e-e8fd1d54f9dc}" ma:internalName="TaxCatchAll" ma:showField="CatchAllData" ma:web="490bc2b0-995c-4aff-9aba-f2b12d967e9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490bc2b0-995c-4aff-9aba-f2b12d967e9b" xsi:nil="true"/>
    <lcf76f155ced4ddcb4097134ff3c332f xmlns="c824db9b-d9c7-4797-be33-505d35229944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30E6CD22-E652-4FA4-BFBB-AB320C6980C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89F9642-6B6B-44A2-B3FE-AAAA37023A50}">
  <ds:schemaRefs>
    <ds:schemaRef ds:uri="490bc2b0-995c-4aff-9aba-f2b12d967e9b"/>
    <ds:schemaRef ds:uri="c824db9b-d9c7-4797-be33-505d35229944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939C6585-F6AA-41B4-B979-BFB1807B4534}">
  <ds:schemaRefs>
    <ds:schemaRef ds:uri="490bc2b0-995c-4aff-9aba-f2b12d967e9b"/>
    <ds:schemaRef ds:uri="b5d6457f-cca8-4519-abcc-ee100bd73b31"/>
    <ds:schemaRef ds:uri="bd68fa59-262a-45eb-a282-aff4b0a9c043"/>
    <ds:schemaRef ds:uri="c824db9b-d9c7-4797-be33-505d35229944"/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Ecrã Panorâmico</PresentationFormat>
  <Slides>10</Slides>
  <Notes>0</Notes>
  <HiddenSlides>0</HiddenSlides>
  <ScaleCrop>false</ScaleCrop>
  <HeadingPairs>
    <vt:vector size="4" baseType="variant">
      <vt:variant>
        <vt:lpstr>Tema</vt:lpstr>
      </vt:variant>
      <vt:variant>
        <vt:i4>1</vt:i4>
      </vt:variant>
      <vt:variant>
        <vt:lpstr>Títulos dos diapositivos</vt:lpstr>
      </vt:variant>
      <vt:variant>
        <vt:i4>10</vt:i4>
      </vt:variant>
    </vt:vector>
  </HeadingPairs>
  <TitlesOfParts>
    <vt:vector size="11" baseType="lpstr">
      <vt:lpstr>Título e Sub-título</vt:lpstr>
      <vt:lpstr>Apresentação do PowerPoint</vt:lpstr>
      <vt:lpstr>Arquitetura de Computadores</vt:lpstr>
      <vt:lpstr>Arquitetura de Computadores</vt:lpstr>
      <vt:lpstr>Arquitetura de Computadores</vt:lpstr>
      <vt:lpstr>Arquitetura de Computadores</vt:lpstr>
      <vt:lpstr>Arquitetura de Computadores</vt:lpstr>
      <vt:lpstr>Arquitetura de Computadores</vt:lpstr>
      <vt:lpstr>Arquitetura de Computadores</vt:lpstr>
      <vt:lpstr>OBRIGADO PELA VOSSA ATENÇÃO E COLABORAÇÃO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Inês Bastos</dc:creator>
  <cp:revision>6</cp:revision>
  <cp:lastPrinted>2019-02-18T11:33:32Z</cp:lastPrinted>
  <dcterms:created xsi:type="dcterms:W3CDTF">2017-04-05T12:09:40Z</dcterms:created>
  <dcterms:modified xsi:type="dcterms:W3CDTF">2025-09-25T16:05:55Z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0x010100CEA9AA3B46D399499A38902902288AE9</vt:lpwstr>
  </property>
  <property fmtid="{D5CDD505-2E9C-101B-9397-08002B2CF9AE}" pid="3" name="MediaServiceImageTags">
    <vt:lpwstr/>
  </property>
</Properties>
</file>