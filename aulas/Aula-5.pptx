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42"/>
  </p:notesMasterIdLst>
  <p:sldIdLst>
    <p:sldId id="303" r:id="rId5"/>
    <p:sldId id="3035" r:id="rId6"/>
    <p:sldId id="307" r:id="rId7"/>
    <p:sldId id="308" r:id="rId8"/>
    <p:sldId id="309" r:id="rId9"/>
    <p:sldId id="310" r:id="rId10"/>
    <p:sldId id="311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036" r:id="rId35"/>
    <p:sldId id="343" r:id="rId36"/>
    <p:sldId id="347" r:id="rId37"/>
    <p:sldId id="3037" r:id="rId38"/>
    <p:sldId id="336" r:id="rId39"/>
    <p:sldId id="2991" r:id="rId40"/>
    <p:sldId id="2957" r:id="rId41"/>
  </p:sldIdLst>
  <p:sldSz cx="12192000" cy="6858000"/>
  <p:notesSz cx="7099300" cy="10234613"/>
  <p:defaultTextStyle>
    <a:defPPr>
      <a:defRPr lang="pt-PT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4" orient="horz" pos="1979" userDrawn="1">
          <p15:clr>
            <a:srgbClr val="A4A3A4"/>
          </p15:clr>
        </p15:guide>
        <p15:guide id="5" orient="horz" pos="3770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7310" userDrawn="1">
          <p15:clr>
            <a:srgbClr val="A4A3A4"/>
          </p15:clr>
        </p15:guide>
        <p15:guide id="9" pos="619" userDrawn="1">
          <p15:clr>
            <a:srgbClr val="A4A3A4"/>
          </p15:clr>
        </p15:guide>
        <p15:guide id="10" pos="4226" userDrawn="1">
          <p15:clr>
            <a:srgbClr val="A4A3A4"/>
          </p15:clr>
        </p15:guide>
        <p15:guide id="11" orient="horz" pos="3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2F2"/>
    <a:srgbClr val="05687F"/>
    <a:srgbClr val="2BACE2"/>
    <a:srgbClr val="042F5B"/>
    <a:srgbClr val="B7B7B7"/>
    <a:srgbClr val="C8C8C8"/>
    <a:srgbClr val="B5B5B5"/>
    <a:srgbClr val="CACACA"/>
    <a:srgbClr val="F29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71" autoAdjust="0"/>
    <p:restoredTop sz="96005" autoAdjust="0"/>
  </p:normalViewPr>
  <p:slideViewPr>
    <p:cSldViewPr snapToGrid="0">
      <p:cViewPr varScale="1">
        <p:scale>
          <a:sx n="144" d="100"/>
          <a:sy n="144" d="100"/>
        </p:scale>
        <p:origin x="1736" y="200"/>
      </p:cViewPr>
      <p:guideLst>
        <p:guide orient="horz" pos="1003"/>
        <p:guide pos="370"/>
        <p:guide orient="horz" pos="1979"/>
        <p:guide orient="horz" pos="3770"/>
        <p:guide orient="horz" pos="550"/>
        <p:guide pos="3613"/>
        <p:guide pos="7310"/>
        <p:guide pos="619"/>
        <p:guide pos="4226"/>
        <p:guide orient="horz" pos="3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8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1:44:47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8044 14466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6C4126C-DCDA-49DB-A2BC-A62BEB6C9507}" type="datetimeFigureOut">
              <a:rPr lang="pt-PT" smtClean="0"/>
              <a:pPr/>
              <a:t>29/09/25</a:t>
            </a:fld>
            <a:endParaRPr lang="pt-P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P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A46B27F-7627-47E3-BCCB-824837DAC44F}" type="slidenum">
              <a:rPr lang="pt-PT" smtClean="0"/>
              <a:pPr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3867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6B27F-7627-47E3-BCCB-824837DAC44F}" type="slidenum">
              <a:rPr lang="pt-PT" smtClean="0"/>
              <a:pPr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45911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6B27F-7627-47E3-BCCB-824837DAC44F}" type="slidenum">
              <a:rPr lang="pt-PT" smtClean="0"/>
              <a:pPr/>
              <a:t>34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07255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44370CF-6371-4608-9DB1-6FFB002993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457367-E0AD-4641-B199-08FCAFD04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842E9C6-AE9B-4E89-A06A-878978742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280517"/>
            <a:ext cx="12192000" cy="731838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0676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51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8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727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</p:spTree>
    <p:extLst>
      <p:ext uri="{BB962C8B-B14F-4D97-AF65-F5344CB8AC3E}">
        <p14:creationId xmlns:p14="http://schemas.microsoft.com/office/powerpoint/2010/main" val="326335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1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6953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211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B2F20D-03D8-4169-B30C-F63D690654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48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CC5560-A4FF-4E86-9DE2-4AE66E915D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92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91123E0-D667-4FE9-87BC-0A11B602EF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926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F9D2C4-13BB-4100-B9F5-DA96BF39C0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95A1C4-7284-4A03-8A1C-5AFEA742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14940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53849F3-22FA-4D1B-A226-1FA26FC2E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64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3C9D125-4EBB-48C0-8865-5B930ED21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20465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branc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040E86-0E21-4B5F-8BEE-C084CC25C8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7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BBB4069-AFF1-4D14-BA73-A9C31D806154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5042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pt-P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0" y="1224732"/>
            <a:ext cx="11033760" cy="41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 txBox="1">
            <a:spLocks/>
          </p:cNvSpPr>
          <p:nvPr userDrawn="1"/>
        </p:nvSpPr>
        <p:spPr>
          <a:xfrm>
            <a:off x="990600" y="542926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206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4" r:id="rId2"/>
    <p:sldLayoutId id="2147483706" r:id="rId3"/>
    <p:sldLayoutId id="2147483695" r:id="rId4"/>
    <p:sldLayoutId id="2147483707" r:id="rId5"/>
    <p:sldLayoutId id="2147483709" r:id="rId6"/>
    <p:sldLayoutId id="2147483710" r:id="rId7"/>
    <p:sldLayoutId id="2147483699" r:id="rId8"/>
    <p:sldLayoutId id="2147483703" r:id="rId9"/>
    <p:sldLayoutId id="2147483713" r:id="rId10"/>
    <p:sldLayoutId id="2147483704" r:id="rId11"/>
    <p:sldLayoutId id="2147483714" r:id="rId12"/>
    <p:sldLayoutId id="2147483711" r:id="rId13"/>
    <p:sldLayoutId id="2147483712" r:id="rId14"/>
    <p:sldLayoutId id="214748370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134773"/>
          </a:solidFill>
          <a:latin typeface="Segoe UI Bold" panose="020B0802040204020203" pitchFamily="34" charset="0"/>
          <a:ea typeface="+mj-ea"/>
          <a:cs typeface="Segoe UI Bold" panose="020B08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rgbClr val="00B0F0"/>
          </a:solidFill>
          <a:latin typeface="Segoe UI Semibold" panose="020B0702040204020203" pitchFamily="34" charset="0"/>
          <a:ea typeface="Open Sans Semibold" panose="020B0706030804020204" pitchFamily="34" charset="0"/>
          <a:cs typeface="Segoe UI Semibold" panose="020B07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3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476C946-46AB-45F8-806D-B34BC9EF66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PT" dirty="0"/>
              <a:t>Arquitetura Computadores</a:t>
            </a:r>
          </a:p>
        </p:txBody>
      </p:sp>
      <p:sp>
        <p:nvSpPr>
          <p:cNvPr id="32" name="AutoShape 18"/>
          <p:cNvSpPr>
            <a:spLocks noChangeAspect="1" noChangeArrowheads="1" noTextEdit="1"/>
          </p:cNvSpPr>
          <p:nvPr/>
        </p:nvSpPr>
        <p:spPr bwMode="auto">
          <a:xfrm>
            <a:off x="-220663" y="5072063"/>
            <a:ext cx="286385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560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41A90F9-B9B3-4454-A694-62D71243D6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tx1"/>
                </a:solidFill>
                <a:latin typeface="Söhne"/>
              </a:rPr>
              <a:t>Conceito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de Sistema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Operativo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e Sistemas e Ambientes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Especializados</a:t>
            </a:r>
            <a:endParaRPr lang="en-GB" sz="2000" dirty="0">
              <a:solidFill>
                <a:schemeClr val="tx1"/>
              </a:solidFill>
              <a:latin typeface="Söh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tx1"/>
                </a:solidFill>
                <a:latin typeface="Söhne"/>
              </a:rPr>
              <a:t>Arquitetura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do Sistema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Operativo</a:t>
            </a:r>
            <a:endParaRPr lang="en-GB" sz="2000" dirty="0">
              <a:solidFill>
                <a:schemeClr val="tx1"/>
              </a:solidFill>
              <a:latin typeface="Söh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tx1"/>
                </a:solidFill>
                <a:latin typeface="Söhne"/>
              </a:rPr>
              <a:t>Proteção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e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Gestão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de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Recursos</a:t>
            </a:r>
            <a:endParaRPr lang="en-GB" sz="2000" dirty="0">
              <a:solidFill>
                <a:schemeClr val="tx1"/>
              </a:solidFill>
              <a:latin typeface="Söh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Söhne"/>
              </a:rPr>
              <a:t>Interfaces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Utilizador</a:t>
            </a:r>
            <a:endParaRPr lang="en-GB" sz="2000" dirty="0">
              <a:solidFill>
                <a:schemeClr val="tx1"/>
              </a:solidFill>
              <a:latin typeface="Söh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tx1"/>
                </a:solidFill>
                <a:latin typeface="Söhne"/>
              </a:rPr>
              <a:t>Algoritmos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escalonamento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processos</a:t>
            </a:r>
            <a:endParaRPr lang="en-GB" sz="2000" dirty="0">
              <a:solidFill>
                <a:schemeClr val="tx1"/>
              </a:solidFill>
              <a:latin typeface="Söhne"/>
            </a:endParaRPr>
          </a:p>
          <a:p>
            <a:pPr algn="just"/>
            <a:endParaRPr lang="en-GB" sz="1800" dirty="0" err="1">
              <a:solidFill>
                <a:schemeClr val="tx1"/>
              </a:solidFill>
              <a:latin typeface="Söhne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439AA-ACA6-813D-C173-3CDCDCF095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Topicos</a:t>
            </a:r>
            <a:r>
              <a:rPr lang="en-US" dirty="0"/>
              <a:t> Aula</a:t>
            </a:r>
          </a:p>
        </p:txBody>
      </p:sp>
    </p:spTree>
    <p:extLst>
      <p:ext uri="{BB962C8B-B14F-4D97-AF65-F5344CB8AC3E}">
        <p14:creationId xmlns:p14="http://schemas.microsoft.com/office/powerpoint/2010/main" val="223352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Atua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"</a:t>
            </a:r>
            <a:r>
              <a:rPr lang="en-US" sz="2000" dirty="0" err="1"/>
              <a:t>ponte</a:t>
            </a:r>
            <a:r>
              <a:rPr lang="en-US" sz="2000" dirty="0"/>
              <a:t>" entre o hardware e o software, </a:t>
            </a:r>
            <a:r>
              <a:rPr lang="en-US" sz="2000" dirty="0" err="1"/>
              <a:t>garantindo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diferentes</a:t>
            </a:r>
            <a:r>
              <a:rPr lang="en-US" sz="2000" dirty="0"/>
              <a:t> </a:t>
            </a:r>
            <a:r>
              <a:rPr lang="en-US" sz="2000" dirty="0" err="1"/>
              <a:t>aplicações</a:t>
            </a:r>
            <a:r>
              <a:rPr lang="en-US" sz="2000" dirty="0"/>
              <a:t> </a:t>
            </a:r>
            <a:r>
              <a:rPr lang="en-US" sz="2000" dirty="0" err="1"/>
              <a:t>possam</a:t>
            </a:r>
            <a:r>
              <a:rPr lang="en-US" sz="2000" dirty="0"/>
              <a:t> ser </a:t>
            </a:r>
            <a:r>
              <a:rPr lang="en-US" sz="2000" dirty="0" err="1"/>
              <a:t>executadas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conjunto de forma </a:t>
            </a:r>
            <a:r>
              <a:rPr lang="en-US" sz="2000" dirty="0" err="1"/>
              <a:t>eficiente</a:t>
            </a:r>
            <a:r>
              <a:rPr lang="en-US" sz="2000" dirty="0"/>
              <a:t> e </a:t>
            </a:r>
            <a:r>
              <a:rPr lang="en-US" sz="2000" dirty="0" err="1"/>
              <a:t>segura</a:t>
            </a:r>
            <a:r>
              <a:rPr lang="en-US" sz="2000" dirty="0"/>
              <a:t>. O SO </a:t>
            </a:r>
            <a:r>
              <a:rPr lang="en-US" sz="2000" dirty="0" err="1"/>
              <a:t>gere</a:t>
            </a:r>
            <a:r>
              <a:rPr lang="en-US" sz="2000" dirty="0"/>
              <a:t> </a:t>
            </a:r>
            <a:r>
              <a:rPr lang="en-US" sz="2000" dirty="0" err="1"/>
              <a:t>recursos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o </a:t>
            </a:r>
            <a:r>
              <a:rPr lang="en-US" sz="2000" dirty="0" err="1"/>
              <a:t>processador</a:t>
            </a:r>
            <a:r>
              <a:rPr lang="en-US" sz="2000" dirty="0"/>
              <a:t>, a </a:t>
            </a:r>
            <a:r>
              <a:rPr lang="en-US" sz="2000" dirty="0" err="1"/>
              <a:t>memória</a:t>
            </a:r>
            <a:r>
              <a:rPr lang="en-US" sz="2000" dirty="0"/>
              <a:t>, o </a:t>
            </a:r>
            <a:r>
              <a:rPr lang="en-US" sz="2000" dirty="0" err="1"/>
              <a:t>armazenamento</a:t>
            </a:r>
            <a:r>
              <a:rPr lang="en-US" sz="2000" dirty="0"/>
              <a:t>, e outros </a:t>
            </a:r>
            <a:r>
              <a:rPr lang="en-US" sz="2000" dirty="0" err="1"/>
              <a:t>dispositivos</a:t>
            </a:r>
            <a:r>
              <a:rPr lang="en-US" sz="2000" dirty="0"/>
              <a:t> de entrada e </a:t>
            </a:r>
            <a:r>
              <a:rPr lang="en-US" sz="2000" dirty="0" err="1"/>
              <a:t>saída</a:t>
            </a:r>
            <a:r>
              <a:rPr lang="en-US" sz="2000" dirty="0"/>
              <a:t>, </a:t>
            </a:r>
            <a:r>
              <a:rPr lang="en-US" sz="2000" dirty="0" err="1"/>
              <a:t>permitindo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programas</a:t>
            </a:r>
            <a:r>
              <a:rPr lang="en-US" sz="2000" dirty="0"/>
              <a:t> </a:t>
            </a:r>
            <a:r>
              <a:rPr lang="en-US" sz="2000" dirty="0" err="1"/>
              <a:t>acedam</a:t>
            </a:r>
            <a:r>
              <a:rPr lang="en-US" sz="2000" dirty="0"/>
              <a:t> a </a:t>
            </a:r>
            <a:r>
              <a:rPr lang="en-US" sz="2000" dirty="0" err="1"/>
              <a:t>estes</a:t>
            </a:r>
            <a:r>
              <a:rPr lang="en-US" sz="2000" dirty="0"/>
              <a:t> </a:t>
            </a:r>
            <a:r>
              <a:rPr lang="en-US" sz="2000" dirty="0" err="1"/>
              <a:t>sem</a:t>
            </a:r>
            <a:r>
              <a:rPr lang="en-US" sz="2000" dirty="0"/>
              <a:t> </a:t>
            </a:r>
            <a:r>
              <a:rPr lang="en-US" sz="2000" dirty="0" err="1"/>
              <a:t>interferir</a:t>
            </a:r>
            <a:r>
              <a:rPr lang="en-US" sz="2000" dirty="0"/>
              <a:t> entre </a:t>
            </a:r>
            <a:r>
              <a:rPr lang="en-US" sz="2000" dirty="0" err="1"/>
              <a:t>si</a:t>
            </a:r>
            <a:r>
              <a:rPr lang="en-US" sz="20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43A0073-0B8D-AB45-B9CD-A726F7B7C2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Conceito</a:t>
            </a:r>
            <a:r>
              <a:rPr lang="en-US" dirty="0"/>
              <a:t> de Sistema </a:t>
            </a:r>
            <a:r>
              <a:rPr lang="en-US" dirty="0" err="1"/>
              <a:t>Operativo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sz="2000" b="1" dirty="0" err="1"/>
              <a:t>Gestão</a:t>
            </a:r>
            <a:r>
              <a:rPr lang="en-US" sz="2000" b="1" dirty="0"/>
              <a:t> de </a:t>
            </a:r>
            <a:r>
              <a:rPr lang="en-US" sz="2000" b="1" dirty="0" err="1"/>
              <a:t>Recursos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Controla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recursos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utilizados</a:t>
            </a:r>
            <a:r>
              <a:rPr lang="en-US" sz="2000" dirty="0"/>
              <a:t>. Por </a:t>
            </a:r>
            <a:r>
              <a:rPr lang="en-US" sz="2000" dirty="0" err="1"/>
              <a:t>exemplo</a:t>
            </a:r>
            <a:r>
              <a:rPr lang="en-US" sz="2000" dirty="0"/>
              <a:t>, </a:t>
            </a:r>
            <a:r>
              <a:rPr lang="en-US" sz="2000" dirty="0" err="1"/>
              <a:t>distribui</a:t>
            </a:r>
            <a:r>
              <a:rPr lang="en-US" sz="2000" dirty="0"/>
              <a:t> o tempo de CPU entre </a:t>
            </a:r>
            <a:r>
              <a:rPr lang="en-US" sz="2000" dirty="0" err="1"/>
              <a:t>processos</a:t>
            </a:r>
            <a:r>
              <a:rPr lang="en-US" sz="2000" dirty="0"/>
              <a:t>, </a:t>
            </a:r>
            <a:r>
              <a:rPr lang="en-US" sz="2000" dirty="0" err="1"/>
              <a:t>gere</a:t>
            </a:r>
            <a:r>
              <a:rPr lang="en-US" sz="2000" dirty="0"/>
              <a:t> a </a:t>
            </a:r>
            <a:r>
              <a:rPr lang="en-US" sz="2000" dirty="0" err="1"/>
              <a:t>alocação</a:t>
            </a:r>
            <a:r>
              <a:rPr lang="en-US" sz="2000" dirty="0"/>
              <a:t> e </a:t>
            </a:r>
            <a:r>
              <a:rPr lang="en-US" sz="2000" dirty="0" err="1"/>
              <a:t>desalocação</a:t>
            </a:r>
            <a:r>
              <a:rPr lang="en-US" sz="2000" dirty="0"/>
              <a:t> de </a:t>
            </a:r>
            <a:r>
              <a:rPr lang="en-US" sz="2000" dirty="0" err="1"/>
              <a:t>memória</a:t>
            </a:r>
            <a:r>
              <a:rPr lang="en-US" sz="2000" dirty="0"/>
              <a:t> e define quais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programas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</a:t>
            </a:r>
            <a:r>
              <a:rPr lang="en-US" sz="2000" dirty="0" err="1"/>
              <a:t>aceder</a:t>
            </a:r>
            <a:r>
              <a:rPr lang="en-US" sz="2000" dirty="0"/>
              <a:t> a </a:t>
            </a:r>
            <a:r>
              <a:rPr lang="en-US" sz="2000" dirty="0" err="1"/>
              <a:t>dispositivos</a:t>
            </a:r>
            <a:r>
              <a:rPr lang="en-US" sz="2000" dirty="0"/>
              <a:t> de hardware.</a:t>
            </a:r>
          </a:p>
          <a:p>
            <a:pPr>
              <a:spcAft>
                <a:spcPts val="600"/>
              </a:spcAft>
            </a:pPr>
            <a:r>
              <a:rPr lang="en-US" sz="2000" b="1" dirty="0"/>
              <a:t>Interface com o </a:t>
            </a:r>
            <a:r>
              <a:rPr lang="en-US" sz="2000" b="1" dirty="0" err="1"/>
              <a:t>Utilizador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interface </a:t>
            </a:r>
            <a:r>
              <a:rPr lang="en-US" sz="2000" dirty="0" err="1"/>
              <a:t>através</a:t>
            </a:r>
            <a:r>
              <a:rPr lang="en-US" sz="2000" dirty="0"/>
              <a:t> da qual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utilizadores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</a:t>
            </a:r>
            <a:r>
              <a:rPr lang="en-US" sz="2000" dirty="0" err="1"/>
              <a:t>interagir</a:t>
            </a:r>
            <a:r>
              <a:rPr lang="en-US" sz="2000" dirty="0"/>
              <a:t> com o </a:t>
            </a:r>
            <a:r>
              <a:rPr lang="en-US" sz="2000" dirty="0" err="1"/>
              <a:t>sistema</a:t>
            </a:r>
            <a:r>
              <a:rPr lang="en-US" sz="2000" dirty="0"/>
              <a:t>. Esta interface </a:t>
            </a:r>
            <a:r>
              <a:rPr lang="en-US" sz="2000" dirty="0" err="1"/>
              <a:t>pode</a:t>
            </a:r>
            <a:r>
              <a:rPr lang="en-US" sz="2000" dirty="0"/>
              <a:t> ser </a:t>
            </a:r>
            <a:r>
              <a:rPr lang="en-US" sz="2000" dirty="0" err="1"/>
              <a:t>gráfica</a:t>
            </a:r>
            <a:r>
              <a:rPr lang="en-US" sz="2000" dirty="0"/>
              <a:t> (GUI)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baseada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linha</a:t>
            </a:r>
            <a:r>
              <a:rPr lang="en-US" sz="2000" dirty="0"/>
              <a:t> de </a:t>
            </a:r>
            <a:r>
              <a:rPr lang="en-US" sz="2000" dirty="0" err="1"/>
              <a:t>comandos</a:t>
            </a:r>
            <a:r>
              <a:rPr lang="en-US" sz="2000" dirty="0"/>
              <a:t> (CLI).</a:t>
            </a:r>
          </a:p>
          <a:p>
            <a:pPr>
              <a:spcAft>
                <a:spcPts val="600"/>
              </a:spcAft>
            </a:pPr>
            <a:r>
              <a:rPr lang="en-US" sz="2000" b="1" dirty="0" err="1"/>
              <a:t>Execução</a:t>
            </a:r>
            <a:r>
              <a:rPr lang="en-US" sz="2000" b="1" dirty="0"/>
              <a:t> de </a:t>
            </a:r>
            <a:r>
              <a:rPr lang="en-US" sz="2000" b="1" dirty="0" err="1"/>
              <a:t>Programas</a:t>
            </a:r>
            <a:r>
              <a:rPr lang="en-US" sz="2000" b="1" dirty="0"/>
              <a:t>:</a:t>
            </a:r>
            <a:r>
              <a:rPr lang="en-US" sz="2000" dirty="0"/>
              <a:t> O SO </a:t>
            </a:r>
            <a:r>
              <a:rPr lang="en-US" sz="2000" dirty="0" err="1"/>
              <a:t>cria</a:t>
            </a:r>
            <a:r>
              <a:rPr lang="en-US" sz="2000" dirty="0"/>
              <a:t> um </a:t>
            </a:r>
            <a:r>
              <a:rPr lang="en-US" sz="2000" dirty="0" err="1"/>
              <a:t>ambiente</a:t>
            </a:r>
            <a:r>
              <a:rPr lang="en-US" sz="2000" dirty="0"/>
              <a:t> </a:t>
            </a:r>
            <a:r>
              <a:rPr lang="en-US" sz="2000" dirty="0" err="1"/>
              <a:t>onde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programas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ser </a:t>
            </a:r>
            <a:r>
              <a:rPr lang="en-US" sz="2000" dirty="0" err="1"/>
              <a:t>executados</a:t>
            </a:r>
            <a:r>
              <a:rPr lang="en-US" sz="2000" dirty="0"/>
              <a:t>, </a:t>
            </a:r>
            <a:r>
              <a:rPr lang="en-US" sz="2000" dirty="0" err="1"/>
              <a:t>isolando-os</a:t>
            </a:r>
            <a:r>
              <a:rPr lang="en-US" sz="2000" dirty="0"/>
              <a:t> dos </a:t>
            </a:r>
            <a:r>
              <a:rPr lang="en-US" sz="2000" dirty="0" err="1"/>
              <a:t>detalhes</a:t>
            </a:r>
            <a:r>
              <a:rPr lang="en-US" sz="2000" dirty="0"/>
              <a:t> de </a:t>
            </a:r>
            <a:r>
              <a:rPr lang="en-US" sz="2000" dirty="0" err="1"/>
              <a:t>baixo</a:t>
            </a:r>
            <a:r>
              <a:rPr lang="en-US" sz="2000" dirty="0"/>
              <a:t> </a:t>
            </a:r>
            <a:r>
              <a:rPr lang="en-US" sz="2000" dirty="0" err="1"/>
              <a:t>nível</a:t>
            </a:r>
            <a:r>
              <a:rPr lang="en-US" sz="2000" dirty="0"/>
              <a:t> do hardware.</a:t>
            </a:r>
          </a:p>
          <a:p>
            <a:pPr>
              <a:spcAft>
                <a:spcPts val="600"/>
              </a:spcAft>
            </a:pPr>
            <a:r>
              <a:rPr lang="en-US" sz="2000" b="1" dirty="0" err="1"/>
              <a:t>Segurança</a:t>
            </a:r>
            <a:r>
              <a:rPr lang="en-US" sz="2000" b="1" dirty="0"/>
              <a:t> e </a:t>
            </a:r>
            <a:r>
              <a:rPr lang="en-US" sz="2000" b="1" dirty="0" err="1"/>
              <a:t>Proteção</a:t>
            </a:r>
            <a:r>
              <a:rPr lang="en-US" sz="2000" b="1" dirty="0"/>
              <a:t>:</a:t>
            </a:r>
            <a:r>
              <a:rPr lang="en-US" sz="2000" dirty="0"/>
              <a:t> Protege o </a:t>
            </a:r>
            <a:r>
              <a:rPr lang="en-US" sz="2000" dirty="0" err="1"/>
              <a:t>sistema</a:t>
            </a:r>
            <a:r>
              <a:rPr lang="en-US" sz="2000" dirty="0"/>
              <a:t> e </a:t>
            </a:r>
            <a:r>
              <a:rPr lang="en-US" sz="2000" dirty="0" err="1"/>
              <a:t>os</a:t>
            </a:r>
            <a:r>
              <a:rPr lang="en-US" sz="2000" dirty="0"/>
              <a:t> dados do </a:t>
            </a:r>
            <a:r>
              <a:rPr lang="en-US" sz="2000" dirty="0" err="1"/>
              <a:t>utilizador</a:t>
            </a:r>
            <a:r>
              <a:rPr lang="en-US" sz="2000" dirty="0"/>
              <a:t> contra </a:t>
            </a:r>
            <a:r>
              <a:rPr lang="en-US" sz="2000" dirty="0" err="1"/>
              <a:t>acessos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autorizados</a:t>
            </a:r>
            <a:r>
              <a:rPr lang="en-US" sz="2000" dirty="0"/>
              <a:t> e </a:t>
            </a:r>
            <a:r>
              <a:rPr lang="en-US" sz="2000" dirty="0" err="1"/>
              <a:t>erros</a:t>
            </a:r>
            <a:r>
              <a:rPr lang="en-US" sz="2000" dirty="0"/>
              <a:t> de software, </a:t>
            </a:r>
            <a:r>
              <a:rPr lang="en-US" sz="2000" dirty="0" err="1"/>
              <a:t>implementando</a:t>
            </a:r>
            <a:r>
              <a:rPr lang="en-US" sz="2000" dirty="0"/>
              <a:t> </a:t>
            </a:r>
            <a:r>
              <a:rPr lang="en-US" sz="2000" dirty="0" err="1"/>
              <a:t>controlo</a:t>
            </a:r>
            <a:r>
              <a:rPr lang="en-US" sz="2000" dirty="0"/>
              <a:t> de </a:t>
            </a:r>
            <a:r>
              <a:rPr lang="en-US" sz="2000" dirty="0" err="1"/>
              <a:t>acesso</a:t>
            </a:r>
            <a:r>
              <a:rPr lang="en-US" sz="2000" dirty="0"/>
              <a:t> e </a:t>
            </a:r>
            <a:r>
              <a:rPr lang="en-US" sz="2000" dirty="0" err="1"/>
              <a:t>permissões</a:t>
            </a:r>
            <a:r>
              <a:rPr lang="en-US" sz="20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B28B362-2187-172D-D0C6-28F869007A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Papel do Sistema </a:t>
            </a:r>
            <a:r>
              <a:rPr lang="en-US" dirty="0" err="1"/>
              <a:t>Operativo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000" b="1" dirty="0"/>
              <a:t>Sistemas </a:t>
            </a:r>
            <a:r>
              <a:rPr lang="en-US" sz="2000" b="1" dirty="0" err="1"/>
              <a:t>em</a:t>
            </a:r>
            <a:r>
              <a:rPr lang="en-US" sz="2000" b="1" dirty="0"/>
              <a:t> Tempo Real (RTOS)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Um Sistema </a:t>
            </a:r>
            <a:r>
              <a:rPr lang="en-US" sz="2000" dirty="0" err="1"/>
              <a:t>Operativo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Tempo Real (RTOS, Real-Time Operating System)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desenhado</a:t>
            </a:r>
            <a:r>
              <a:rPr lang="en-US" sz="2000" dirty="0"/>
              <a:t> para ambientes </a:t>
            </a:r>
            <a:r>
              <a:rPr lang="en-US" sz="2000" dirty="0" err="1"/>
              <a:t>onde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essencial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resposta</a:t>
            </a:r>
            <a:r>
              <a:rPr lang="en-US" sz="2000" dirty="0"/>
              <a:t> </a:t>
            </a:r>
            <a:r>
              <a:rPr lang="en-US" sz="2000" dirty="0" err="1"/>
              <a:t>imediata</a:t>
            </a:r>
            <a:r>
              <a:rPr lang="en-US" sz="2000" dirty="0"/>
              <a:t> e </a:t>
            </a:r>
            <a:r>
              <a:rPr lang="en-US" sz="2000" dirty="0" err="1"/>
              <a:t>previsível</a:t>
            </a:r>
            <a:r>
              <a:rPr lang="en-US" sz="2000" dirty="0"/>
              <a:t> a </a:t>
            </a:r>
            <a:r>
              <a:rPr lang="en-US" sz="2000" dirty="0" err="1"/>
              <a:t>eventos</a:t>
            </a:r>
            <a:r>
              <a:rPr lang="en-US" sz="2000" dirty="0"/>
              <a:t> </a:t>
            </a:r>
            <a:r>
              <a:rPr lang="en-US" sz="2000" dirty="0" err="1"/>
              <a:t>externos</a:t>
            </a:r>
            <a:r>
              <a:rPr lang="en-US" sz="2000" dirty="0"/>
              <a:t>. Em </a:t>
            </a:r>
            <a:r>
              <a:rPr lang="en-US" sz="2000" dirty="0" err="1"/>
              <a:t>vez</a:t>
            </a:r>
            <a:r>
              <a:rPr lang="en-US" sz="2000" dirty="0"/>
              <a:t> de </a:t>
            </a:r>
            <a:r>
              <a:rPr lang="en-US" sz="2000" dirty="0" err="1"/>
              <a:t>apenas</a:t>
            </a:r>
            <a:r>
              <a:rPr lang="en-US" sz="2000" dirty="0"/>
              <a:t> </a:t>
            </a:r>
            <a:r>
              <a:rPr lang="en-US" sz="2000" dirty="0" err="1"/>
              <a:t>otimizar</a:t>
            </a:r>
            <a:r>
              <a:rPr lang="en-US" sz="2000" dirty="0"/>
              <a:t> o </a:t>
            </a:r>
            <a:r>
              <a:rPr lang="en-US" sz="2000" dirty="0" err="1"/>
              <a:t>uso</a:t>
            </a:r>
            <a:r>
              <a:rPr lang="en-US" sz="2000" dirty="0"/>
              <a:t> de </a:t>
            </a:r>
            <a:r>
              <a:rPr lang="en-US" sz="2000" dirty="0" err="1"/>
              <a:t>recursos</a:t>
            </a:r>
            <a:r>
              <a:rPr lang="en-US" sz="2000" dirty="0"/>
              <a:t>, um RTOS </a:t>
            </a:r>
            <a:r>
              <a:rPr lang="en-US" sz="2000" dirty="0" err="1"/>
              <a:t>garante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certas</a:t>
            </a:r>
            <a:r>
              <a:rPr lang="en-US" sz="2000" dirty="0"/>
              <a:t> </a:t>
            </a:r>
            <a:r>
              <a:rPr lang="en-US" sz="2000" dirty="0" err="1"/>
              <a:t>operações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concluídas</a:t>
            </a:r>
            <a:r>
              <a:rPr lang="en-US" sz="2000" dirty="0"/>
              <a:t> num tempo </a:t>
            </a:r>
            <a:r>
              <a:rPr lang="en-US" sz="2000" dirty="0" err="1"/>
              <a:t>específico</a:t>
            </a:r>
            <a:r>
              <a:rPr lang="en-US" sz="2000" dirty="0"/>
              <a:t>. Este </a:t>
            </a:r>
            <a:r>
              <a:rPr lang="en-US" sz="2000" dirty="0" err="1"/>
              <a:t>tipo</a:t>
            </a:r>
            <a:r>
              <a:rPr lang="en-US" sz="2000" dirty="0"/>
              <a:t> de SO </a:t>
            </a:r>
            <a:r>
              <a:rPr lang="en-US" sz="2000" dirty="0" err="1"/>
              <a:t>é</a:t>
            </a:r>
            <a:r>
              <a:rPr lang="en-US" sz="2000" dirty="0"/>
              <a:t> vital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aplicações</a:t>
            </a:r>
            <a:r>
              <a:rPr lang="en-US" sz="2000" dirty="0"/>
              <a:t> </a:t>
            </a:r>
            <a:r>
              <a:rPr lang="en-US" sz="2000" dirty="0" err="1"/>
              <a:t>críticas</a:t>
            </a:r>
            <a:r>
              <a:rPr lang="en-US" sz="2000" dirty="0"/>
              <a:t>, </a:t>
            </a:r>
            <a:r>
              <a:rPr lang="en-US" sz="2000" dirty="0" err="1"/>
              <a:t>como</a:t>
            </a:r>
            <a:r>
              <a:rPr lang="en-US" sz="2000" dirty="0"/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Automóveis</a:t>
            </a:r>
            <a:r>
              <a:rPr lang="en-US" sz="2000" b="1" dirty="0"/>
              <a:t>:</a:t>
            </a:r>
            <a:r>
              <a:rPr lang="en-US" sz="2000" dirty="0"/>
              <a:t> Sistemas de </a:t>
            </a:r>
            <a:r>
              <a:rPr lang="en-US" sz="2000" dirty="0" err="1"/>
              <a:t>controlo</a:t>
            </a:r>
            <a:r>
              <a:rPr lang="en-US" sz="2000" dirty="0"/>
              <a:t> do motor, </a:t>
            </a:r>
            <a:r>
              <a:rPr lang="en-US" sz="2000" dirty="0" err="1"/>
              <a:t>travagem</a:t>
            </a:r>
            <a:r>
              <a:rPr lang="en-US" sz="2000" dirty="0"/>
              <a:t> e </a:t>
            </a:r>
            <a:r>
              <a:rPr lang="en-US" sz="2000" dirty="0" err="1"/>
              <a:t>assistência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condutor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Aeronáutica</a:t>
            </a:r>
            <a:r>
              <a:rPr lang="en-US" sz="2000" b="1" dirty="0"/>
              <a:t> e </a:t>
            </a:r>
            <a:r>
              <a:rPr lang="en-US" sz="2000" b="1" dirty="0" err="1"/>
              <a:t>Espaço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Equipamentos</a:t>
            </a:r>
            <a:r>
              <a:rPr lang="en-US" sz="2000" dirty="0"/>
              <a:t> de </a:t>
            </a:r>
            <a:r>
              <a:rPr lang="en-US" sz="2000" dirty="0" err="1"/>
              <a:t>navegação</a:t>
            </a:r>
            <a:r>
              <a:rPr lang="en-US" sz="2000" dirty="0"/>
              <a:t>, </a:t>
            </a:r>
            <a:r>
              <a:rPr lang="en-US" sz="2000" dirty="0" err="1"/>
              <a:t>piloto</a:t>
            </a:r>
            <a:r>
              <a:rPr lang="en-US" sz="2000" dirty="0"/>
              <a:t> </a:t>
            </a:r>
            <a:r>
              <a:rPr lang="en-US" sz="2000" dirty="0" err="1"/>
              <a:t>automático</a:t>
            </a:r>
            <a:r>
              <a:rPr lang="en-US" sz="2000" dirty="0"/>
              <a:t> e </a:t>
            </a:r>
            <a:r>
              <a:rPr lang="en-US" sz="2000" dirty="0" err="1"/>
              <a:t>controlo</a:t>
            </a:r>
            <a:r>
              <a:rPr lang="en-US" sz="2000" dirty="0"/>
              <a:t> de </a:t>
            </a:r>
            <a:r>
              <a:rPr lang="en-US" sz="2000" dirty="0" err="1"/>
              <a:t>voo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Medicina:</a:t>
            </a:r>
            <a:r>
              <a:rPr lang="en-US" sz="2000" dirty="0"/>
              <a:t> </a:t>
            </a:r>
            <a:r>
              <a:rPr lang="en-US" sz="2000" dirty="0" err="1"/>
              <a:t>Equipamentos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ventiladores</a:t>
            </a:r>
            <a:r>
              <a:rPr lang="en-US" sz="2000" dirty="0"/>
              <a:t>, </a:t>
            </a:r>
            <a:r>
              <a:rPr lang="en-US" sz="2000" dirty="0" err="1"/>
              <a:t>monitores</a:t>
            </a:r>
            <a:r>
              <a:rPr lang="en-US" sz="2000" dirty="0"/>
              <a:t> de </a:t>
            </a:r>
            <a:r>
              <a:rPr lang="en-US" sz="2000" dirty="0" err="1"/>
              <a:t>sinais</a:t>
            </a:r>
            <a:r>
              <a:rPr lang="en-US" sz="2000" dirty="0"/>
              <a:t> </a:t>
            </a:r>
            <a:r>
              <a:rPr lang="en-US" sz="2000" dirty="0" err="1"/>
              <a:t>vitais</a:t>
            </a:r>
            <a:r>
              <a:rPr lang="en-US" sz="2000" dirty="0"/>
              <a:t>,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devem</a:t>
            </a:r>
            <a:r>
              <a:rPr lang="en-US" sz="2000" dirty="0"/>
              <a:t> </a:t>
            </a:r>
            <a:r>
              <a:rPr lang="en-US" sz="2000" dirty="0" err="1"/>
              <a:t>reagir</a:t>
            </a:r>
            <a:r>
              <a:rPr lang="en-US" sz="2000" dirty="0"/>
              <a:t> </a:t>
            </a:r>
            <a:r>
              <a:rPr lang="en-US" sz="2000" dirty="0" err="1"/>
              <a:t>instantaneamente</a:t>
            </a:r>
            <a:r>
              <a:rPr lang="en-US" sz="2000" dirty="0"/>
              <a:t> para </a:t>
            </a:r>
            <a:r>
              <a:rPr lang="en-US" sz="2000" dirty="0" err="1"/>
              <a:t>salvaguardar</a:t>
            </a:r>
            <a:r>
              <a:rPr lang="en-US" sz="2000" dirty="0"/>
              <a:t> a </a:t>
            </a:r>
            <a:r>
              <a:rPr lang="en-US" sz="2000" dirty="0" err="1"/>
              <a:t>saúde</a:t>
            </a:r>
            <a:r>
              <a:rPr lang="en-US" sz="2000" dirty="0"/>
              <a:t> do </a:t>
            </a:r>
            <a:r>
              <a:rPr lang="en-US" sz="2000" dirty="0" err="1"/>
              <a:t>paciente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Os</a:t>
            </a:r>
            <a:r>
              <a:rPr lang="en-US" sz="2000" dirty="0"/>
              <a:t> RTOSs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geralmente</a:t>
            </a:r>
            <a:r>
              <a:rPr lang="en-US" sz="2000" dirty="0"/>
              <a:t> </a:t>
            </a:r>
            <a:r>
              <a:rPr lang="en-US" sz="2000" dirty="0" err="1"/>
              <a:t>determinísticos</a:t>
            </a:r>
            <a:r>
              <a:rPr lang="en-US" sz="2000" dirty="0"/>
              <a:t> (</a:t>
            </a:r>
            <a:r>
              <a:rPr lang="en-US" sz="2000" dirty="0" err="1"/>
              <a:t>garantem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as </a:t>
            </a:r>
            <a:r>
              <a:rPr lang="en-US" sz="2000" dirty="0" err="1"/>
              <a:t>tarefas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executadas</a:t>
            </a:r>
            <a:r>
              <a:rPr lang="en-US" sz="2000" dirty="0"/>
              <a:t> num tempo </a:t>
            </a:r>
            <a:r>
              <a:rPr lang="en-US" sz="2000" dirty="0" err="1"/>
              <a:t>predefinido</a:t>
            </a:r>
            <a:r>
              <a:rPr lang="en-US" sz="2000" dirty="0"/>
              <a:t>) e </a:t>
            </a:r>
            <a:r>
              <a:rPr lang="en-US" sz="2000" dirty="0" err="1"/>
              <a:t>altamente</a:t>
            </a:r>
            <a:r>
              <a:rPr lang="en-US" sz="2000" dirty="0"/>
              <a:t> </a:t>
            </a:r>
            <a:r>
              <a:rPr lang="en-US" sz="2000" dirty="0" err="1"/>
              <a:t>fiáveis</a:t>
            </a:r>
            <a:r>
              <a:rPr lang="en-US" sz="2000" dirty="0"/>
              <a:t>. </a:t>
            </a:r>
            <a:r>
              <a:rPr lang="en-US" sz="2000" dirty="0" err="1"/>
              <a:t>Têm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arquitetura</a:t>
            </a:r>
            <a:r>
              <a:rPr lang="en-US" sz="2000" dirty="0"/>
              <a:t> simples para </a:t>
            </a:r>
            <a:r>
              <a:rPr lang="en-US" sz="2000" dirty="0" err="1"/>
              <a:t>reduzir</a:t>
            </a:r>
            <a:r>
              <a:rPr lang="en-US" sz="2000" dirty="0"/>
              <a:t> </a:t>
            </a:r>
            <a:r>
              <a:rPr lang="en-US" sz="2000" dirty="0" err="1"/>
              <a:t>latências</a:t>
            </a:r>
            <a:r>
              <a:rPr lang="en-US" sz="2000" dirty="0"/>
              <a:t> e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muitas</a:t>
            </a:r>
            <a:r>
              <a:rPr lang="en-US" sz="2000" dirty="0"/>
              <a:t> </a:t>
            </a:r>
            <a:r>
              <a:rPr lang="en-US" sz="2000" dirty="0" err="1"/>
              <a:t>vezes</a:t>
            </a:r>
            <a:r>
              <a:rPr lang="en-US" sz="2000" dirty="0"/>
              <a:t> </a:t>
            </a:r>
            <a:r>
              <a:rPr lang="en-US" sz="2000" dirty="0" err="1"/>
              <a:t>especializados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tarefas</a:t>
            </a:r>
            <a:r>
              <a:rPr lang="en-US" sz="2000" dirty="0"/>
              <a:t> </a:t>
            </a:r>
            <a:r>
              <a:rPr lang="en-US" sz="2000" dirty="0" err="1"/>
              <a:t>únicas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Exemplo</a:t>
            </a:r>
            <a:r>
              <a:rPr lang="en-US" sz="2000" dirty="0"/>
              <a:t> de SO </a:t>
            </a:r>
            <a:r>
              <a:rPr lang="en-US" sz="2000" dirty="0" err="1"/>
              <a:t>em</a:t>
            </a:r>
            <a:r>
              <a:rPr lang="en-US" sz="2000" dirty="0"/>
              <a:t> Tempo Real: </a:t>
            </a:r>
            <a:r>
              <a:rPr lang="en-US" sz="2000" b="1" dirty="0"/>
              <a:t>VxWorks, </a:t>
            </a:r>
            <a:r>
              <a:rPr lang="en-US" sz="2000" b="1" dirty="0" err="1"/>
              <a:t>FreeRTOS</a:t>
            </a:r>
            <a:r>
              <a:rPr lang="en-US" sz="20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E2FB820-926B-774B-772D-C6E2B87782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Tipos</a:t>
            </a:r>
            <a:r>
              <a:rPr lang="en-US" dirty="0"/>
              <a:t> de Sistemas e Ambientes </a:t>
            </a:r>
            <a:r>
              <a:rPr lang="en-US" dirty="0" err="1"/>
              <a:t>Especializados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3"/>
            <a:ext cx="10999214" cy="4335931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900" b="1" dirty="0"/>
              <a:t>Sistemas </a:t>
            </a:r>
            <a:r>
              <a:rPr lang="en-US" sz="2900" b="1" dirty="0" err="1"/>
              <a:t>Embutidos</a:t>
            </a:r>
            <a:endParaRPr lang="en-US" sz="2900" b="1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900" dirty="0" err="1"/>
              <a:t>Os</a:t>
            </a:r>
            <a:r>
              <a:rPr lang="en-US" sz="2900" dirty="0"/>
              <a:t> Sistemas </a:t>
            </a:r>
            <a:r>
              <a:rPr lang="en-US" sz="2900" dirty="0" err="1"/>
              <a:t>Embutidos</a:t>
            </a:r>
            <a:r>
              <a:rPr lang="en-US" sz="2900" dirty="0"/>
              <a:t> (</a:t>
            </a:r>
            <a:r>
              <a:rPr lang="en-US" sz="2900" dirty="0" err="1"/>
              <a:t>ou</a:t>
            </a:r>
            <a:r>
              <a:rPr lang="en-US" sz="2900" dirty="0"/>
              <a:t> Sistemas </a:t>
            </a:r>
            <a:r>
              <a:rPr lang="en-US" sz="2900" dirty="0" err="1"/>
              <a:t>Incorporados</a:t>
            </a:r>
            <a:r>
              <a:rPr lang="en-US" sz="2900" dirty="0"/>
              <a:t>) </a:t>
            </a:r>
            <a:r>
              <a:rPr lang="en-US" sz="2900" dirty="0" err="1"/>
              <a:t>são</a:t>
            </a:r>
            <a:r>
              <a:rPr lang="en-US" sz="2900" dirty="0"/>
              <a:t> </a:t>
            </a:r>
            <a:r>
              <a:rPr lang="en-US" sz="2900" dirty="0" err="1"/>
              <a:t>sistemas</a:t>
            </a:r>
            <a:r>
              <a:rPr lang="en-US" sz="2900" dirty="0"/>
              <a:t> </a:t>
            </a:r>
            <a:r>
              <a:rPr lang="en-US" sz="2900" dirty="0" err="1"/>
              <a:t>operativos</a:t>
            </a:r>
            <a:r>
              <a:rPr lang="en-US" sz="2900" dirty="0"/>
              <a:t> </a:t>
            </a:r>
            <a:r>
              <a:rPr lang="en-US" sz="2900" dirty="0" err="1"/>
              <a:t>desenhados</a:t>
            </a:r>
            <a:r>
              <a:rPr lang="en-US" sz="2900" dirty="0"/>
              <a:t> para </a:t>
            </a:r>
            <a:r>
              <a:rPr lang="en-US" sz="2900" dirty="0" err="1"/>
              <a:t>dispositivos</a:t>
            </a:r>
            <a:r>
              <a:rPr lang="en-US" sz="2900" dirty="0"/>
              <a:t> </a:t>
            </a:r>
            <a:r>
              <a:rPr lang="en-US" sz="2900" dirty="0" err="1"/>
              <a:t>específicos</a:t>
            </a:r>
            <a:r>
              <a:rPr lang="en-US" sz="2900" dirty="0"/>
              <a:t>, </a:t>
            </a:r>
            <a:r>
              <a:rPr lang="en-US" sz="2900" dirty="0" err="1"/>
              <a:t>muitas</a:t>
            </a:r>
            <a:r>
              <a:rPr lang="en-US" sz="2900" dirty="0"/>
              <a:t> </a:t>
            </a:r>
            <a:r>
              <a:rPr lang="en-US" sz="2900" dirty="0" err="1"/>
              <a:t>vezes</a:t>
            </a:r>
            <a:r>
              <a:rPr lang="en-US" sz="2900" dirty="0"/>
              <a:t> com </a:t>
            </a:r>
            <a:r>
              <a:rPr lang="en-US" sz="2900" dirty="0" err="1"/>
              <a:t>funcionalidades</a:t>
            </a:r>
            <a:r>
              <a:rPr lang="en-US" sz="2900" dirty="0"/>
              <a:t> </a:t>
            </a:r>
            <a:r>
              <a:rPr lang="en-US" sz="2900" dirty="0" err="1"/>
              <a:t>limitadas</a:t>
            </a:r>
            <a:r>
              <a:rPr lang="en-US" sz="2900" dirty="0"/>
              <a:t>. A </a:t>
            </a:r>
            <a:r>
              <a:rPr lang="en-US" sz="2900" dirty="0" err="1"/>
              <a:t>maioria</a:t>
            </a:r>
            <a:r>
              <a:rPr lang="en-US" sz="2900" dirty="0"/>
              <a:t> dos </a:t>
            </a:r>
            <a:r>
              <a:rPr lang="en-US" sz="2900" dirty="0" err="1"/>
              <a:t>sistemas</a:t>
            </a:r>
            <a:r>
              <a:rPr lang="en-US" sz="2900" dirty="0"/>
              <a:t> </a:t>
            </a:r>
            <a:r>
              <a:rPr lang="en-US" sz="2900" dirty="0" err="1"/>
              <a:t>embutidos</a:t>
            </a:r>
            <a:r>
              <a:rPr lang="en-US" sz="2900" dirty="0"/>
              <a:t> opera num </a:t>
            </a:r>
            <a:r>
              <a:rPr lang="en-US" sz="2900" dirty="0" err="1"/>
              <a:t>único</a:t>
            </a:r>
            <a:r>
              <a:rPr lang="en-US" sz="2900" dirty="0"/>
              <a:t> </a:t>
            </a:r>
            <a:r>
              <a:rPr lang="en-US" sz="2900" dirty="0" err="1"/>
              <a:t>dispositivo</a:t>
            </a:r>
            <a:r>
              <a:rPr lang="en-US" sz="2900" dirty="0"/>
              <a:t> e </a:t>
            </a:r>
            <a:r>
              <a:rPr lang="en-US" sz="2900" dirty="0" err="1"/>
              <a:t>é</a:t>
            </a:r>
            <a:r>
              <a:rPr lang="en-US" sz="2900" dirty="0"/>
              <a:t> </a:t>
            </a:r>
            <a:r>
              <a:rPr lang="en-US" sz="2900" dirty="0" err="1"/>
              <a:t>otimizada</a:t>
            </a:r>
            <a:r>
              <a:rPr lang="en-US" sz="2900" dirty="0"/>
              <a:t> para </a:t>
            </a:r>
            <a:r>
              <a:rPr lang="en-US" sz="2900" dirty="0" err="1"/>
              <a:t>esse</a:t>
            </a:r>
            <a:r>
              <a:rPr lang="en-US" sz="2900" dirty="0"/>
              <a:t> hardware, </a:t>
            </a:r>
            <a:r>
              <a:rPr lang="en-US" sz="2900" dirty="0" err="1"/>
              <a:t>por</a:t>
            </a:r>
            <a:r>
              <a:rPr lang="en-US" sz="2900" dirty="0"/>
              <a:t> </a:t>
            </a:r>
            <a:r>
              <a:rPr lang="en-US" sz="2900" dirty="0" err="1"/>
              <a:t>exemplo</a:t>
            </a:r>
            <a:r>
              <a:rPr lang="en-US" sz="2900" dirty="0"/>
              <a:t>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900" b="1" dirty="0" err="1"/>
              <a:t>Electrodomésticos</a:t>
            </a:r>
            <a:r>
              <a:rPr lang="en-US" sz="2900" b="1" dirty="0"/>
              <a:t>:</a:t>
            </a:r>
            <a:r>
              <a:rPr lang="en-US" sz="2900" dirty="0"/>
              <a:t> Micro-</a:t>
            </a:r>
            <a:r>
              <a:rPr lang="en-US" sz="2900" dirty="0" err="1"/>
              <a:t>ondas</a:t>
            </a:r>
            <a:r>
              <a:rPr lang="en-US" sz="2900" dirty="0"/>
              <a:t>, </a:t>
            </a:r>
            <a:r>
              <a:rPr lang="en-US" sz="2900" dirty="0" err="1"/>
              <a:t>frigoríficos</a:t>
            </a:r>
            <a:r>
              <a:rPr lang="en-US" sz="2900" dirty="0"/>
              <a:t>, </a:t>
            </a:r>
            <a:r>
              <a:rPr lang="en-US" sz="2900" dirty="0" err="1"/>
              <a:t>máquinas</a:t>
            </a:r>
            <a:r>
              <a:rPr lang="en-US" sz="2900" dirty="0"/>
              <a:t> de </a:t>
            </a:r>
            <a:r>
              <a:rPr lang="en-US" sz="2900" dirty="0" err="1"/>
              <a:t>lavar</a:t>
            </a:r>
            <a:r>
              <a:rPr lang="en-US" sz="2900" dirty="0"/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900" b="1" dirty="0" err="1"/>
              <a:t>Dispositivos</a:t>
            </a:r>
            <a:r>
              <a:rPr lang="en-US" sz="2900" b="1" dirty="0"/>
              <a:t> </a:t>
            </a:r>
            <a:r>
              <a:rPr lang="en-US" sz="2900" b="1" dirty="0" err="1"/>
              <a:t>Eletrónicos</a:t>
            </a:r>
            <a:r>
              <a:rPr lang="en-US" sz="2900" b="1" dirty="0"/>
              <a:t> de </a:t>
            </a:r>
            <a:r>
              <a:rPr lang="en-US" sz="2900" b="1" dirty="0" err="1"/>
              <a:t>Consumo</a:t>
            </a:r>
            <a:r>
              <a:rPr lang="en-US" sz="2900" b="1" dirty="0"/>
              <a:t>:</a:t>
            </a:r>
            <a:r>
              <a:rPr lang="en-US" sz="2900" dirty="0"/>
              <a:t> </a:t>
            </a:r>
            <a:r>
              <a:rPr lang="en-US" sz="2900" dirty="0" err="1"/>
              <a:t>Câmaras</a:t>
            </a:r>
            <a:r>
              <a:rPr lang="en-US" sz="2900" dirty="0"/>
              <a:t> </a:t>
            </a:r>
            <a:r>
              <a:rPr lang="en-US" sz="2900" dirty="0" err="1"/>
              <a:t>fotográficas</a:t>
            </a:r>
            <a:r>
              <a:rPr lang="en-US" sz="2900" dirty="0"/>
              <a:t>, </a:t>
            </a:r>
            <a:r>
              <a:rPr lang="en-US" sz="2900" dirty="0" err="1"/>
              <a:t>impressoras</a:t>
            </a:r>
            <a:r>
              <a:rPr lang="en-US" sz="2900" dirty="0"/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900" b="1" dirty="0"/>
              <a:t>Indústria </a:t>
            </a:r>
            <a:r>
              <a:rPr lang="en-US" sz="2900" b="1" dirty="0" err="1"/>
              <a:t>Automóvel</a:t>
            </a:r>
            <a:r>
              <a:rPr lang="en-US" sz="2900" b="1" dirty="0"/>
              <a:t>:</a:t>
            </a:r>
            <a:r>
              <a:rPr lang="en-US" sz="2900" dirty="0"/>
              <a:t> Sistemas de </a:t>
            </a:r>
            <a:r>
              <a:rPr lang="en-US" sz="2900" dirty="0" err="1"/>
              <a:t>controlo</a:t>
            </a:r>
            <a:r>
              <a:rPr lang="en-US" sz="2900" dirty="0"/>
              <a:t> de airbags, </a:t>
            </a:r>
            <a:r>
              <a:rPr lang="en-US" sz="2900" dirty="0" err="1"/>
              <a:t>sistemas</a:t>
            </a:r>
            <a:r>
              <a:rPr lang="en-US" sz="2900" dirty="0"/>
              <a:t> de </a:t>
            </a:r>
            <a:r>
              <a:rPr lang="en-US" sz="2900" dirty="0" err="1"/>
              <a:t>travagem</a:t>
            </a:r>
            <a:r>
              <a:rPr lang="en-US" sz="2900" dirty="0"/>
              <a:t> ABS.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900" dirty="0"/>
              <a:t>Estes </a:t>
            </a:r>
            <a:r>
              <a:rPr lang="en-US" sz="2900" dirty="0" err="1"/>
              <a:t>sistemas</a:t>
            </a:r>
            <a:r>
              <a:rPr lang="en-US" sz="2900" dirty="0"/>
              <a:t> </a:t>
            </a:r>
            <a:r>
              <a:rPr lang="en-US" sz="2900" dirty="0" err="1"/>
              <a:t>tendem</a:t>
            </a:r>
            <a:r>
              <a:rPr lang="en-US" sz="2900" dirty="0"/>
              <a:t> a ser </a:t>
            </a:r>
            <a:r>
              <a:rPr lang="en-US" sz="2900" dirty="0" err="1"/>
              <a:t>leves</a:t>
            </a:r>
            <a:r>
              <a:rPr lang="en-US" sz="2900" dirty="0"/>
              <a:t> e </a:t>
            </a:r>
            <a:r>
              <a:rPr lang="en-US" sz="2900" dirty="0" err="1"/>
              <a:t>personalizados</a:t>
            </a:r>
            <a:r>
              <a:rPr lang="en-US" sz="2900" dirty="0"/>
              <a:t>, </a:t>
            </a:r>
            <a:r>
              <a:rPr lang="en-US" sz="2900" dirty="0" err="1"/>
              <a:t>limitando</a:t>
            </a:r>
            <a:r>
              <a:rPr lang="en-US" sz="2900" dirty="0"/>
              <a:t> o </a:t>
            </a:r>
            <a:r>
              <a:rPr lang="en-US" sz="2900" dirty="0" err="1"/>
              <a:t>consumo</a:t>
            </a:r>
            <a:r>
              <a:rPr lang="en-US" sz="2900" dirty="0"/>
              <a:t> de </a:t>
            </a:r>
            <a:r>
              <a:rPr lang="en-US" sz="2900" dirty="0" err="1"/>
              <a:t>memória</a:t>
            </a:r>
            <a:r>
              <a:rPr lang="en-US" sz="2900" dirty="0"/>
              <a:t> e </a:t>
            </a:r>
            <a:r>
              <a:rPr lang="en-US" sz="2900" dirty="0" err="1"/>
              <a:t>energia</a:t>
            </a:r>
            <a:r>
              <a:rPr lang="en-US" sz="2900" dirty="0"/>
              <a:t> para </a:t>
            </a:r>
            <a:r>
              <a:rPr lang="en-US" sz="2900" dirty="0" err="1"/>
              <a:t>assegurar</a:t>
            </a:r>
            <a:r>
              <a:rPr lang="en-US" sz="2900" dirty="0"/>
              <a:t> </a:t>
            </a:r>
            <a:r>
              <a:rPr lang="en-US" sz="2900" dirty="0" err="1"/>
              <a:t>eficiência</a:t>
            </a:r>
            <a:r>
              <a:rPr lang="en-US" sz="2900" dirty="0"/>
              <a:t> e </a:t>
            </a:r>
            <a:r>
              <a:rPr lang="en-US" sz="2900" dirty="0" err="1"/>
              <a:t>durabilidade</a:t>
            </a:r>
            <a:r>
              <a:rPr lang="en-US" sz="2900" dirty="0"/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29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900" dirty="0" err="1"/>
              <a:t>Exemplo</a:t>
            </a:r>
            <a:r>
              <a:rPr lang="en-US" sz="2900" dirty="0"/>
              <a:t> de SO </a:t>
            </a:r>
            <a:r>
              <a:rPr lang="en-US" sz="2900" dirty="0" err="1"/>
              <a:t>Embutido</a:t>
            </a:r>
            <a:r>
              <a:rPr lang="en-US" sz="2900" dirty="0"/>
              <a:t>: </a:t>
            </a:r>
            <a:r>
              <a:rPr lang="en-US" sz="2900" b="1" dirty="0"/>
              <a:t>Contiki (</a:t>
            </a:r>
            <a:r>
              <a:rPr lang="en-US" sz="2900" b="1" dirty="0" err="1"/>
              <a:t>usado</a:t>
            </a:r>
            <a:r>
              <a:rPr lang="en-US" sz="2900" b="1" dirty="0"/>
              <a:t> </a:t>
            </a:r>
            <a:r>
              <a:rPr lang="en-US" sz="2900" b="1" dirty="0" err="1"/>
              <a:t>em</a:t>
            </a:r>
            <a:r>
              <a:rPr lang="en-US" sz="2900" b="1" dirty="0"/>
              <a:t> IoT), Zephyr</a:t>
            </a:r>
            <a:r>
              <a:rPr lang="en-US" sz="2900" dirty="0"/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D05DA85-76E1-9AD9-79C6-DBF1D128C6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Tipos</a:t>
            </a:r>
            <a:r>
              <a:rPr lang="en-US" dirty="0"/>
              <a:t> de Sistemas e Ambientes </a:t>
            </a:r>
            <a:r>
              <a:rPr lang="en-US" dirty="0" err="1"/>
              <a:t>Especializados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75174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000" b="1" dirty="0"/>
              <a:t>Sistemas </a:t>
            </a:r>
            <a:r>
              <a:rPr lang="en-US" sz="2000" b="1" dirty="0" err="1"/>
              <a:t>Distribuídos</a:t>
            </a:r>
            <a:endParaRPr lang="en-US" sz="2000" b="1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000" dirty="0" err="1"/>
              <a:t>Os</a:t>
            </a:r>
            <a:r>
              <a:rPr lang="en-US" sz="2000" dirty="0"/>
              <a:t> Sistemas </a:t>
            </a:r>
            <a:r>
              <a:rPr lang="en-US" sz="2000" dirty="0" err="1"/>
              <a:t>Distribuídos</a:t>
            </a:r>
            <a:r>
              <a:rPr lang="en-US" sz="2000" dirty="0"/>
              <a:t> </a:t>
            </a:r>
            <a:r>
              <a:rPr lang="en-US" sz="2000" dirty="0" err="1"/>
              <a:t>operam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rede e </a:t>
            </a:r>
            <a:r>
              <a:rPr lang="en-US" sz="2000" dirty="0" err="1"/>
              <a:t>consistem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múltiplos</a:t>
            </a:r>
            <a:r>
              <a:rPr lang="en-US" sz="2000" dirty="0"/>
              <a:t> </a:t>
            </a:r>
            <a:r>
              <a:rPr lang="en-US" sz="2000" dirty="0" err="1"/>
              <a:t>computadores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trabalham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conjunto para </a:t>
            </a:r>
            <a:r>
              <a:rPr lang="en-US" sz="2000" dirty="0" err="1"/>
              <a:t>alcançar</a:t>
            </a:r>
            <a:r>
              <a:rPr lang="en-US" sz="2000" dirty="0"/>
              <a:t> um </a:t>
            </a:r>
            <a:r>
              <a:rPr lang="en-US" sz="2000" dirty="0" err="1"/>
              <a:t>objetivo</a:t>
            </a:r>
            <a:r>
              <a:rPr lang="en-US" sz="2000" dirty="0"/>
              <a:t> </a:t>
            </a:r>
            <a:r>
              <a:rPr lang="en-US" sz="2000" dirty="0" err="1"/>
              <a:t>comum</a:t>
            </a:r>
            <a:r>
              <a:rPr lang="en-US" sz="2000" dirty="0"/>
              <a:t>. Cada </a:t>
            </a:r>
            <a:r>
              <a:rPr lang="en-US" sz="2000" dirty="0" err="1"/>
              <a:t>máquina</a:t>
            </a:r>
            <a:r>
              <a:rPr lang="en-US" sz="2000" dirty="0"/>
              <a:t> </a:t>
            </a:r>
            <a:r>
              <a:rPr lang="en-US" sz="2000" dirty="0" err="1"/>
              <a:t>tem</a:t>
            </a:r>
            <a:r>
              <a:rPr lang="en-US" sz="2000" dirty="0"/>
              <a:t> o </a:t>
            </a:r>
            <a:r>
              <a:rPr lang="en-US" sz="2000" dirty="0" err="1"/>
              <a:t>seu</a:t>
            </a:r>
            <a:r>
              <a:rPr lang="en-US" sz="2000" dirty="0"/>
              <a:t> </a:t>
            </a:r>
            <a:r>
              <a:rPr lang="en-US" sz="2000" dirty="0" err="1"/>
              <a:t>próprio</a:t>
            </a:r>
            <a:r>
              <a:rPr lang="en-US" sz="2000" dirty="0"/>
              <a:t> SO, mas </a:t>
            </a:r>
            <a:r>
              <a:rPr lang="en-US" sz="2000" dirty="0" err="1"/>
              <a:t>comunica</a:t>
            </a:r>
            <a:r>
              <a:rPr lang="en-US" sz="2000" dirty="0"/>
              <a:t> e </a:t>
            </a:r>
            <a:r>
              <a:rPr lang="en-US" sz="2000" dirty="0" err="1"/>
              <a:t>coordena</a:t>
            </a:r>
            <a:r>
              <a:rPr lang="en-US" sz="2000" dirty="0"/>
              <a:t>-se com </a:t>
            </a:r>
            <a:r>
              <a:rPr lang="en-US" sz="2000" dirty="0" err="1"/>
              <a:t>outras</a:t>
            </a:r>
            <a:r>
              <a:rPr lang="en-US" sz="2000" dirty="0"/>
              <a:t> para </a:t>
            </a:r>
            <a:r>
              <a:rPr lang="en-US" sz="2000" dirty="0" err="1"/>
              <a:t>partilhar</a:t>
            </a:r>
            <a:r>
              <a:rPr lang="en-US" sz="2000" dirty="0"/>
              <a:t> </a:t>
            </a:r>
            <a:r>
              <a:rPr lang="en-US" sz="2000" dirty="0" err="1"/>
              <a:t>recursos</a:t>
            </a:r>
            <a:r>
              <a:rPr lang="en-US" sz="2000" dirty="0"/>
              <a:t> e </a:t>
            </a:r>
            <a:r>
              <a:rPr lang="en-US" sz="2000" dirty="0" err="1"/>
              <a:t>distribuir</a:t>
            </a:r>
            <a:r>
              <a:rPr lang="en-US" sz="2000" dirty="0"/>
              <a:t> cargas de </a:t>
            </a:r>
            <a:r>
              <a:rPr lang="en-US" sz="2000" dirty="0" err="1"/>
              <a:t>trabalho</a:t>
            </a:r>
            <a:r>
              <a:rPr lang="en-US" sz="2000" dirty="0"/>
              <a:t>. </a:t>
            </a:r>
            <a:r>
              <a:rPr lang="en-US" sz="2000" dirty="0" err="1"/>
              <a:t>Usos</a:t>
            </a:r>
            <a:r>
              <a:rPr lang="en-US" sz="2000" dirty="0"/>
              <a:t> </a:t>
            </a:r>
            <a:r>
              <a:rPr lang="en-US" sz="2000" dirty="0" err="1"/>
              <a:t>comuns</a:t>
            </a:r>
            <a:r>
              <a:rPr lang="en-US" sz="2000" dirty="0"/>
              <a:t> </a:t>
            </a:r>
            <a:r>
              <a:rPr lang="en-US" sz="2000" dirty="0" err="1"/>
              <a:t>incluem</a:t>
            </a:r>
            <a:r>
              <a:rPr lang="en-US" sz="2000" dirty="0"/>
              <a:t>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000" b="1" dirty="0"/>
              <a:t>Serviços de </a:t>
            </a:r>
            <a:r>
              <a:rPr lang="en-US" sz="2000" b="1" dirty="0" err="1"/>
              <a:t>Nuvem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Plataformas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AWS, Google Cloud e Azure, </a:t>
            </a:r>
            <a:r>
              <a:rPr lang="en-US" sz="2000" dirty="0" err="1"/>
              <a:t>onde</a:t>
            </a:r>
            <a:r>
              <a:rPr lang="en-US" sz="2000" dirty="0"/>
              <a:t> </a:t>
            </a:r>
            <a:r>
              <a:rPr lang="en-US" sz="2000" dirty="0" err="1"/>
              <a:t>múltiplos</a:t>
            </a:r>
            <a:r>
              <a:rPr lang="en-US" sz="2000" dirty="0"/>
              <a:t> </a:t>
            </a:r>
            <a:r>
              <a:rPr lang="en-US" sz="2000" dirty="0" err="1"/>
              <a:t>servidores</a:t>
            </a:r>
            <a:r>
              <a:rPr lang="en-US" sz="2000" dirty="0"/>
              <a:t> </a:t>
            </a:r>
            <a:r>
              <a:rPr lang="en-US" sz="2000" dirty="0" err="1"/>
              <a:t>trabalham</a:t>
            </a:r>
            <a:r>
              <a:rPr lang="en-US" sz="2000" dirty="0"/>
              <a:t> para </a:t>
            </a:r>
            <a:r>
              <a:rPr lang="en-US" sz="2000" dirty="0" err="1"/>
              <a:t>fornecer</a:t>
            </a:r>
            <a:r>
              <a:rPr lang="en-US" sz="2000" dirty="0"/>
              <a:t> </a:t>
            </a:r>
            <a:r>
              <a:rPr lang="en-US" sz="2000" dirty="0" err="1"/>
              <a:t>armazenamento</a:t>
            </a:r>
            <a:r>
              <a:rPr lang="en-US" sz="2000" dirty="0"/>
              <a:t> e </a:t>
            </a:r>
            <a:r>
              <a:rPr lang="en-US" sz="2000" dirty="0" err="1"/>
              <a:t>computação</a:t>
            </a:r>
            <a:r>
              <a:rPr lang="en-US" sz="2000" dirty="0"/>
              <a:t> </a:t>
            </a:r>
            <a:r>
              <a:rPr lang="en-US" sz="2000" dirty="0" err="1"/>
              <a:t>distribuídos</a:t>
            </a:r>
            <a:r>
              <a:rPr lang="en-US" sz="2000" dirty="0"/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000" b="1" dirty="0"/>
              <a:t>Redes P2P (Peer-to-Peer):</a:t>
            </a:r>
            <a:r>
              <a:rPr lang="en-US" sz="2000" dirty="0"/>
              <a:t> Sistemas </a:t>
            </a:r>
            <a:r>
              <a:rPr lang="en-US" sz="2000" dirty="0" err="1"/>
              <a:t>como</a:t>
            </a:r>
            <a:r>
              <a:rPr lang="en-US" sz="2000" dirty="0"/>
              <a:t> o BitTorrent, </a:t>
            </a:r>
            <a:r>
              <a:rPr lang="en-US" sz="2000" dirty="0" err="1"/>
              <a:t>onde</a:t>
            </a:r>
            <a:r>
              <a:rPr lang="en-US" sz="2000" dirty="0"/>
              <a:t> </a:t>
            </a:r>
            <a:r>
              <a:rPr lang="en-US" sz="2000" dirty="0" err="1"/>
              <a:t>múltiplos</a:t>
            </a:r>
            <a:r>
              <a:rPr lang="en-US" sz="2000" dirty="0"/>
              <a:t> </a:t>
            </a:r>
            <a:r>
              <a:rPr lang="en-US" sz="2000" dirty="0" err="1"/>
              <a:t>utilizadores</a:t>
            </a:r>
            <a:r>
              <a:rPr lang="en-US" sz="2000" dirty="0"/>
              <a:t> </a:t>
            </a:r>
            <a:r>
              <a:rPr lang="en-US" sz="2000" dirty="0" err="1"/>
              <a:t>partilham</a:t>
            </a:r>
            <a:r>
              <a:rPr lang="en-US" sz="2000" dirty="0"/>
              <a:t> </a:t>
            </a:r>
            <a:r>
              <a:rPr lang="en-US" sz="2000" dirty="0" err="1"/>
              <a:t>recursos</a:t>
            </a:r>
            <a:r>
              <a:rPr lang="en-US" sz="2000" dirty="0"/>
              <a:t> </a:t>
            </a:r>
            <a:r>
              <a:rPr lang="en-US" sz="2000" dirty="0" err="1"/>
              <a:t>sem</a:t>
            </a:r>
            <a:r>
              <a:rPr lang="en-US" sz="2000" dirty="0"/>
              <a:t> um </a:t>
            </a:r>
            <a:r>
              <a:rPr lang="en-US" sz="2000" dirty="0" err="1"/>
              <a:t>servidor</a:t>
            </a:r>
            <a:r>
              <a:rPr lang="en-US" sz="2000" dirty="0"/>
              <a:t> central.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000" b="1" dirty="0" err="1"/>
              <a:t>Computação</a:t>
            </a:r>
            <a:r>
              <a:rPr lang="en-US" sz="2000" b="1" dirty="0"/>
              <a:t> </a:t>
            </a:r>
            <a:r>
              <a:rPr lang="en-US" sz="2000" b="1" dirty="0" err="1"/>
              <a:t>Científica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Simulações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física</a:t>
            </a:r>
            <a:r>
              <a:rPr lang="en-US" sz="2000" dirty="0"/>
              <a:t>, </a:t>
            </a:r>
            <a:r>
              <a:rPr lang="en-US" sz="2000" dirty="0" err="1"/>
              <a:t>química</a:t>
            </a:r>
            <a:r>
              <a:rPr lang="en-US" sz="2000" dirty="0"/>
              <a:t> e </a:t>
            </a:r>
            <a:r>
              <a:rPr lang="en-US" sz="2000" dirty="0" err="1"/>
              <a:t>biologia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exigem</a:t>
            </a:r>
            <a:r>
              <a:rPr lang="en-US" sz="2000" dirty="0"/>
              <a:t> </a:t>
            </a:r>
            <a:r>
              <a:rPr lang="en-US" sz="2000" dirty="0" err="1"/>
              <a:t>elevado</a:t>
            </a:r>
            <a:r>
              <a:rPr lang="en-US" sz="2000" dirty="0"/>
              <a:t> </a:t>
            </a:r>
            <a:r>
              <a:rPr lang="en-US" sz="2000" dirty="0" err="1"/>
              <a:t>poder</a:t>
            </a:r>
            <a:r>
              <a:rPr lang="en-US" sz="2000" dirty="0"/>
              <a:t> de </a:t>
            </a:r>
            <a:r>
              <a:rPr lang="en-US" sz="2000" dirty="0" err="1"/>
              <a:t>computação</a:t>
            </a:r>
            <a:r>
              <a:rPr lang="en-US" sz="2000" dirty="0"/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000" dirty="0"/>
              <a:t>Estes </a:t>
            </a:r>
            <a:r>
              <a:rPr lang="en-US" sz="2000" dirty="0" err="1"/>
              <a:t>sistemas</a:t>
            </a:r>
            <a:r>
              <a:rPr lang="en-US" sz="2000" dirty="0"/>
              <a:t> </a:t>
            </a:r>
            <a:r>
              <a:rPr lang="en-US" sz="2000" dirty="0" err="1"/>
              <a:t>oferecem</a:t>
            </a:r>
            <a:r>
              <a:rPr lang="en-US" sz="2000" dirty="0"/>
              <a:t> </a:t>
            </a:r>
            <a:r>
              <a:rPr lang="en-US" sz="2000" dirty="0" err="1"/>
              <a:t>grande</a:t>
            </a:r>
            <a:r>
              <a:rPr lang="en-US" sz="2000" dirty="0"/>
              <a:t> </a:t>
            </a:r>
            <a:r>
              <a:rPr lang="en-US" sz="2000" dirty="0" err="1"/>
              <a:t>escalabilidade</a:t>
            </a:r>
            <a:r>
              <a:rPr lang="en-US" sz="2000" dirty="0"/>
              <a:t> e </a:t>
            </a:r>
            <a:r>
              <a:rPr lang="en-US" sz="2000" dirty="0" err="1"/>
              <a:t>tolerância</a:t>
            </a:r>
            <a:r>
              <a:rPr lang="en-US" sz="2000" dirty="0"/>
              <a:t> a </a:t>
            </a:r>
            <a:r>
              <a:rPr lang="en-US" sz="2000" dirty="0" err="1"/>
              <a:t>falhas</a:t>
            </a:r>
            <a:r>
              <a:rPr lang="en-US" sz="2000" dirty="0"/>
              <a:t> (se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máquina</a:t>
            </a:r>
            <a:r>
              <a:rPr lang="en-US" sz="2000" dirty="0"/>
              <a:t> </a:t>
            </a:r>
            <a:r>
              <a:rPr lang="en-US" sz="2000" dirty="0" err="1"/>
              <a:t>falha</a:t>
            </a:r>
            <a:r>
              <a:rPr lang="en-US" sz="2000" dirty="0"/>
              <a:t>, </a:t>
            </a:r>
            <a:r>
              <a:rPr lang="en-US" sz="2000" dirty="0" err="1"/>
              <a:t>outras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</a:t>
            </a:r>
            <a:r>
              <a:rPr lang="en-US" sz="2000" dirty="0" err="1"/>
              <a:t>assumir</a:t>
            </a:r>
            <a:r>
              <a:rPr lang="en-US" sz="2000" dirty="0"/>
              <a:t> o </a:t>
            </a:r>
            <a:r>
              <a:rPr lang="en-US" sz="2000" dirty="0" err="1"/>
              <a:t>seu</a:t>
            </a:r>
            <a:r>
              <a:rPr lang="en-US" sz="2000" dirty="0"/>
              <a:t> </a:t>
            </a:r>
            <a:r>
              <a:rPr lang="en-US" sz="2000" dirty="0" err="1"/>
              <a:t>papel</a:t>
            </a:r>
            <a:r>
              <a:rPr lang="en-US" sz="2000" dirty="0"/>
              <a:t>), mas </a:t>
            </a:r>
            <a:r>
              <a:rPr lang="en-US" sz="2000" dirty="0" err="1"/>
              <a:t>envolvem</a:t>
            </a:r>
            <a:r>
              <a:rPr lang="en-US" sz="2000" dirty="0"/>
              <a:t> </a:t>
            </a:r>
            <a:r>
              <a:rPr lang="en-US" sz="2000" dirty="0" err="1"/>
              <a:t>complexidade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gestão</a:t>
            </a:r>
            <a:r>
              <a:rPr lang="en-US" sz="2000" dirty="0"/>
              <a:t> da </a:t>
            </a:r>
            <a:r>
              <a:rPr lang="en-US" sz="2000" dirty="0" err="1"/>
              <a:t>comunicação</a:t>
            </a:r>
            <a:r>
              <a:rPr lang="en-US" sz="2000" dirty="0"/>
              <a:t> e </a:t>
            </a:r>
            <a:r>
              <a:rPr lang="en-US" sz="2000" dirty="0" err="1"/>
              <a:t>sincronização</a:t>
            </a:r>
            <a:r>
              <a:rPr lang="en-US" sz="2000" dirty="0"/>
              <a:t> entre as </a:t>
            </a:r>
            <a:r>
              <a:rPr lang="en-US" sz="2000" dirty="0" err="1"/>
              <a:t>máquinas</a:t>
            </a:r>
            <a:r>
              <a:rPr lang="en-US" sz="2000" dirty="0"/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000" dirty="0" err="1"/>
              <a:t>Exemplo</a:t>
            </a:r>
            <a:r>
              <a:rPr lang="en-US" sz="2000" dirty="0"/>
              <a:t> de SO </a:t>
            </a:r>
            <a:r>
              <a:rPr lang="en-US" sz="2000" dirty="0" err="1"/>
              <a:t>Distribuído</a:t>
            </a:r>
            <a:r>
              <a:rPr lang="en-US" sz="2000" dirty="0"/>
              <a:t>: </a:t>
            </a:r>
            <a:r>
              <a:rPr lang="en-US" sz="2000" b="1" dirty="0"/>
              <a:t>Hadoop YARN, Apache Spark.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7B0D3E0-99AA-94D8-21EC-176656226B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Tipos</a:t>
            </a:r>
            <a:r>
              <a:rPr lang="en-US" dirty="0"/>
              <a:t> de Sistemas e Ambientes </a:t>
            </a:r>
            <a:r>
              <a:rPr lang="en-US" dirty="0" err="1"/>
              <a:t>Especializados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75174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/>
              <a:t>Sistemas Mobile e IoT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Com o </a:t>
            </a:r>
            <a:r>
              <a:rPr lang="en-US" sz="1800" dirty="0" err="1"/>
              <a:t>aumento</a:t>
            </a:r>
            <a:r>
              <a:rPr lang="en-US" sz="1800" dirty="0"/>
              <a:t> dos </a:t>
            </a:r>
            <a:r>
              <a:rPr lang="en-US" sz="1800" dirty="0" err="1"/>
              <a:t>dispositivos</a:t>
            </a:r>
            <a:r>
              <a:rPr lang="en-US" sz="1800" dirty="0"/>
              <a:t> </a:t>
            </a:r>
            <a:r>
              <a:rPr lang="en-US" sz="1800" dirty="0" err="1"/>
              <a:t>móveis</a:t>
            </a:r>
            <a:r>
              <a:rPr lang="en-US" sz="1800" dirty="0"/>
              <a:t> e IoT (Internet of Things), </a:t>
            </a:r>
            <a:r>
              <a:rPr lang="en-US" sz="1800" dirty="0" err="1"/>
              <a:t>surgiram</a:t>
            </a:r>
            <a:r>
              <a:rPr lang="en-US" sz="1800" dirty="0"/>
              <a:t>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operativos</a:t>
            </a:r>
            <a:r>
              <a:rPr lang="en-US" sz="1800" dirty="0"/>
              <a:t> </a:t>
            </a:r>
            <a:r>
              <a:rPr lang="en-US" sz="1800" dirty="0" err="1"/>
              <a:t>específicos</a:t>
            </a:r>
            <a:r>
              <a:rPr lang="en-US" sz="1800" dirty="0"/>
              <a:t> para </a:t>
            </a:r>
            <a:r>
              <a:rPr lang="en-US" sz="1800" dirty="0" err="1"/>
              <a:t>estes</a:t>
            </a:r>
            <a:r>
              <a:rPr lang="en-US" sz="1800" dirty="0"/>
              <a:t> ambientes, </a:t>
            </a:r>
            <a:r>
              <a:rPr lang="en-US" sz="1800" dirty="0" err="1"/>
              <a:t>como</a:t>
            </a:r>
            <a:r>
              <a:rPr lang="en-US" sz="1800" dirty="0"/>
              <a:t> Android e iOS para smartphones, e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leves</a:t>
            </a:r>
            <a:r>
              <a:rPr lang="en-US" sz="1800" dirty="0"/>
              <a:t> para IoT: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Android: </a:t>
            </a:r>
            <a:r>
              <a:rPr lang="en-US" sz="1800" dirty="0" err="1"/>
              <a:t>Baseado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Linux, </a:t>
            </a:r>
            <a:r>
              <a:rPr lang="en-US" sz="1800" dirty="0" err="1"/>
              <a:t>otimizado</a:t>
            </a:r>
            <a:r>
              <a:rPr lang="en-US" sz="1800" dirty="0"/>
              <a:t> para </a:t>
            </a:r>
            <a:r>
              <a:rPr lang="en-US" sz="1800" dirty="0" err="1"/>
              <a:t>dispositivos</a:t>
            </a:r>
            <a:r>
              <a:rPr lang="en-US" sz="1800" dirty="0"/>
              <a:t> </a:t>
            </a:r>
            <a:r>
              <a:rPr lang="en-US" sz="1800" dirty="0" err="1"/>
              <a:t>móveis</a:t>
            </a:r>
            <a:r>
              <a:rPr lang="en-US" sz="1800" dirty="0"/>
              <a:t>, com forte </a:t>
            </a:r>
            <a:r>
              <a:rPr lang="en-US" sz="1800" dirty="0" err="1"/>
              <a:t>integração</a:t>
            </a:r>
            <a:r>
              <a:rPr lang="en-US" sz="1800" dirty="0"/>
              <a:t> com as </a:t>
            </a:r>
            <a:r>
              <a:rPr lang="en-US" sz="1800" dirty="0" err="1"/>
              <a:t>funcionalidades</a:t>
            </a:r>
            <a:r>
              <a:rPr lang="en-US" sz="1800" dirty="0"/>
              <a:t> do hardware.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iOS: </a:t>
            </a:r>
            <a:r>
              <a:rPr lang="en-US" sz="1800" dirty="0" err="1"/>
              <a:t>Utilizado</a:t>
            </a:r>
            <a:r>
              <a:rPr lang="en-US" sz="1800" dirty="0"/>
              <a:t> </a:t>
            </a:r>
            <a:r>
              <a:rPr lang="en-US" sz="1800" dirty="0" err="1"/>
              <a:t>nos</a:t>
            </a:r>
            <a:r>
              <a:rPr lang="en-US" sz="1800" dirty="0"/>
              <a:t> </a:t>
            </a:r>
            <a:r>
              <a:rPr lang="en-US" sz="1800" dirty="0" err="1"/>
              <a:t>dispositivos</a:t>
            </a:r>
            <a:r>
              <a:rPr lang="en-US" sz="1800" dirty="0"/>
              <a:t> da Apple, </a:t>
            </a:r>
            <a:r>
              <a:rPr lang="en-US" sz="1800" dirty="0" err="1"/>
              <a:t>como</a:t>
            </a:r>
            <a:r>
              <a:rPr lang="en-US" sz="1800" dirty="0"/>
              <a:t> iPhones e iPads, com um </a:t>
            </a:r>
            <a:r>
              <a:rPr lang="en-US" sz="1800" dirty="0" err="1"/>
              <a:t>foco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segurança</a:t>
            </a:r>
            <a:r>
              <a:rPr lang="en-US" sz="1800" dirty="0"/>
              <a:t> e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integração</a:t>
            </a:r>
            <a:r>
              <a:rPr lang="en-US" sz="1800" dirty="0"/>
              <a:t> do </a:t>
            </a:r>
            <a:r>
              <a:rPr lang="en-US" sz="1800" dirty="0" err="1"/>
              <a:t>ecossistema</a:t>
            </a:r>
            <a:r>
              <a:rPr lang="en-US" sz="1800" dirty="0"/>
              <a:t> Apple.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IoT Systems: </a:t>
            </a:r>
            <a:r>
              <a:rPr lang="en-US" sz="1800" dirty="0"/>
              <a:t>Para </a:t>
            </a:r>
            <a:r>
              <a:rPr lang="en-US" sz="1800" dirty="0" err="1"/>
              <a:t>dispositivos</a:t>
            </a:r>
            <a:r>
              <a:rPr lang="en-US" sz="1800" dirty="0"/>
              <a:t> IoT,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sensores</a:t>
            </a:r>
            <a:r>
              <a:rPr lang="en-US" sz="1800" dirty="0"/>
              <a:t> e </a:t>
            </a:r>
            <a:r>
              <a:rPr lang="en-US" sz="1800" dirty="0" err="1"/>
              <a:t>controladores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casas </a:t>
            </a:r>
            <a:r>
              <a:rPr lang="en-US" sz="1800" dirty="0" err="1"/>
              <a:t>inteligentes</a:t>
            </a:r>
            <a:r>
              <a:rPr lang="en-US" sz="1800" dirty="0"/>
              <a:t>, </a:t>
            </a:r>
            <a:r>
              <a:rPr lang="en-US" sz="1800" dirty="0" err="1"/>
              <a:t>existem</a:t>
            </a:r>
            <a:r>
              <a:rPr lang="en-US" sz="1800" dirty="0"/>
              <a:t> SOs </a:t>
            </a:r>
            <a:r>
              <a:rPr lang="en-US" sz="1800" dirty="0" err="1"/>
              <a:t>altamente</a:t>
            </a:r>
            <a:r>
              <a:rPr lang="en-US" sz="1800" dirty="0"/>
              <a:t> </a:t>
            </a:r>
            <a:r>
              <a:rPr lang="en-US" sz="1800" dirty="0" err="1"/>
              <a:t>leves</a:t>
            </a:r>
            <a:r>
              <a:rPr lang="en-US" sz="1800" dirty="0"/>
              <a:t> e </a:t>
            </a:r>
            <a:r>
              <a:rPr lang="en-US" sz="1800" dirty="0" err="1"/>
              <a:t>eficientes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funcionam</a:t>
            </a:r>
            <a:r>
              <a:rPr lang="en-US" sz="1800" dirty="0"/>
              <a:t> com </a:t>
            </a:r>
            <a:r>
              <a:rPr lang="en-US" sz="1800" dirty="0" err="1"/>
              <a:t>energia</a:t>
            </a:r>
            <a:r>
              <a:rPr lang="en-US" sz="1800" dirty="0"/>
              <a:t> </a:t>
            </a:r>
            <a:r>
              <a:rPr lang="en-US" sz="1800" dirty="0" err="1"/>
              <a:t>mínima</a:t>
            </a:r>
            <a:r>
              <a:rPr lang="en-US" sz="1800" dirty="0"/>
              <a:t> e </a:t>
            </a:r>
            <a:r>
              <a:rPr lang="en-US" sz="1800" dirty="0" err="1"/>
              <a:t>processadores</a:t>
            </a:r>
            <a:r>
              <a:rPr lang="en-US" sz="1800" dirty="0"/>
              <a:t> de </a:t>
            </a:r>
            <a:r>
              <a:rPr lang="en-US" sz="1800" dirty="0" err="1"/>
              <a:t>baixa</a:t>
            </a:r>
            <a:r>
              <a:rPr lang="en-US" sz="1800" dirty="0"/>
              <a:t> </a:t>
            </a:r>
            <a:r>
              <a:rPr lang="en-US" sz="1800" dirty="0" err="1"/>
              <a:t>potência</a:t>
            </a:r>
            <a:r>
              <a:rPr lang="en-US" sz="18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operativos</a:t>
            </a:r>
            <a:r>
              <a:rPr lang="en-US" sz="1800" dirty="0"/>
              <a:t> de IoT, </a:t>
            </a:r>
            <a:r>
              <a:rPr lang="en-US" sz="1800" dirty="0" err="1"/>
              <a:t>como</a:t>
            </a:r>
            <a:r>
              <a:rPr lang="en-US" sz="1800" dirty="0"/>
              <a:t> o </a:t>
            </a:r>
            <a:r>
              <a:rPr lang="en-US" sz="1800" b="1" dirty="0"/>
              <a:t>Contiki</a:t>
            </a:r>
            <a:r>
              <a:rPr lang="en-US" sz="1800" dirty="0"/>
              <a:t>, </a:t>
            </a:r>
            <a:r>
              <a:rPr lang="en-US" sz="1800" dirty="0" err="1"/>
              <a:t>permitem</a:t>
            </a:r>
            <a:r>
              <a:rPr lang="en-US" sz="1800" dirty="0"/>
              <a:t> a </a:t>
            </a:r>
            <a:r>
              <a:rPr lang="en-US" sz="1800" dirty="0" err="1"/>
              <a:t>gestão</a:t>
            </a:r>
            <a:r>
              <a:rPr lang="en-US" sz="1800" dirty="0"/>
              <a:t> de </a:t>
            </a:r>
            <a:r>
              <a:rPr lang="en-US" sz="1800" dirty="0" err="1"/>
              <a:t>grandes</a:t>
            </a:r>
            <a:r>
              <a:rPr lang="en-US" sz="1800" dirty="0"/>
              <a:t> redes de </a:t>
            </a:r>
            <a:r>
              <a:rPr lang="en-US" sz="1800" dirty="0" err="1"/>
              <a:t>dispositivos</a:t>
            </a:r>
            <a:r>
              <a:rPr lang="en-US" sz="1800" dirty="0"/>
              <a:t>, </a:t>
            </a:r>
            <a:r>
              <a:rPr lang="en-US" sz="1800" dirty="0" err="1"/>
              <a:t>onde</a:t>
            </a:r>
            <a:r>
              <a:rPr lang="en-US" sz="1800" dirty="0"/>
              <a:t> </a:t>
            </a:r>
            <a:r>
              <a:rPr lang="en-US" sz="1800" dirty="0" err="1"/>
              <a:t>cada</a:t>
            </a:r>
            <a:r>
              <a:rPr lang="en-US" sz="1800" dirty="0"/>
              <a:t> </a:t>
            </a:r>
            <a:r>
              <a:rPr lang="en-US" sz="1800" dirty="0" err="1"/>
              <a:t>dispositivo</a:t>
            </a:r>
            <a:r>
              <a:rPr lang="en-US" sz="1800" dirty="0"/>
              <a:t> </a:t>
            </a:r>
            <a:r>
              <a:rPr lang="en-US" sz="1800" dirty="0" err="1"/>
              <a:t>pode</a:t>
            </a:r>
            <a:r>
              <a:rPr lang="en-US" sz="1800" dirty="0"/>
              <a:t> </a:t>
            </a:r>
            <a:r>
              <a:rPr lang="en-US" sz="1800" dirty="0" err="1"/>
              <a:t>comunicar</a:t>
            </a:r>
            <a:r>
              <a:rPr lang="en-US" sz="1800" dirty="0"/>
              <a:t> e </a:t>
            </a:r>
            <a:r>
              <a:rPr lang="en-US" sz="1800" dirty="0" err="1"/>
              <a:t>partilhar</a:t>
            </a:r>
            <a:r>
              <a:rPr lang="en-US" sz="1800" dirty="0"/>
              <a:t> dados com </a:t>
            </a:r>
            <a:r>
              <a:rPr lang="en-US" sz="1800" dirty="0" err="1"/>
              <a:t>os</a:t>
            </a:r>
            <a:r>
              <a:rPr lang="en-US" sz="1800" dirty="0"/>
              <a:t> outros. Em </a:t>
            </a:r>
            <a:r>
              <a:rPr lang="en-US" sz="1800" dirty="0" err="1"/>
              <a:t>termos</a:t>
            </a:r>
            <a:r>
              <a:rPr lang="en-US" sz="1800" dirty="0"/>
              <a:t> de </a:t>
            </a:r>
            <a:r>
              <a:rPr lang="en-US" sz="1800" dirty="0" err="1"/>
              <a:t>segurança</a:t>
            </a:r>
            <a:r>
              <a:rPr lang="en-US" sz="1800" dirty="0"/>
              <a:t> e </a:t>
            </a:r>
            <a:r>
              <a:rPr lang="en-US" sz="1800" dirty="0" err="1"/>
              <a:t>atualizações</a:t>
            </a:r>
            <a:r>
              <a:rPr lang="en-US" sz="1800" dirty="0"/>
              <a:t>, o </a:t>
            </a:r>
            <a:r>
              <a:rPr lang="en-US" sz="1800" dirty="0" err="1"/>
              <a:t>foco</a:t>
            </a:r>
            <a:r>
              <a:rPr lang="en-US" sz="1800" dirty="0"/>
              <a:t> </a:t>
            </a:r>
            <a:r>
              <a:rPr lang="en-US" sz="1800" dirty="0" err="1"/>
              <a:t>está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minimizar</a:t>
            </a:r>
            <a:r>
              <a:rPr lang="en-US" sz="1800" dirty="0"/>
              <a:t> </a:t>
            </a:r>
            <a:r>
              <a:rPr lang="en-US" sz="1800" dirty="0" err="1"/>
              <a:t>vulnerabilidades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possam</a:t>
            </a:r>
            <a:r>
              <a:rPr lang="en-US" sz="1800" dirty="0"/>
              <a:t> ser </a:t>
            </a:r>
            <a:r>
              <a:rPr lang="en-US" sz="1800" dirty="0" err="1"/>
              <a:t>exploradas</a:t>
            </a:r>
            <a:r>
              <a:rPr lang="en-US" sz="1800" dirty="0"/>
              <a:t> </a:t>
            </a:r>
            <a:r>
              <a:rPr lang="en-US" sz="1800" dirty="0" err="1"/>
              <a:t>numa</a:t>
            </a:r>
            <a:r>
              <a:rPr lang="en-US" sz="1800" dirty="0"/>
              <a:t> </a:t>
            </a:r>
            <a:r>
              <a:rPr lang="en-US" sz="1800" dirty="0" err="1"/>
              <a:t>vasta</a:t>
            </a:r>
            <a:r>
              <a:rPr lang="en-US" sz="1800" dirty="0"/>
              <a:t> rede de </a:t>
            </a:r>
            <a:r>
              <a:rPr lang="en-US" sz="1800" dirty="0" err="1"/>
              <a:t>dispositivos</a:t>
            </a:r>
            <a:r>
              <a:rPr lang="en-US" sz="1800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80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 err="1"/>
              <a:t>Exemplo</a:t>
            </a:r>
            <a:r>
              <a:rPr lang="en-US" sz="1800" dirty="0"/>
              <a:t> de SO para IoT:</a:t>
            </a:r>
            <a:r>
              <a:rPr lang="en-US" sz="1800" b="1" dirty="0"/>
              <a:t> </a:t>
            </a:r>
            <a:r>
              <a:rPr lang="en-US" sz="1800" b="1" dirty="0" err="1"/>
              <a:t>FreeRTOS</a:t>
            </a:r>
            <a:r>
              <a:rPr lang="en-US" sz="1800" b="1" dirty="0"/>
              <a:t>, </a:t>
            </a:r>
            <a:r>
              <a:rPr lang="en-US" sz="1800" b="1" dirty="0" err="1"/>
              <a:t>TinyOS</a:t>
            </a:r>
            <a:r>
              <a:rPr lang="en-US" sz="1800" b="1" dirty="0"/>
              <a:t>, </a:t>
            </a:r>
            <a:r>
              <a:rPr lang="en-US" sz="1800" b="1" dirty="0" err="1"/>
              <a:t>OpenWrt</a:t>
            </a:r>
            <a:r>
              <a:rPr lang="en-US" sz="1800" b="1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3A61758-3247-6459-4F9A-FB227E9CC3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Tipos</a:t>
            </a:r>
            <a:r>
              <a:rPr lang="en-US" dirty="0"/>
              <a:t> de Sistemas e Ambientes </a:t>
            </a:r>
            <a:r>
              <a:rPr lang="en-US" dirty="0" err="1"/>
              <a:t>Especializados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serviços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operativo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fundamentais</a:t>
            </a:r>
            <a:r>
              <a:rPr lang="en-US" sz="2000" dirty="0"/>
              <a:t> para o </a:t>
            </a:r>
            <a:r>
              <a:rPr lang="en-US" sz="2000" dirty="0" err="1"/>
              <a:t>funcionamento</a:t>
            </a:r>
            <a:r>
              <a:rPr lang="en-US" sz="2000" dirty="0"/>
              <a:t> de </a:t>
            </a:r>
            <a:r>
              <a:rPr lang="en-US" sz="2000" dirty="0" err="1"/>
              <a:t>qualquer</a:t>
            </a:r>
            <a:r>
              <a:rPr lang="en-US" sz="2000" dirty="0"/>
              <a:t> </a:t>
            </a:r>
            <a:r>
              <a:rPr lang="en-US" sz="2000" dirty="0" err="1"/>
              <a:t>computador</a:t>
            </a:r>
            <a:r>
              <a:rPr lang="en-US" sz="2000" dirty="0"/>
              <a:t>, pois </a:t>
            </a:r>
            <a:r>
              <a:rPr lang="en-US" sz="2000" dirty="0" err="1"/>
              <a:t>permitem</a:t>
            </a:r>
            <a:r>
              <a:rPr lang="en-US" sz="2000" dirty="0"/>
              <a:t> a </a:t>
            </a:r>
            <a:r>
              <a:rPr lang="en-US" sz="2000" dirty="0" err="1"/>
              <a:t>comunicação</a:t>
            </a:r>
            <a:r>
              <a:rPr lang="en-US" sz="2000" dirty="0"/>
              <a:t> e a </a:t>
            </a:r>
            <a:r>
              <a:rPr lang="en-US" sz="2000" dirty="0" err="1"/>
              <a:t>gestão</a:t>
            </a:r>
            <a:r>
              <a:rPr lang="en-US" sz="2000" dirty="0"/>
              <a:t> </a:t>
            </a:r>
            <a:r>
              <a:rPr lang="en-US" sz="2000" dirty="0" err="1"/>
              <a:t>eficiente</a:t>
            </a:r>
            <a:r>
              <a:rPr lang="en-US" sz="2000" dirty="0"/>
              <a:t> entre software e hardware. Estes </a:t>
            </a:r>
            <a:r>
              <a:rPr lang="en-US" sz="2000" dirty="0" err="1"/>
              <a:t>serviços</a:t>
            </a:r>
            <a:r>
              <a:rPr lang="en-US" sz="2000" dirty="0"/>
              <a:t> </a:t>
            </a:r>
            <a:r>
              <a:rPr lang="en-US" sz="2000" dirty="0" err="1"/>
              <a:t>facilitam</a:t>
            </a:r>
            <a:r>
              <a:rPr lang="en-US" sz="2000" dirty="0"/>
              <a:t> a </a:t>
            </a:r>
            <a:r>
              <a:rPr lang="en-US" sz="2000" dirty="0" err="1"/>
              <a:t>interação</a:t>
            </a:r>
            <a:r>
              <a:rPr lang="en-US" sz="2000" dirty="0"/>
              <a:t> entre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processos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e </a:t>
            </a:r>
            <a:r>
              <a:rPr lang="en-US" sz="2000" dirty="0" err="1"/>
              <a:t>ajudam</a:t>
            </a:r>
            <a:r>
              <a:rPr lang="en-US" sz="2000" dirty="0"/>
              <a:t> a </a:t>
            </a:r>
            <a:r>
              <a:rPr lang="en-US" sz="2000" dirty="0" err="1"/>
              <a:t>garantir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recursos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usados</a:t>
            </a:r>
            <a:r>
              <a:rPr lang="en-US" sz="2000" dirty="0"/>
              <a:t> de forma </a:t>
            </a:r>
            <a:r>
              <a:rPr lang="en-US" sz="2000" dirty="0" err="1"/>
              <a:t>organizada</a:t>
            </a:r>
            <a:r>
              <a:rPr lang="en-US" sz="20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A021D9-3440-EF24-02DC-E1BAC96B8C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Servi</a:t>
            </a:r>
            <a:r>
              <a:rPr lang="pt-BR" altLang="en-US" dirty="0" err="1"/>
              <a:t>c</a:t>
            </a:r>
            <a:r>
              <a:rPr lang="en-US" dirty="0" err="1"/>
              <a:t>os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 err="1"/>
              <a:t>Gestão</a:t>
            </a:r>
            <a:r>
              <a:rPr lang="en-US" sz="2000" b="1" dirty="0"/>
              <a:t> de </a:t>
            </a:r>
            <a:r>
              <a:rPr lang="en-US" sz="2000" b="1" dirty="0" err="1"/>
              <a:t>Arquivos</a:t>
            </a:r>
            <a:r>
              <a:rPr lang="en-US" sz="2000" b="1" dirty="0"/>
              <a:t>: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Um dos </a:t>
            </a:r>
            <a:r>
              <a:rPr lang="en-US" sz="2000" dirty="0" err="1"/>
              <a:t>serviços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importantes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operativo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a </a:t>
            </a:r>
            <a:r>
              <a:rPr lang="en-US" sz="2000" dirty="0" err="1"/>
              <a:t>gestão</a:t>
            </a:r>
            <a:r>
              <a:rPr lang="en-US" sz="2000" dirty="0"/>
              <a:t> de </a:t>
            </a:r>
            <a:r>
              <a:rPr lang="en-US" sz="2000" dirty="0" err="1"/>
              <a:t>arquivos</a:t>
            </a:r>
            <a:r>
              <a:rPr lang="en-US" sz="2000" dirty="0"/>
              <a:t>,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envolve</a:t>
            </a:r>
            <a:r>
              <a:rPr lang="en-US" sz="2000" dirty="0"/>
              <a:t> a </a:t>
            </a:r>
            <a:r>
              <a:rPr lang="en-US" sz="2000" dirty="0" err="1"/>
              <a:t>criação</a:t>
            </a:r>
            <a:r>
              <a:rPr lang="en-US" sz="2000" dirty="0"/>
              <a:t>, </a:t>
            </a:r>
            <a:r>
              <a:rPr lang="en-US" sz="2000" dirty="0" err="1"/>
              <a:t>leitura</a:t>
            </a:r>
            <a:r>
              <a:rPr lang="en-US" sz="2000" dirty="0"/>
              <a:t>, </a:t>
            </a:r>
            <a:r>
              <a:rPr lang="en-US" sz="2000" dirty="0" err="1"/>
              <a:t>escrita</a:t>
            </a:r>
            <a:r>
              <a:rPr lang="en-US" sz="2000" dirty="0"/>
              <a:t>, e </a:t>
            </a:r>
            <a:r>
              <a:rPr lang="en-US" sz="2000" dirty="0" err="1"/>
              <a:t>eliminação</a:t>
            </a:r>
            <a:r>
              <a:rPr lang="en-US" sz="2000" dirty="0"/>
              <a:t> de </a:t>
            </a:r>
            <a:r>
              <a:rPr lang="en-US" sz="2000" dirty="0" err="1"/>
              <a:t>arquivos</a:t>
            </a:r>
            <a:r>
              <a:rPr lang="en-US" sz="2000" dirty="0"/>
              <a:t> no disco </a:t>
            </a:r>
            <a:r>
              <a:rPr lang="en-US" sz="2000" dirty="0" err="1"/>
              <a:t>rígido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outros </a:t>
            </a:r>
            <a:r>
              <a:rPr lang="en-US" sz="2000" dirty="0" err="1"/>
              <a:t>meios</a:t>
            </a:r>
            <a:r>
              <a:rPr lang="en-US" sz="2000" dirty="0"/>
              <a:t> de </a:t>
            </a:r>
            <a:r>
              <a:rPr lang="en-US" sz="2000" dirty="0" err="1"/>
              <a:t>armazenamento</a:t>
            </a:r>
            <a:r>
              <a:rPr lang="en-US" sz="2000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sistemas</a:t>
            </a:r>
            <a:r>
              <a:rPr lang="en-US" sz="2000" dirty="0"/>
              <a:t> </a:t>
            </a:r>
            <a:r>
              <a:rPr lang="en-US" sz="2000" dirty="0" err="1"/>
              <a:t>operativos</a:t>
            </a:r>
            <a:r>
              <a:rPr lang="en-US" sz="2000" dirty="0"/>
              <a:t> </a:t>
            </a:r>
            <a:r>
              <a:rPr lang="en-US" sz="2000" dirty="0" err="1"/>
              <a:t>mantêm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estrutura</a:t>
            </a:r>
            <a:r>
              <a:rPr lang="en-US" sz="2000" dirty="0"/>
              <a:t> </a:t>
            </a:r>
            <a:r>
              <a:rPr lang="en-US" sz="2000" dirty="0" err="1"/>
              <a:t>hierárquica</a:t>
            </a:r>
            <a:r>
              <a:rPr lang="en-US" sz="2000" dirty="0"/>
              <a:t> (pastas, </a:t>
            </a:r>
            <a:r>
              <a:rPr lang="en-US" sz="2000" dirty="0" err="1"/>
              <a:t>subpastas</a:t>
            </a:r>
            <a:r>
              <a:rPr lang="en-US" sz="2000" dirty="0"/>
              <a:t> e </a:t>
            </a:r>
            <a:r>
              <a:rPr lang="en-US" sz="2000" dirty="0" err="1"/>
              <a:t>arquivos</a:t>
            </a:r>
            <a:r>
              <a:rPr lang="en-US" sz="2000" dirty="0"/>
              <a:t>)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organiza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dados para </a:t>
            </a:r>
            <a:r>
              <a:rPr lang="en-US" sz="2000" dirty="0" err="1"/>
              <a:t>facilitar</a:t>
            </a:r>
            <a:r>
              <a:rPr lang="en-US" sz="2000" dirty="0"/>
              <a:t> o </a:t>
            </a:r>
            <a:r>
              <a:rPr lang="en-US" sz="2000" dirty="0" err="1"/>
              <a:t>acesso</a:t>
            </a:r>
            <a:r>
              <a:rPr lang="en-US" sz="2000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Por </a:t>
            </a:r>
            <a:r>
              <a:rPr lang="en-US" sz="2000" dirty="0" err="1"/>
              <a:t>exemplo</a:t>
            </a:r>
            <a:r>
              <a:rPr lang="en-US" sz="2000" dirty="0"/>
              <a:t>,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sistemas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o Windows e o Linux, </a:t>
            </a:r>
            <a:r>
              <a:rPr lang="en-US" sz="2000" dirty="0" err="1"/>
              <a:t>temos</a:t>
            </a:r>
            <a:r>
              <a:rPr lang="en-US" sz="2000" dirty="0"/>
              <a:t> </a:t>
            </a:r>
            <a:r>
              <a:rPr lang="en-US" sz="2000" dirty="0" err="1"/>
              <a:t>sistemas</a:t>
            </a:r>
            <a:r>
              <a:rPr lang="en-US" sz="2000" dirty="0"/>
              <a:t> de </a:t>
            </a:r>
            <a:r>
              <a:rPr lang="en-US" sz="2000" dirty="0" err="1"/>
              <a:t>ficheiros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NTFS, FAT32, e ext4.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14D7989-9CB6-C190-24E9-0663184ECE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Servi</a:t>
            </a:r>
            <a:r>
              <a:rPr lang="pt-BR" altLang="en-US" dirty="0" err="1"/>
              <a:t>c</a:t>
            </a:r>
            <a:r>
              <a:rPr lang="en-US" dirty="0" err="1"/>
              <a:t>os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 err="1"/>
              <a:t>Execução</a:t>
            </a:r>
            <a:r>
              <a:rPr lang="en-US" sz="2000" b="1" dirty="0"/>
              <a:t> de </a:t>
            </a:r>
            <a:r>
              <a:rPr lang="en-US" sz="2000" b="1" dirty="0" err="1"/>
              <a:t>Programas</a:t>
            </a:r>
            <a:r>
              <a:rPr lang="en-US" sz="2000" b="1" dirty="0"/>
              <a:t>: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 SO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responsável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carregar</a:t>
            </a:r>
            <a:r>
              <a:rPr lang="en-US" sz="2000" dirty="0"/>
              <a:t>, </a:t>
            </a:r>
            <a:r>
              <a:rPr lang="en-US" sz="2000" dirty="0" err="1"/>
              <a:t>iniciar</a:t>
            </a:r>
            <a:r>
              <a:rPr lang="en-US" sz="2000" dirty="0"/>
              <a:t>, </a:t>
            </a:r>
            <a:r>
              <a:rPr lang="en-US" sz="2000" dirty="0" err="1"/>
              <a:t>executar</a:t>
            </a:r>
            <a:r>
              <a:rPr lang="en-US" sz="2000" dirty="0"/>
              <a:t> e </a:t>
            </a:r>
            <a:r>
              <a:rPr lang="en-US" sz="2000" dirty="0" err="1"/>
              <a:t>terminar</a:t>
            </a:r>
            <a:r>
              <a:rPr lang="en-US" sz="2000" dirty="0"/>
              <a:t> </a:t>
            </a:r>
            <a:r>
              <a:rPr lang="en-US" sz="2000" dirty="0" err="1"/>
              <a:t>programas</a:t>
            </a:r>
            <a:r>
              <a:rPr lang="en-US" sz="2000" dirty="0"/>
              <a:t>. </a:t>
            </a:r>
            <a:r>
              <a:rPr lang="en-US" sz="2000" dirty="0" err="1"/>
              <a:t>Isso</a:t>
            </a:r>
            <a:r>
              <a:rPr lang="en-US" sz="2000" dirty="0"/>
              <a:t> </a:t>
            </a:r>
            <a:r>
              <a:rPr lang="en-US" sz="2000" dirty="0" err="1"/>
              <a:t>envolve</a:t>
            </a:r>
            <a:r>
              <a:rPr lang="en-US" sz="2000" dirty="0"/>
              <a:t> a </a:t>
            </a:r>
            <a:r>
              <a:rPr lang="en-US" sz="2000" dirty="0" err="1"/>
              <a:t>gestão</a:t>
            </a:r>
            <a:r>
              <a:rPr lang="en-US" sz="2000" dirty="0"/>
              <a:t> do </a:t>
            </a:r>
            <a:r>
              <a:rPr lang="en-US" sz="2000" dirty="0" err="1"/>
              <a:t>ciclo</a:t>
            </a:r>
            <a:r>
              <a:rPr lang="en-US" sz="2000" dirty="0"/>
              <a:t> de </a:t>
            </a:r>
            <a:r>
              <a:rPr lang="en-US" sz="2000" dirty="0" err="1"/>
              <a:t>vida</a:t>
            </a:r>
            <a:r>
              <a:rPr lang="en-US" sz="2000" dirty="0"/>
              <a:t> dos </a:t>
            </a:r>
            <a:r>
              <a:rPr lang="en-US" sz="2000" dirty="0" err="1"/>
              <a:t>processos</a:t>
            </a:r>
            <a:r>
              <a:rPr lang="en-US" sz="2000" dirty="0"/>
              <a:t> (</a:t>
            </a:r>
            <a:r>
              <a:rPr lang="en-US" sz="2000" dirty="0" err="1"/>
              <a:t>iniciação</a:t>
            </a:r>
            <a:r>
              <a:rPr lang="en-US" sz="2000" dirty="0"/>
              <a:t>, </a:t>
            </a:r>
            <a:r>
              <a:rPr lang="en-US" sz="2000" dirty="0" err="1"/>
              <a:t>execução</a:t>
            </a:r>
            <a:r>
              <a:rPr lang="en-US" sz="2000" dirty="0"/>
              <a:t>, </a:t>
            </a:r>
            <a:r>
              <a:rPr lang="en-US" sz="2000" dirty="0" err="1"/>
              <a:t>espera</a:t>
            </a:r>
            <a:r>
              <a:rPr lang="en-US" sz="2000" dirty="0"/>
              <a:t> e </a:t>
            </a:r>
            <a:r>
              <a:rPr lang="en-US" sz="2000" dirty="0" err="1"/>
              <a:t>encerramento</a:t>
            </a:r>
            <a:r>
              <a:rPr lang="en-US" sz="2000" dirty="0"/>
              <a:t>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Para </a:t>
            </a:r>
            <a:r>
              <a:rPr lang="en-US" sz="2000" dirty="0" err="1"/>
              <a:t>executar</a:t>
            </a:r>
            <a:r>
              <a:rPr lang="en-US" sz="2000" dirty="0"/>
              <a:t> </a:t>
            </a:r>
            <a:r>
              <a:rPr lang="en-US" sz="2000" dirty="0" err="1"/>
              <a:t>múltiplos</a:t>
            </a:r>
            <a:r>
              <a:rPr lang="en-US" sz="2000" dirty="0"/>
              <a:t> </a:t>
            </a:r>
            <a:r>
              <a:rPr lang="en-US" sz="2000" dirty="0" err="1"/>
              <a:t>programas</a:t>
            </a:r>
            <a:r>
              <a:rPr lang="en-US" sz="2000" dirty="0"/>
              <a:t> </a:t>
            </a:r>
            <a:r>
              <a:rPr lang="en-US" sz="2000" dirty="0" err="1"/>
              <a:t>simultaneamente</a:t>
            </a:r>
            <a:r>
              <a:rPr lang="en-US" sz="2000" dirty="0"/>
              <a:t>, o SO </a:t>
            </a:r>
            <a:r>
              <a:rPr lang="en-US" sz="2000" dirty="0" err="1"/>
              <a:t>gere</a:t>
            </a:r>
            <a:r>
              <a:rPr lang="en-US" sz="2000" dirty="0"/>
              <a:t> o </a:t>
            </a:r>
            <a:r>
              <a:rPr lang="en-US" sz="2000" dirty="0" err="1"/>
              <a:t>agendamento</a:t>
            </a:r>
            <a:r>
              <a:rPr lang="en-US" sz="2000" dirty="0"/>
              <a:t> e </a:t>
            </a:r>
            <a:r>
              <a:rPr lang="en-US" sz="2000" dirty="0" err="1"/>
              <a:t>alocação</a:t>
            </a:r>
            <a:r>
              <a:rPr lang="en-US" sz="2000" dirty="0"/>
              <a:t> de </a:t>
            </a:r>
            <a:r>
              <a:rPr lang="en-US" sz="2000" dirty="0" err="1"/>
              <a:t>recursos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o CPU, </a:t>
            </a:r>
            <a:r>
              <a:rPr lang="en-US" sz="2000" dirty="0" err="1"/>
              <a:t>memória</a:t>
            </a:r>
            <a:r>
              <a:rPr lang="en-US" sz="2000" dirty="0"/>
              <a:t>, e </a:t>
            </a:r>
            <a:r>
              <a:rPr lang="en-US" sz="2000" dirty="0" err="1"/>
              <a:t>dispositivos</a:t>
            </a:r>
            <a:r>
              <a:rPr lang="en-US" sz="2000" dirty="0"/>
              <a:t> de entrada/</a:t>
            </a:r>
            <a:r>
              <a:rPr lang="en-US" sz="2000" dirty="0" err="1"/>
              <a:t>saída</a:t>
            </a:r>
            <a:r>
              <a:rPr lang="en-US" sz="20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FBCC37D-E606-EADA-E4CA-F979DB962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Servi</a:t>
            </a:r>
            <a:r>
              <a:rPr lang="pt-BR" altLang="en-US" dirty="0" err="1"/>
              <a:t>c</a:t>
            </a:r>
            <a:r>
              <a:rPr lang="en-US" dirty="0" err="1"/>
              <a:t>os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 err="1"/>
              <a:t>Comunicação</a:t>
            </a:r>
            <a:r>
              <a:rPr lang="en-US" sz="2000" dirty="0"/>
              <a:t> entre </a:t>
            </a:r>
            <a:r>
              <a:rPr lang="en-US" sz="2000" dirty="0" err="1"/>
              <a:t>Processos</a:t>
            </a:r>
            <a:r>
              <a:rPr lang="en-US" sz="2000" dirty="0"/>
              <a:t> (IPC - Inter-Process Communication):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processos</a:t>
            </a:r>
            <a:r>
              <a:rPr lang="en-US" sz="2000" dirty="0"/>
              <a:t> </a:t>
            </a:r>
            <a:r>
              <a:rPr lang="en-US" sz="2000" dirty="0" err="1"/>
              <a:t>precisam</a:t>
            </a:r>
            <a:r>
              <a:rPr lang="en-US" sz="2000" dirty="0"/>
              <a:t> </a:t>
            </a:r>
            <a:r>
              <a:rPr lang="en-US" sz="2000" dirty="0" err="1"/>
              <a:t>comunicar</a:t>
            </a:r>
            <a:r>
              <a:rPr lang="en-US" sz="2000" dirty="0"/>
              <a:t>-se </a:t>
            </a:r>
            <a:r>
              <a:rPr lang="en-US" sz="2000" dirty="0" err="1"/>
              <a:t>uns</a:t>
            </a:r>
            <a:r>
              <a:rPr lang="en-US" sz="2000" dirty="0"/>
              <a:t> com </a:t>
            </a:r>
            <a:r>
              <a:rPr lang="en-US" sz="2000" dirty="0" err="1"/>
              <a:t>os</a:t>
            </a:r>
            <a:r>
              <a:rPr lang="en-US" sz="2000" dirty="0"/>
              <a:t> outros para </a:t>
            </a:r>
            <a:r>
              <a:rPr lang="en-US" sz="2000" dirty="0" err="1"/>
              <a:t>realizar</a:t>
            </a:r>
            <a:r>
              <a:rPr lang="en-US" sz="2000" dirty="0"/>
              <a:t> </a:t>
            </a:r>
            <a:r>
              <a:rPr lang="en-US" sz="2000" dirty="0" err="1"/>
              <a:t>tarefas</a:t>
            </a:r>
            <a:r>
              <a:rPr lang="en-US" sz="2000" dirty="0"/>
              <a:t> </a:t>
            </a:r>
            <a:r>
              <a:rPr lang="en-US" sz="2000" dirty="0" err="1"/>
              <a:t>complexas</a:t>
            </a:r>
            <a:r>
              <a:rPr lang="en-US" sz="2000" dirty="0"/>
              <a:t>. O SO </a:t>
            </a:r>
            <a:r>
              <a:rPr lang="en-US" sz="2000" dirty="0" err="1"/>
              <a:t>facilita</a:t>
            </a:r>
            <a:r>
              <a:rPr lang="en-US" sz="2000" dirty="0"/>
              <a:t> </a:t>
            </a:r>
            <a:r>
              <a:rPr lang="en-US" sz="2000" dirty="0" err="1"/>
              <a:t>essa</a:t>
            </a:r>
            <a:r>
              <a:rPr lang="en-US" sz="2000" dirty="0"/>
              <a:t> </a:t>
            </a:r>
            <a:r>
              <a:rPr lang="en-US" sz="2000" dirty="0" err="1"/>
              <a:t>comunicação</a:t>
            </a:r>
            <a:r>
              <a:rPr lang="en-US" sz="2000" dirty="0"/>
              <a:t>, </a:t>
            </a:r>
            <a:r>
              <a:rPr lang="en-US" sz="2000" dirty="0" err="1"/>
              <a:t>oferecendo</a:t>
            </a:r>
            <a:r>
              <a:rPr lang="en-US" sz="2000" dirty="0"/>
              <a:t> </a:t>
            </a:r>
            <a:r>
              <a:rPr lang="en-US" sz="2000" dirty="0" err="1"/>
              <a:t>métodos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pipe, socket, </a:t>
            </a:r>
            <a:r>
              <a:rPr lang="en-US" sz="2000" dirty="0" err="1"/>
              <a:t>memória</a:t>
            </a:r>
            <a:r>
              <a:rPr lang="en-US" sz="2000" dirty="0"/>
              <a:t> </a:t>
            </a:r>
            <a:r>
              <a:rPr lang="en-US" sz="2000" dirty="0" err="1"/>
              <a:t>partilhada</a:t>
            </a:r>
            <a:r>
              <a:rPr lang="en-US" sz="2000" dirty="0"/>
              <a:t> e </a:t>
            </a:r>
            <a:r>
              <a:rPr lang="en-US" sz="2000" dirty="0" err="1"/>
              <a:t>sinais</a:t>
            </a:r>
            <a:r>
              <a:rPr lang="en-US" sz="2000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Exemplo</a:t>
            </a:r>
            <a:r>
              <a:rPr lang="en-US" sz="2000" b="1" dirty="0"/>
              <a:t>: </a:t>
            </a:r>
            <a:r>
              <a:rPr lang="en-US" sz="2000" dirty="0"/>
              <a:t>No </a:t>
            </a:r>
            <a:r>
              <a:rPr lang="en-US" sz="2000" dirty="0" err="1"/>
              <a:t>sistema</a:t>
            </a:r>
            <a:r>
              <a:rPr lang="en-US" sz="2000" dirty="0"/>
              <a:t> Linux, pipes </a:t>
            </a:r>
            <a:r>
              <a:rPr lang="en-US" sz="2000" dirty="0" err="1"/>
              <a:t>permitem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um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envie</a:t>
            </a:r>
            <a:r>
              <a:rPr lang="en-US" sz="2000" dirty="0"/>
              <a:t> dados para outro, </a:t>
            </a:r>
            <a:r>
              <a:rPr lang="en-US" sz="2000" dirty="0" err="1"/>
              <a:t>usando</a:t>
            </a:r>
            <a:r>
              <a:rPr lang="en-US" sz="2000" dirty="0"/>
              <a:t> o </a:t>
            </a:r>
            <a:r>
              <a:rPr lang="en-US" sz="2000" dirty="0" err="1"/>
              <a:t>símbolo</a:t>
            </a:r>
            <a:r>
              <a:rPr lang="en-US" sz="2000" dirty="0"/>
              <a:t> |.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6A22E41-9380-6B08-349E-266CD4C1D2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Servi</a:t>
            </a:r>
            <a:r>
              <a:rPr lang="pt-BR" altLang="en-US" dirty="0" err="1"/>
              <a:t>c</a:t>
            </a:r>
            <a:r>
              <a:rPr lang="en-US" dirty="0" err="1"/>
              <a:t>os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 err="1"/>
              <a:t>Gestão</a:t>
            </a:r>
            <a:r>
              <a:rPr lang="en-US" sz="1800" b="1" dirty="0"/>
              <a:t> de </a:t>
            </a:r>
            <a:r>
              <a:rPr lang="en-US" sz="1800" b="1" dirty="0" err="1"/>
              <a:t>Memória</a:t>
            </a:r>
            <a:r>
              <a:rPr lang="en-US" sz="1800" b="1" dirty="0"/>
              <a:t>: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O SO </a:t>
            </a:r>
            <a:r>
              <a:rPr lang="en-US" sz="1800" dirty="0" err="1"/>
              <a:t>controla</a:t>
            </a:r>
            <a:r>
              <a:rPr lang="en-US" sz="1800" dirty="0"/>
              <a:t> o </a:t>
            </a:r>
            <a:r>
              <a:rPr lang="en-US" sz="1800" dirty="0" err="1"/>
              <a:t>acesso</a:t>
            </a:r>
            <a:r>
              <a:rPr lang="en-US" sz="1800" dirty="0"/>
              <a:t> à </a:t>
            </a:r>
            <a:r>
              <a:rPr lang="en-US" sz="1800" dirty="0" err="1"/>
              <a:t>memória</a:t>
            </a:r>
            <a:r>
              <a:rPr lang="en-US" sz="1800" dirty="0"/>
              <a:t> principal, </a:t>
            </a:r>
            <a:r>
              <a:rPr lang="en-US" sz="1800" dirty="0" err="1"/>
              <a:t>decidindo</a:t>
            </a:r>
            <a:r>
              <a:rPr lang="en-US" sz="1800" dirty="0"/>
              <a:t> quais </a:t>
            </a:r>
            <a:r>
              <a:rPr lang="en-US" sz="1800" dirty="0" err="1"/>
              <a:t>processos</a:t>
            </a:r>
            <a:r>
              <a:rPr lang="en-US" sz="1800" dirty="0"/>
              <a:t> </a:t>
            </a:r>
            <a:r>
              <a:rPr lang="en-US" sz="1800" dirty="0" err="1"/>
              <a:t>recebem</a:t>
            </a:r>
            <a:r>
              <a:rPr lang="en-US" sz="1800" dirty="0"/>
              <a:t> quais </a:t>
            </a:r>
            <a:r>
              <a:rPr lang="en-US" sz="1800" dirty="0" err="1"/>
              <a:t>blocos</a:t>
            </a:r>
            <a:r>
              <a:rPr lang="en-US" sz="1800" dirty="0"/>
              <a:t> de </a:t>
            </a:r>
            <a:r>
              <a:rPr lang="en-US" sz="1800" dirty="0" err="1"/>
              <a:t>memória</a:t>
            </a:r>
            <a:r>
              <a:rPr lang="en-US" sz="1800" dirty="0"/>
              <a:t> e </a:t>
            </a:r>
            <a:r>
              <a:rPr lang="en-US" sz="1800" dirty="0" err="1"/>
              <a:t>quando</a:t>
            </a:r>
            <a:r>
              <a:rPr lang="en-US" sz="1800" dirty="0"/>
              <a:t> </a:t>
            </a:r>
            <a:r>
              <a:rPr lang="en-US" sz="1800" dirty="0" err="1"/>
              <a:t>devem</a:t>
            </a:r>
            <a:r>
              <a:rPr lang="en-US" sz="1800" dirty="0"/>
              <a:t> ser </a:t>
            </a:r>
            <a:r>
              <a:rPr lang="en-US" sz="1800" dirty="0" err="1"/>
              <a:t>desalocados</a:t>
            </a:r>
            <a:r>
              <a:rPr lang="en-US" sz="18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também</a:t>
            </a:r>
            <a:r>
              <a:rPr lang="en-US" sz="1800" dirty="0"/>
              <a:t> </a:t>
            </a:r>
            <a:r>
              <a:rPr lang="en-US" sz="1800" dirty="0" err="1"/>
              <a:t>responsável</a:t>
            </a:r>
            <a:r>
              <a:rPr lang="en-US" sz="1800" dirty="0"/>
              <a:t> pela </a:t>
            </a:r>
            <a:r>
              <a:rPr lang="en-US" sz="1800" dirty="0" err="1"/>
              <a:t>gestão</a:t>
            </a:r>
            <a:r>
              <a:rPr lang="en-US" sz="1800" dirty="0"/>
              <a:t> da </a:t>
            </a:r>
            <a:r>
              <a:rPr lang="en-US" sz="1800" dirty="0" err="1"/>
              <a:t>memória</a:t>
            </a:r>
            <a:r>
              <a:rPr lang="en-US" sz="1800" dirty="0"/>
              <a:t> virtual,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expande</a:t>
            </a:r>
            <a:r>
              <a:rPr lang="en-US" sz="1800" dirty="0"/>
              <a:t> a </a:t>
            </a:r>
            <a:r>
              <a:rPr lang="en-US" sz="1800" dirty="0" err="1"/>
              <a:t>capacidade</a:t>
            </a:r>
            <a:r>
              <a:rPr lang="en-US" sz="1800" dirty="0"/>
              <a:t> da RAM </a:t>
            </a:r>
            <a:r>
              <a:rPr lang="en-US" sz="1800" dirty="0" err="1"/>
              <a:t>usando</a:t>
            </a:r>
            <a:r>
              <a:rPr lang="en-US" sz="1800" dirty="0"/>
              <a:t> o disco </a:t>
            </a:r>
            <a:r>
              <a:rPr lang="en-US" sz="1800" dirty="0" err="1"/>
              <a:t>rígido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4E8865B-7AA5-88B9-91C5-388DD2BC1E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Servi</a:t>
            </a:r>
            <a:r>
              <a:rPr lang="pt-BR" altLang="en-US" dirty="0" err="1"/>
              <a:t>c</a:t>
            </a:r>
            <a:r>
              <a:rPr lang="en-US" dirty="0" err="1"/>
              <a:t>os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b="1" dirty="0" err="1"/>
              <a:t>Gestão</a:t>
            </a:r>
            <a:r>
              <a:rPr lang="en-US" b="1" dirty="0"/>
              <a:t> de </a:t>
            </a:r>
            <a:r>
              <a:rPr lang="en-US" b="1" dirty="0" err="1"/>
              <a:t>Dispositivos</a:t>
            </a:r>
            <a:r>
              <a:rPr lang="en-US" b="1" dirty="0"/>
              <a:t>: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Gere </a:t>
            </a:r>
            <a:r>
              <a:rPr lang="en-US" sz="1800" dirty="0" err="1"/>
              <a:t>todos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dispositivos</a:t>
            </a:r>
            <a:r>
              <a:rPr lang="en-US" sz="1800" dirty="0"/>
              <a:t> </a:t>
            </a:r>
            <a:r>
              <a:rPr lang="en-US" sz="1800" dirty="0" err="1"/>
              <a:t>periféricos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impressoras</a:t>
            </a:r>
            <a:r>
              <a:rPr lang="en-US" sz="1800" dirty="0"/>
              <a:t>, discos, e </a:t>
            </a:r>
            <a:r>
              <a:rPr lang="en-US" sz="1800" dirty="0" err="1"/>
              <a:t>portas</a:t>
            </a:r>
            <a:r>
              <a:rPr lang="en-US" sz="1800" dirty="0"/>
              <a:t> USB, </a:t>
            </a:r>
            <a:r>
              <a:rPr lang="en-US" sz="1800" dirty="0" err="1"/>
              <a:t>fornecendo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interface </a:t>
            </a:r>
            <a:r>
              <a:rPr lang="en-US" sz="1800" dirty="0" err="1"/>
              <a:t>padrão</a:t>
            </a:r>
            <a:r>
              <a:rPr lang="en-US" sz="1800" dirty="0"/>
              <a:t> para a </a:t>
            </a:r>
            <a:r>
              <a:rPr lang="en-US" sz="1800" dirty="0" err="1"/>
              <a:t>interação</a:t>
            </a:r>
            <a:r>
              <a:rPr lang="en-US" sz="1800" dirty="0"/>
              <a:t> com o hardware.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Este </a:t>
            </a:r>
            <a:r>
              <a:rPr lang="en-US" sz="1800" dirty="0" err="1"/>
              <a:t>serviço</a:t>
            </a:r>
            <a:r>
              <a:rPr lang="en-US" sz="1800" dirty="0"/>
              <a:t> </a:t>
            </a:r>
            <a:r>
              <a:rPr lang="en-US" sz="1800" dirty="0" err="1"/>
              <a:t>garante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dispositivos</a:t>
            </a:r>
            <a:r>
              <a:rPr lang="en-US" sz="1800" dirty="0"/>
              <a:t> </a:t>
            </a:r>
            <a:r>
              <a:rPr lang="en-US" sz="1800" dirty="0" err="1"/>
              <a:t>podem</a:t>
            </a:r>
            <a:r>
              <a:rPr lang="en-US" sz="1800" dirty="0"/>
              <a:t> ser </a:t>
            </a:r>
            <a:r>
              <a:rPr lang="en-US" sz="1800" dirty="0" err="1"/>
              <a:t>partilhados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vários</a:t>
            </a:r>
            <a:r>
              <a:rPr lang="en-US" sz="1800" dirty="0"/>
              <a:t> </a:t>
            </a:r>
            <a:r>
              <a:rPr lang="en-US" sz="1800" dirty="0" err="1"/>
              <a:t>processos</a:t>
            </a:r>
            <a:r>
              <a:rPr lang="en-US" sz="1800" dirty="0"/>
              <a:t> </a:t>
            </a:r>
            <a:r>
              <a:rPr lang="en-US" sz="1800" dirty="0" err="1"/>
              <a:t>sem</a:t>
            </a:r>
            <a:r>
              <a:rPr lang="en-US" sz="1800" dirty="0"/>
              <a:t> </a:t>
            </a:r>
            <a:r>
              <a:rPr lang="en-US" sz="1800" dirty="0" err="1"/>
              <a:t>conflitos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1BB3DF7-4A86-7843-6954-1EA68E9094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Servi</a:t>
            </a:r>
            <a:r>
              <a:rPr lang="pt-BR" altLang="en-US" dirty="0" err="1"/>
              <a:t>c</a:t>
            </a:r>
            <a:r>
              <a:rPr lang="en-US" dirty="0" err="1"/>
              <a:t>os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618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 interface do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operativo</a:t>
            </a:r>
            <a:r>
              <a:rPr lang="en-US" sz="1800" dirty="0"/>
              <a:t> </a:t>
            </a:r>
            <a:r>
              <a:rPr lang="en-US" sz="1800" dirty="0" err="1"/>
              <a:t>é</a:t>
            </a:r>
            <a:r>
              <a:rPr lang="en-US" sz="1800" dirty="0"/>
              <a:t> o </a:t>
            </a:r>
            <a:r>
              <a:rPr lang="en-US" sz="1800" dirty="0" err="1"/>
              <a:t>meio</a:t>
            </a:r>
            <a:r>
              <a:rPr lang="en-US" sz="1800" dirty="0"/>
              <a:t> </a:t>
            </a:r>
            <a:r>
              <a:rPr lang="en-US" sz="1800" dirty="0" err="1"/>
              <a:t>através</a:t>
            </a:r>
            <a:r>
              <a:rPr lang="en-US" sz="1800" dirty="0"/>
              <a:t> do qual o </a:t>
            </a:r>
            <a:r>
              <a:rPr lang="en-US" sz="1800" dirty="0" err="1"/>
              <a:t>utilizador</a:t>
            </a:r>
            <a:r>
              <a:rPr lang="en-US" sz="1800" dirty="0"/>
              <a:t> </a:t>
            </a:r>
            <a:r>
              <a:rPr lang="en-US" sz="1800" dirty="0" err="1"/>
              <a:t>interage</a:t>
            </a:r>
            <a:r>
              <a:rPr lang="en-US" sz="1800" dirty="0"/>
              <a:t> com o </a:t>
            </a:r>
            <a:r>
              <a:rPr lang="en-US" sz="1800" dirty="0" err="1"/>
              <a:t>computador</a:t>
            </a:r>
            <a:r>
              <a:rPr lang="en-US" sz="1800" dirty="0"/>
              <a:t>. </a:t>
            </a:r>
            <a:r>
              <a:rPr lang="en-US" sz="1800" dirty="0" err="1"/>
              <a:t>Existem</a:t>
            </a:r>
            <a:r>
              <a:rPr lang="en-US" sz="1800" dirty="0"/>
              <a:t> </a:t>
            </a:r>
            <a:r>
              <a:rPr lang="en-US" sz="1800" dirty="0" err="1"/>
              <a:t>dois</a:t>
            </a:r>
            <a:r>
              <a:rPr lang="en-US" sz="1800" dirty="0"/>
              <a:t> </a:t>
            </a:r>
            <a:r>
              <a:rPr lang="en-US" sz="1800" dirty="0" err="1"/>
              <a:t>tipos</a:t>
            </a:r>
            <a:r>
              <a:rPr lang="en-US" sz="1800" dirty="0"/>
              <a:t> </a:t>
            </a:r>
            <a:r>
              <a:rPr lang="en-US" sz="1800" dirty="0" err="1"/>
              <a:t>principais</a:t>
            </a:r>
            <a:r>
              <a:rPr lang="en-US" sz="1800" dirty="0"/>
              <a:t> de interface: CLI e GUI.</a:t>
            </a:r>
          </a:p>
          <a:p>
            <a:r>
              <a:rPr lang="en-US" sz="1800" b="1" dirty="0"/>
              <a:t>CLI (Command Line Interface)</a:t>
            </a:r>
          </a:p>
          <a:p>
            <a:pPr lvl="1"/>
            <a:r>
              <a:rPr lang="en-US" sz="1800" b="1" dirty="0" err="1"/>
              <a:t>Definição</a:t>
            </a:r>
            <a:r>
              <a:rPr lang="en-US" sz="1800" b="1" dirty="0"/>
              <a:t>:</a:t>
            </a:r>
            <a:r>
              <a:rPr lang="en-US" sz="1800" dirty="0"/>
              <a:t> A Command Line Interface </a:t>
            </a: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o </a:t>
            </a:r>
            <a:r>
              <a:rPr lang="en-US" sz="1800" dirty="0" err="1"/>
              <a:t>utilizador</a:t>
            </a:r>
            <a:r>
              <a:rPr lang="en-US" sz="1800" dirty="0"/>
              <a:t> </a:t>
            </a:r>
            <a:r>
              <a:rPr lang="en-US" sz="1800" dirty="0" err="1"/>
              <a:t>interaja</a:t>
            </a:r>
            <a:r>
              <a:rPr lang="en-US" sz="1800" dirty="0"/>
              <a:t> com 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operativo</a:t>
            </a:r>
            <a:r>
              <a:rPr lang="en-US" sz="1800" dirty="0"/>
              <a:t> </a:t>
            </a:r>
            <a:r>
              <a:rPr lang="en-US" sz="1800" dirty="0" err="1"/>
              <a:t>através</a:t>
            </a:r>
            <a:r>
              <a:rPr lang="en-US" sz="1800" dirty="0"/>
              <a:t> de </a:t>
            </a:r>
            <a:r>
              <a:rPr lang="en-US" sz="1800" dirty="0" err="1"/>
              <a:t>comandos</a:t>
            </a:r>
            <a:r>
              <a:rPr lang="en-US" sz="1800" dirty="0"/>
              <a:t> de </a:t>
            </a:r>
            <a:r>
              <a:rPr lang="en-US" sz="1800" dirty="0" err="1"/>
              <a:t>texto</a:t>
            </a:r>
            <a:r>
              <a:rPr lang="en-US" sz="1800" dirty="0"/>
              <a:t> </a:t>
            </a:r>
            <a:r>
              <a:rPr lang="en-US" sz="1800" dirty="0" err="1"/>
              <a:t>digitados</a:t>
            </a:r>
            <a:r>
              <a:rPr lang="en-US" sz="1800" dirty="0"/>
              <a:t> </a:t>
            </a:r>
            <a:r>
              <a:rPr lang="en-US" sz="1800" dirty="0" err="1"/>
              <a:t>numa</a:t>
            </a:r>
            <a:r>
              <a:rPr lang="en-US" sz="1800" dirty="0"/>
              <a:t> </a:t>
            </a:r>
            <a:r>
              <a:rPr lang="en-US" sz="1800" dirty="0" err="1"/>
              <a:t>linha</a:t>
            </a:r>
            <a:r>
              <a:rPr lang="en-US" sz="1800" dirty="0"/>
              <a:t> de </a:t>
            </a:r>
            <a:r>
              <a:rPr lang="en-US" sz="1800" dirty="0" err="1"/>
              <a:t>comandos</a:t>
            </a:r>
            <a:r>
              <a:rPr lang="en-US" sz="1800" dirty="0"/>
              <a:t>. Exige </a:t>
            </a:r>
            <a:r>
              <a:rPr lang="en-US" sz="1800" dirty="0" err="1"/>
              <a:t>que</a:t>
            </a:r>
            <a:r>
              <a:rPr lang="en-US" sz="1800" dirty="0"/>
              <a:t> o </a:t>
            </a:r>
            <a:r>
              <a:rPr lang="en-US" sz="1800" dirty="0" err="1"/>
              <a:t>utilizador</a:t>
            </a:r>
            <a:r>
              <a:rPr lang="en-US" sz="1800" dirty="0"/>
              <a:t> </a:t>
            </a:r>
            <a:r>
              <a:rPr lang="en-US" sz="1800" dirty="0" err="1"/>
              <a:t>conheça</a:t>
            </a:r>
            <a:r>
              <a:rPr lang="en-US" sz="1800" dirty="0"/>
              <a:t> e </a:t>
            </a:r>
            <a:r>
              <a:rPr lang="en-US" sz="1800" dirty="0" err="1"/>
              <a:t>digite</a:t>
            </a:r>
            <a:r>
              <a:rPr lang="en-US" sz="1800" dirty="0"/>
              <a:t> </a:t>
            </a:r>
            <a:r>
              <a:rPr lang="en-US" sz="1800" dirty="0" err="1"/>
              <a:t>comandos</a:t>
            </a:r>
            <a:r>
              <a:rPr lang="en-US" sz="1800" dirty="0"/>
              <a:t> </a:t>
            </a:r>
            <a:r>
              <a:rPr lang="en-US" sz="1800" dirty="0" err="1"/>
              <a:t>específicos</a:t>
            </a:r>
            <a:r>
              <a:rPr lang="en-US" sz="1800" dirty="0"/>
              <a:t>, o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pode</a:t>
            </a:r>
            <a:r>
              <a:rPr lang="en-US" sz="1800" dirty="0"/>
              <a:t> </a:t>
            </a:r>
            <a:r>
              <a:rPr lang="en-US" sz="1800" dirty="0" err="1"/>
              <a:t>parecer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técnico</a:t>
            </a:r>
            <a:r>
              <a:rPr lang="en-US" sz="1800" dirty="0"/>
              <a:t>, mas </a:t>
            </a:r>
            <a:r>
              <a:rPr lang="en-US" sz="1800" dirty="0" err="1"/>
              <a:t>oferece</a:t>
            </a:r>
            <a:r>
              <a:rPr lang="en-US" sz="1800" dirty="0"/>
              <a:t> um </a:t>
            </a:r>
            <a:r>
              <a:rPr lang="en-US" sz="1800" dirty="0" err="1"/>
              <a:t>elevado</a:t>
            </a:r>
            <a:r>
              <a:rPr lang="en-US" sz="1800" dirty="0"/>
              <a:t> </a:t>
            </a:r>
            <a:r>
              <a:rPr lang="en-US" sz="1800" dirty="0" err="1"/>
              <a:t>nível</a:t>
            </a:r>
            <a:r>
              <a:rPr lang="en-US" sz="1800" dirty="0"/>
              <a:t> de </a:t>
            </a:r>
            <a:r>
              <a:rPr lang="en-US" sz="1800" dirty="0" err="1"/>
              <a:t>controle</a:t>
            </a:r>
            <a:r>
              <a:rPr lang="en-US" sz="1800" dirty="0"/>
              <a:t> e </a:t>
            </a:r>
            <a:r>
              <a:rPr lang="en-US" sz="1800" dirty="0" err="1"/>
              <a:t>flexibilidade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Exemplos</a:t>
            </a:r>
            <a:r>
              <a:rPr lang="en-US" sz="1800" b="1" dirty="0"/>
              <a:t>:</a:t>
            </a:r>
            <a:endParaRPr lang="en-US" sz="1800" dirty="0"/>
          </a:p>
          <a:p>
            <a:pPr lvl="2"/>
            <a:r>
              <a:rPr lang="en-US" sz="1800" dirty="0"/>
              <a:t>Em Linux e macOS, o terminal </a:t>
            </a:r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amplamente</a:t>
            </a:r>
            <a:r>
              <a:rPr lang="en-US" sz="1800" dirty="0"/>
              <a:t> </a:t>
            </a:r>
            <a:r>
              <a:rPr lang="en-US" sz="1800" dirty="0" err="1"/>
              <a:t>usado</a:t>
            </a:r>
            <a:r>
              <a:rPr lang="en-US" sz="1800" dirty="0"/>
              <a:t> para </a:t>
            </a:r>
            <a:r>
              <a:rPr lang="en-US" sz="1800" dirty="0" err="1"/>
              <a:t>operações</a:t>
            </a:r>
            <a:r>
              <a:rPr lang="en-US" sz="1800" dirty="0"/>
              <a:t> de </a:t>
            </a:r>
            <a:r>
              <a:rPr lang="en-US" sz="1800" dirty="0" err="1"/>
              <a:t>gestão</a:t>
            </a:r>
            <a:r>
              <a:rPr lang="en-US" sz="1800" dirty="0"/>
              <a:t> do </a:t>
            </a:r>
            <a:r>
              <a:rPr lang="en-US" sz="1800" dirty="0" err="1"/>
              <a:t>sistema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navegar</a:t>
            </a:r>
            <a:r>
              <a:rPr lang="en-US" sz="1800" dirty="0"/>
              <a:t> entre </a:t>
            </a:r>
            <a:r>
              <a:rPr lang="en-US" sz="1800" dirty="0" err="1"/>
              <a:t>diretórios</a:t>
            </a:r>
            <a:r>
              <a:rPr lang="en-US" sz="1800" dirty="0"/>
              <a:t> (cd), </a:t>
            </a:r>
            <a:r>
              <a:rPr lang="en-US" sz="1800" dirty="0" err="1"/>
              <a:t>listar</a:t>
            </a:r>
            <a:r>
              <a:rPr lang="en-US" sz="1800" dirty="0"/>
              <a:t> </a:t>
            </a:r>
            <a:r>
              <a:rPr lang="en-US" sz="1800" dirty="0" err="1"/>
              <a:t>ficheiros</a:t>
            </a:r>
            <a:r>
              <a:rPr lang="en-US" sz="1800" dirty="0"/>
              <a:t> (ls),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eliminar</a:t>
            </a:r>
            <a:r>
              <a:rPr lang="en-US" sz="1800" dirty="0"/>
              <a:t> </a:t>
            </a:r>
            <a:r>
              <a:rPr lang="en-US" sz="1800" dirty="0" err="1"/>
              <a:t>ficheiros</a:t>
            </a:r>
            <a:r>
              <a:rPr lang="en-US" sz="1800" dirty="0"/>
              <a:t> (rm).</a:t>
            </a:r>
          </a:p>
          <a:p>
            <a:pPr lvl="2"/>
            <a:r>
              <a:rPr lang="en-US" sz="1800" dirty="0"/>
              <a:t>No Windows, o </a:t>
            </a:r>
            <a:r>
              <a:rPr lang="en-US" sz="1800" dirty="0" err="1"/>
              <a:t>cmd</a:t>
            </a:r>
            <a:r>
              <a:rPr lang="en-US" sz="1800" dirty="0"/>
              <a:t> e o PowerShell </a:t>
            </a:r>
            <a:r>
              <a:rPr lang="en-US" sz="1800" dirty="0" err="1"/>
              <a:t>permitem</a:t>
            </a:r>
            <a:r>
              <a:rPr lang="en-US" sz="1800" dirty="0"/>
              <a:t> </a:t>
            </a:r>
            <a:r>
              <a:rPr lang="en-US" sz="1800" dirty="0" err="1"/>
              <a:t>operações</a:t>
            </a:r>
            <a:r>
              <a:rPr lang="en-US" sz="1800" dirty="0"/>
              <a:t> </a:t>
            </a:r>
            <a:r>
              <a:rPr lang="en-US" sz="1800" dirty="0" err="1"/>
              <a:t>semelhantes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F268F5D-3927-E2CB-876F-B5F88D11E9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Interface com o </a:t>
            </a:r>
            <a:r>
              <a:rPr lang="en-US" dirty="0" err="1"/>
              <a:t>Utilizador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sz="1800" b="1" dirty="0" err="1"/>
              <a:t>Vantagens</a:t>
            </a:r>
            <a:r>
              <a:rPr lang="en-US" sz="1800" b="1" dirty="0"/>
              <a:t> do CLI:</a:t>
            </a:r>
          </a:p>
          <a:p>
            <a:pPr lvl="1"/>
            <a:r>
              <a:rPr lang="en-US" sz="1800" dirty="0"/>
              <a:t>Maior </a:t>
            </a:r>
            <a:r>
              <a:rPr lang="en-US" sz="1800" dirty="0" err="1"/>
              <a:t>controlo</a:t>
            </a:r>
            <a:r>
              <a:rPr lang="en-US" sz="1800" dirty="0"/>
              <a:t> e </a:t>
            </a:r>
            <a:r>
              <a:rPr lang="en-US" sz="1800" dirty="0" err="1"/>
              <a:t>eficiência</a:t>
            </a:r>
            <a:r>
              <a:rPr lang="en-US" sz="1800" dirty="0"/>
              <a:t>, </a:t>
            </a:r>
            <a:r>
              <a:rPr lang="en-US" sz="1800" dirty="0" err="1"/>
              <a:t>especialmente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operações</a:t>
            </a:r>
            <a:r>
              <a:rPr lang="en-US" sz="1800" dirty="0"/>
              <a:t> </a:t>
            </a:r>
            <a:r>
              <a:rPr lang="en-US" sz="1800" dirty="0" err="1"/>
              <a:t>complexas</a:t>
            </a:r>
            <a:r>
              <a:rPr lang="en-US" sz="1800" dirty="0"/>
              <a:t>.</a:t>
            </a:r>
          </a:p>
          <a:p>
            <a:pPr lvl="1"/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utilizado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programadores</a:t>
            </a:r>
            <a:r>
              <a:rPr lang="en-US" sz="1800" dirty="0"/>
              <a:t> e </a:t>
            </a:r>
            <a:r>
              <a:rPr lang="en-US" sz="1800" dirty="0" err="1"/>
              <a:t>administradores</a:t>
            </a:r>
            <a:r>
              <a:rPr lang="en-US" sz="1800" dirty="0"/>
              <a:t> de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devido</a:t>
            </a:r>
            <a:r>
              <a:rPr lang="en-US" sz="1800" dirty="0"/>
              <a:t> à </a:t>
            </a:r>
            <a:r>
              <a:rPr lang="en-US" sz="1800" dirty="0" err="1"/>
              <a:t>rapidez</a:t>
            </a:r>
            <a:r>
              <a:rPr lang="en-US" sz="1800" dirty="0"/>
              <a:t> e </a:t>
            </a:r>
            <a:r>
              <a:rPr lang="en-US" sz="1800" dirty="0" err="1"/>
              <a:t>precisão</a:t>
            </a:r>
            <a:r>
              <a:rPr lang="en-US" sz="1800" dirty="0"/>
              <a:t>.</a:t>
            </a:r>
          </a:p>
          <a:p>
            <a:r>
              <a:rPr lang="en-US" sz="1800" b="1" dirty="0" err="1"/>
              <a:t>Desvantagens</a:t>
            </a:r>
            <a:r>
              <a:rPr lang="en-US" sz="1800" b="1" dirty="0"/>
              <a:t> do CLI:</a:t>
            </a:r>
          </a:p>
          <a:p>
            <a:pPr lvl="1"/>
            <a:r>
              <a:rPr lang="en-US" sz="1800" dirty="0"/>
              <a:t>Pode ser </a:t>
            </a:r>
            <a:r>
              <a:rPr lang="en-US" sz="1800" dirty="0" err="1"/>
              <a:t>intimidante</a:t>
            </a:r>
            <a:r>
              <a:rPr lang="en-US" sz="1800" dirty="0"/>
              <a:t> para </a:t>
            </a:r>
            <a:r>
              <a:rPr lang="en-US" sz="1800" dirty="0" err="1"/>
              <a:t>utilizadores</a:t>
            </a:r>
            <a:r>
              <a:rPr lang="en-US" sz="1800" dirty="0"/>
              <a:t> </a:t>
            </a:r>
            <a:r>
              <a:rPr lang="en-US" sz="1800" dirty="0" err="1"/>
              <a:t>inexperientes</a:t>
            </a:r>
            <a:r>
              <a:rPr lang="en-US" sz="1800" dirty="0"/>
              <a:t> </a:t>
            </a:r>
            <a:r>
              <a:rPr lang="en-US" sz="1800" dirty="0" err="1"/>
              <a:t>devido</a:t>
            </a:r>
            <a:r>
              <a:rPr lang="en-US" sz="1800" dirty="0"/>
              <a:t> à </a:t>
            </a:r>
            <a:r>
              <a:rPr lang="en-US" sz="1800" dirty="0" err="1"/>
              <a:t>ausência</a:t>
            </a:r>
            <a:r>
              <a:rPr lang="en-US" sz="1800" dirty="0"/>
              <a:t> de menus e </a:t>
            </a:r>
            <a:r>
              <a:rPr lang="en-US" sz="1800" dirty="0" err="1"/>
              <a:t>ícones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DB62B4C-A1A3-4B16-DF1B-D9EF8DA5B2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Interface com o </a:t>
            </a:r>
            <a:r>
              <a:rPr lang="en-US" dirty="0" err="1"/>
              <a:t>Utilizador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sz="1800" b="1" dirty="0"/>
              <a:t>GUI (Graphical User Interface)</a:t>
            </a:r>
          </a:p>
          <a:p>
            <a:pPr lvl="1"/>
            <a:r>
              <a:rPr lang="en-US" sz="1800" b="1" dirty="0" err="1"/>
              <a:t>Definição</a:t>
            </a:r>
            <a:r>
              <a:rPr lang="en-US" sz="1800" b="1" dirty="0"/>
              <a:t>:</a:t>
            </a:r>
            <a:r>
              <a:rPr lang="en-US" sz="1800" dirty="0"/>
              <a:t> A Graphical User Interface </a:t>
            </a: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o </a:t>
            </a:r>
            <a:r>
              <a:rPr lang="en-US" sz="1800" dirty="0" err="1"/>
              <a:t>utilizador</a:t>
            </a:r>
            <a:r>
              <a:rPr lang="en-US" sz="1800" dirty="0"/>
              <a:t> </a:t>
            </a:r>
            <a:r>
              <a:rPr lang="en-US" sz="1800" dirty="0" err="1"/>
              <a:t>interaja</a:t>
            </a:r>
            <a:r>
              <a:rPr lang="en-US" sz="1800" dirty="0"/>
              <a:t> com 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operativo</a:t>
            </a:r>
            <a:r>
              <a:rPr lang="en-US" sz="1800" dirty="0"/>
              <a:t> </a:t>
            </a:r>
            <a:r>
              <a:rPr lang="en-US" sz="1800" dirty="0" err="1"/>
              <a:t>usando</a:t>
            </a:r>
            <a:r>
              <a:rPr lang="en-US" sz="1800" dirty="0"/>
              <a:t> </a:t>
            </a:r>
            <a:r>
              <a:rPr lang="en-US" sz="1800" dirty="0" err="1"/>
              <a:t>elementos</a:t>
            </a:r>
            <a:r>
              <a:rPr lang="en-US" sz="1800" dirty="0"/>
              <a:t> </a:t>
            </a:r>
            <a:r>
              <a:rPr lang="en-US" sz="1800" dirty="0" err="1"/>
              <a:t>gráficos</a:t>
            </a:r>
            <a:r>
              <a:rPr lang="en-US" sz="1800" dirty="0"/>
              <a:t>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ícones</a:t>
            </a:r>
            <a:r>
              <a:rPr lang="en-US" sz="1800" dirty="0"/>
              <a:t>, </a:t>
            </a:r>
            <a:r>
              <a:rPr lang="en-US" sz="1800" dirty="0" err="1"/>
              <a:t>janelas</a:t>
            </a:r>
            <a:r>
              <a:rPr lang="en-US" sz="1800" dirty="0"/>
              <a:t>, e </a:t>
            </a:r>
            <a:r>
              <a:rPr lang="en-US" sz="1800" dirty="0" err="1"/>
              <a:t>botões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Exemplos</a:t>
            </a:r>
            <a:r>
              <a:rPr lang="en-US" sz="1800" b="1" dirty="0"/>
              <a:t>:</a:t>
            </a:r>
            <a:endParaRPr lang="en-US" sz="1800" dirty="0"/>
          </a:p>
          <a:p>
            <a:pPr lvl="2"/>
            <a:r>
              <a:rPr lang="en-US" sz="1800" dirty="0"/>
              <a:t>Windows e macOS: </a:t>
            </a:r>
            <a:r>
              <a:rPr lang="en-US" sz="1800" dirty="0" err="1"/>
              <a:t>Apresentam</a:t>
            </a:r>
            <a:r>
              <a:rPr lang="en-US" sz="1800" dirty="0"/>
              <a:t> interfaces </a:t>
            </a:r>
            <a:r>
              <a:rPr lang="en-US" sz="1800" dirty="0" err="1"/>
              <a:t>gráficas</a:t>
            </a:r>
            <a:r>
              <a:rPr lang="en-US" sz="1800" dirty="0"/>
              <a:t> </a:t>
            </a:r>
            <a:r>
              <a:rPr lang="en-US" sz="1800" dirty="0" err="1"/>
              <a:t>intuitivas</a:t>
            </a:r>
            <a:r>
              <a:rPr lang="en-US" sz="1800" dirty="0"/>
              <a:t>, com </a:t>
            </a:r>
            <a:r>
              <a:rPr lang="en-US" sz="1800" dirty="0" err="1"/>
              <a:t>áreas</a:t>
            </a:r>
            <a:r>
              <a:rPr lang="en-US" sz="1800" dirty="0"/>
              <a:t> de </a:t>
            </a:r>
            <a:r>
              <a:rPr lang="en-US" sz="1800" dirty="0" err="1"/>
              <a:t>trabalho</a:t>
            </a:r>
            <a:r>
              <a:rPr lang="en-US" sz="1800" dirty="0"/>
              <a:t>, </a:t>
            </a:r>
            <a:r>
              <a:rPr lang="en-US" sz="1800" dirty="0" err="1"/>
              <a:t>ícones</a:t>
            </a:r>
            <a:r>
              <a:rPr lang="en-US" sz="1800" dirty="0"/>
              <a:t> para pastas, e menus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facilitam</a:t>
            </a:r>
            <a:r>
              <a:rPr lang="en-US" sz="1800" dirty="0"/>
              <a:t> a </a:t>
            </a:r>
            <a:r>
              <a:rPr lang="en-US" sz="1800" dirty="0" err="1"/>
              <a:t>navegação</a:t>
            </a:r>
            <a:r>
              <a:rPr lang="en-US" sz="1800" dirty="0"/>
              <a:t> e </a:t>
            </a:r>
            <a:r>
              <a:rPr lang="en-US" sz="1800" dirty="0" err="1"/>
              <a:t>gestão</a:t>
            </a:r>
            <a:r>
              <a:rPr lang="en-US" sz="1800" dirty="0"/>
              <a:t> do </a:t>
            </a:r>
            <a:r>
              <a:rPr lang="en-US" sz="1800" dirty="0" err="1"/>
              <a:t>sistema</a:t>
            </a:r>
            <a:r>
              <a:rPr lang="en-US" sz="1800" dirty="0"/>
              <a:t>.</a:t>
            </a:r>
          </a:p>
          <a:p>
            <a:pPr lvl="2"/>
            <a:r>
              <a:rPr lang="en-US" sz="1800" dirty="0"/>
              <a:t>Linux: </a:t>
            </a:r>
            <a:r>
              <a:rPr lang="en-US" sz="1800" dirty="0" err="1"/>
              <a:t>Também</a:t>
            </a:r>
            <a:r>
              <a:rPr lang="en-US" sz="1800" dirty="0"/>
              <a:t> </a:t>
            </a:r>
            <a:r>
              <a:rPr lang="en-US" sz="1800" dirty="0" err="1"/>
              <a:t>suporta</a:t>
            </a:r>
            <a:r>
              <a:rPr lang="en-US" sz="1800" dirty="0"/>
              <a:t> GUI, com ambientes </a:t>
            </a:r>
            <a:r>
              <a:rPr lang="en-US" sz="1800" dirty="0" err="1"/>
              <a:t>gráficos</a:t>
            </a:r>
            <a:r>
              <a:rPr lang="en-US" sz="1800" dirty="0"/>
              <a:t> </a:t>
            </a:r>
            <a:r>
              <a:rPr lang="en-US" sz="1800" dirty="0" err="1"/>
              <a:t>como</a:t>
            </a:r>
            <a:r>
              <a:rPr lang="en-US" sz="1800" dirty="0"/>
              <a:t> GNOME e KDE,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tornam</a:t>
            </a:r>
            <a:r>
              <a:rPr lang="en-US" sz="1800" dirty="0"/>
              <a:t> o </a:t>
            </a:r>
            <a:r>
              <a:rPr lang="en-US" sz="1800" dirty="0" err="1"/>
              <a:t>uso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acessível</a:t>
            </a:r>
            <a:r>
              <a:rPr lang="en-US" sz="1800" dirty="0"/>
              <a:t> a </a:t>
            </a:r>
            <a:r>
              <a:rPr lang="en-US" sz="1800" dirty="0" err="1"/>
              <a:t>quem</a:t>
            </a:r>
            <a:r>
              <a:rPr lang="en-US" sz="1800" dirty="0"/>
              <a:t> </a:t>
            </a:r>
            <a:r>
              <a:rPr lang="en-US" sz="1800" dirty="0" err="1"/>
              <a:t>não</a:t>
            </a:r>
            <a:r>
              <a:rPr lang="en-US" sz="1800" dirty="0"/>
              <a:t> </a:t>
            </a:r>
            <a:r>
              <a:rPr lang="en-US" sz="1800" dirty="0" err="1"/>
              <a:t>está</a:t>
            </a:r>
            <a:r>
              <a:rPr lang="en-US" sz="1800" dirty="0"/>
              <a:t> </a:t>
            </a:r>
            <a:r>
              <a:rPr lang="en-US" sz="1800" dirty="0" err="1"/>
              <a:t>familiarizado</a:t>
            </a:r>
            <a:r>
              <a:rPr lang="en-US" sz="1800" dirty="0"/>
              <a:t> com </a:t>
            </a:r>
            <a:r>
              <a:rPr lang="en-US" sz="1800" dirty="0" err="1"/>
              <a:t>linhas</a:t>
            </a:r>
            <a:r>
              <a:rPr lang="en-US" sz="1800" dirty="0"/>
              <a:t> de </a:t>
            </a:r>
            <a:r>
              <a:rPr lang="en-US" sz="1800" dirty="0" err="1"/>
              <a:t>comando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4A2FF05-1A59-2C8F-62AB-F8EE6DC16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Interface com o </a:t>
            </a:r>
            <a:r>
              <a:rPr lang="en-US" dirty="0" err="1"/>
              <a:t>Utilizador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sz="1800" b="1" dirty="0" err="1"/>
              <a:t>Vantagens</a:t>
            </a:r>
            <a:r>
              <a:rPr lang="en-US" sz="1800" b="1" dirty="0"/>
              <a:t> do GUI:</a:t>
            </a:r>
          </a:p>
          <a:p>
            <a:pPr lvl="1"/>
            <a:r>
              <a:rPr lang="en-US" sz="1800" dirty="0" err="1"/>
              <a:t>Acessível</a:t>
            </a:r>
            <a:r>
              <a:rPr lang="en-US" sz="1800" dirty="0"/>
              <a:t> e </a:t>
            </a:r>
            <a:r>
              <a:rPr lang="en-US" sz="1800" dirty="0" err="1"/>
              <a:t>intuitivo</a:t>
            </a:r>
            <a:r>
              <a:rPr lang="en-US" sz="1800" dirty="0"/>
              <a:t> para a </a:t>
            </a:r>
            <a:r>
              <a:rPr lang="en-US" sz="1800" dirty="0" err="1"/>
              <a:t>maioria</a:t>
            </a:r>
            <a:r>
              <a:rPr lang="en-US" sz="1800" dirty="0"/>
              <a:t> dos </a:t>
            </a:r>
            <a:r>
              <a:rPr lang="en-US" sz="1800" dirty="0" err="1"/>
              <a:t>utilizadores</a:t>
            </a:r>
            <a:r>
              <a:rPr lang="en-US" sz="1800" dirty="0"/>
              <a:t>, </a:t>
            </a:r>
            <a:r>
              <a:rPr lang="en-US" sz="1800" dirty="0" err="1"/>
              <a:t>tornando</a:t>
            </a:r>
            <a:r>
              <a:rPr lang="en-US" sz="1800" dirty="0"/>
              <a:t> o </a:t>
            </a:r>
            <a:r>
              <a:rPr lang="en-US" sz="1800" dirty="0" err="1"/>
              <a:t>uso</a:t>
            </a:r>
            <a:r>
              <a:rPr lang="en-US" sz="1800" dirty="0"/>
              <a:t> de </a:t>
            </a:r>
            <a:r>
              <a:rPr lang="en-US" sz="1800" dirty="0" err="1"/>
              <a:t>computadores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acessível</a:t>
            </a:r>
            <a:r>
              <a:rPr lang="en-US" sz="1800" dirty="0"/>
              <a:t>.</a:t>
            </a:r>
          </a:p>
          <a:p>
            <a:pPr lvl="0"/>
            <a:r>
              <a:rPr lang="en-US" sz="1800" b="1" dirty="0" err="1"/>
              <a:t>Desvantagens</a:t>
            </a:r>
            <a:r>
              <a:rPr lang="en-US" sz="1800" b="1" dirty="0"/>
              <a:t> do GUI:</a:t>
            </a:r>
          </a:p>
          <a:p>
            <a:pPr lvl="2"/>
            <a:r>
              <a:rPr lang="en-US" sz="1800" dirty="0" err="1"/>
              <a:t>Requer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recursos</a:t>
            </a:r>
            <a:r>
              <a:rPr lang="en-US" sz="1800" dirty="0"/>
              <a:t> de hardware (CPU e </a:t>
            </a:r>
            <a:r>
              <a:rPr lang="en-US" sz="1800" dirty="0" err="1"/>
              <a:t>memória</a:t>
            </a:r>
            <a:r>
              <a:rPr lang="en-US" sz="1800" dirty="0"/>
              <a:t>) e </a:t>
            </a:r>
            <a:r>
              <a:rPr lang="en-US" sz="1800" dirty="0" err="1"/>
              <a:t>oferece</a:t>
            </a:r>
            <a:r>
              <a:rPr lang="en-US" sz="1800" dirty="0"/>
              <a:t> </a:t>
            </a:r>
            <a:r>
              <a:rPr lang="en-US" sz="1800" dirty="0" err="1"/>
              <a:t>menos</a:t>
            </a:r>
            <a:r>
              <a:rPr lang="en-US" sz="1800" dirty="0"/>
              <a:t> </a:t>
            </a:r>
            <a:r>
              <a:rPr lang="en-US" sz="1800" dirty="0" err="1"/>
              <a:t>controlo</a:t>
            </a:r>
            <a:r>
              <a:rPr lang="en-US" sz="1800" dirty="0"/>
              <a:t> </a:t>
            </a:r>
            <a:r>
              <a:rPr lang="en-US" sz="1800" dirty="0" err="1"/>
              <a:t>sobre</a:t>
            </a:r>
            <a:r>
              <a:rPr lang="en-US" sz="1800" dirty="0"/>
              <a:t> </a:t>
            </a:r>
            <a:r>
              <a:rPr lang="en-US" sz="1800" dirty="0" err="1"/>
              <a:t>operações</a:t>
            </a:r>
            <a:r>
              <a:rPr lang="en-US" sz="1800" dirty="0"/>
              <a:t> </a:t>
            </a:r>
            <a:r>
              <a:rPr lang="en-US" sz="1800" dirty="0" err="1"/>
              <a:t>avançadas</a:t>
            </a:r>
            <a:r>
              <a:rPr lang="en-US" sz="1800" dirty="0"/>
              <a:t> do </a:t>
            </a:r>
            <a:r>
              <a:rPr lang="en-US" sz="1800" dirty="0" err="1"/>
              <a:t>sistema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68AAEF7-1C91-5083-79CD-C3C1D511F5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Interface com o </a:t>
            </a:r>
            <a:r>
              <a:rPr lang="en-US" dirty="0" err="1"/>
              <a:t>Utilizador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sz="2000" dirty="0"/>
              <a:t>A </a:t>
            </a:r>
            <a:r>
              <a:rPr lang="en-US" sz="2000" dirty="0" err="1"/>
              <a:t>estrutura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operativo</a:t>
            </a:r>
            <a:r>
              <a:rPr lang="en-US" sz="2000" dirty="0"/>
              <a:t> </a:t>
            </a:r>
            <a:r>
              <a:rPr lang="en-US" sz="2000" dirty="0" err="1"/>
              <a:t>refere</a:t>
            </a:r>
            <a:r>
              <a:rPr lang="en-US" sz="2000" dirty="0"/>
              <a:t>-se à forma </a:t>
            </a:r>
            <a:r>
              <a:rPr lang="en-US" sz="2000" dirty="0" err="1"/>
              <a:t>como</a:t>
            </a:r>
            <a:r>
              <a:rPr lang="en-US" sz="2000" dirty="0"/>
              <a:t> 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organizado</a:t>
            </a:r>
            <a:r>
              <a:rPr lang="en-US" sz="2000" dirty="0"/>
              <a:t> </a:t>
            </a:r>
            <a:r>
              <a:rPr lang="en-US" sz="2000" dirty="0" err="1"/>
              <a:t>internamente</a:t>
            </a:r>
            <a:r>
              <a:rPr lang="en-US" sz="2000" dirty="0"/>
              <a:t>. </a:t>
            </a:r>
            <a:r>
              <a:rPr lang="en-US" sz="2000" dirty="0" err="1"/>
              <a:t>Existem</a:t>
            </a:r>
            <a:r>
              <a:rPr lang="en-US" sz="2000" dirty="0"/>
              <a:t> </a:t>
            </a:r>
            <a:r>
              <a:rPr lang="en-US" sz="2000" dirty="0" err="1"/>
              <a:t>três</a:t>
            </a:r>
            <a:r>
              <a:rPr lang="en-US" sz="2000" dirty="0"/>
              <a:t> </a:t>
            </a:r>
            <a:r>
              <a:rPr lang="en-US" sz="2000" dirty="0" err="1"/>
              <a:t>abordagens</a:t>
            </a:r>
            <a:r>
              <a:rPr lang="en-US" sz="2000" dirty="0"/>
              <a:t> </a:t>
            </a:r>
            <a:r>
              <a:rPr lang="en-US" sz="2000" dirty="0" err="1"/>
              <a:t>principais</a:t>
            </a:r>
            <a:r>
              <a:rPr lang="en-US" sz="2000" dirty="0"/>
              <a:t>: </a:t>
            </a:r>
            <a:r>
              <a:rPr lang="en-US" sz="2000" dirty="0" err="1"/>
              <a:t>Monolítica</a:t>
            </a:r>
            <a:r>
              <a:rPr lang="en-US" sz="2000" dirty="0"/>
              <a:t>, Microkernel, e </a:t>
            </a:r>
            <a:r>
              <a:rPr lang="en-US" sz="2000" dirty="0" err="1"/>
              <a:t>Máquinas</a:t>
            </a:r>
            <a:r>
              <a:rPr lang="en-US" sz="2000" dirty="0"/>
              <a:t> </a:t>
            </a:r>
            <a:r>
              <a:rPr lang="en-US" sz="2000" dirty="0" err="1"/>
              <a:t>Virtuais</a:t>
            </a:r>
            <a:r>
              <a:rPr lang="en-US" sz="2000" dirty="0"/>
              <a:t>.</a:t>
            </a:r>
          </a:p>
          <a:p>
            <a:r>
              <a:rPr lang="en-US" sz="2000" b="1" dirty="0"/>
              <a:t>Sistemas </a:t>
            </a:r>
            <a:r>
              <a:rPr lang="en-US" sz="2000" b="1" dirty="0" err="1"/>
              <a:t>Monolíticos</a:t>
            </a:r>
            <a:endParaRPr lang="en-US" sz="2000" b="1" dirty="0"/>
          </a:p>
          <a:p>
            <a:pPr lvl="1"/>
            <a:r>
              <a:rPr lang="en-US" sz="2000" b="1" dirty="0" err="1"/>
              <a:t>Definição</a:t>
            </a:r>
            <a:r>
              <a:rPr lang="en-US" sz="2000" dirty="0"/>
              <a:t>: Nos </a:t>
            </a:r>
            <a:r>
              <a:rPr lang="en-US" sz="2000" dirty="0" err="1"/>
              <a:t>sistemas</a:t>
            </a:r>
            <a:r>
              <a:rPr lang="en-US" sz="2000" dirty="0"/>
              <a:t> </a:t>
            </a:r>
            <a:r>
              <a:rPr lang="en-US" sz="2000" dirty="0" err="1"/>
              <a:t>monolíticos</a:t>
            </a:r>
            <a:r>
              <a:rPr lang="en-US" sz="2000" dirty="0"/>
              <a:t>, o kernel (</a:t>
            </a:r>
            <a:r>
              <a:rPr lang="en-US" sz="2000" dirty="0" err="1"/>
              <a:t>núcleo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operativo</a:t>
            </a:r>
            <a:r>
              <a:rPr lang="en-US" sz="2000" dirty="0"/>
              <a:t>) </a:t>
            </a:r>
            <a:r>
              <a:rPr lang="en-US" sz="2000" dirty="0" err="1"/>
              <a:t>controla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serviços</a:t>
            </a:r>
            <a:r>
              <a:rPr lang="en-US" sz="2000" dirty="0"/>
              <a:t> e </a:t>
            </a:r>
            <a:r>
              <a:rPr lang="en-US" sz="2000" dirty="0" err="1"/>
              <a:t>operações</a:t>
            </a:r>
            <a:r>
              <a:rPr lang="en-US" sz="2000" dirty="0"/>
              <a:t> </a:t>
            </a:r>
            <a:r>
              <a:rPr lang="en-US" sz="2000" dirty="0" err="1"/>
              <a:t>essenciais</a:t>
            </a:r>
            <a:r>
              <a:rPr lang="en-US" sz="2000" dirty="0"/>
              <a:t> num </a:t>
            </a:r>
            <a:r>
              <a:rPr lang="en-US" sz="2000" dirty="0" err="1"/>
              <a:t>único</a:t>
            </a:r>
            <a:r>
              <a:rPr lang="en-US" sz="2000" dirty="0"/>
              <a:t> </a:t>
            </a:r>
            <a:r>
              <a:rPr lang="en-US" sz="2000" dirty="0" err="1"/>
              <a:t>grande</a:t>
            </a:r>
            <a:r>
              <a:rPr lang="en-US" sz="2000" dirty="0"/>
              <a:t> </a:t>
            </a:r>
            <a:r>
              <a:rPr lang="en-US" sz="2000" dirty="0" err="1"/>
              <a:t>bloco</a:t>
            </a:r>
            <a:r>
              <a:rPr lang="en-US" sz="2000" dirty="0"/>
              <a:t> de </a:t>
            </a:r>
            <a:r>
              <a:rPr lang="en-US" sz="2000" dirty="0" err="1"/>
              <a:t>código</a:t>
            </a:r>
            <a:r>
              <a:rPr lang="en-US" sz="2000" dirty="0"/>
              <a:t>.</a:t>
            </a:r>
          </a:p>
          <a:p>
            <a:pPr lvl="1"/>
            <a:r>
              <a:rPr lang="en-US" sz="2000" b="1" dirty="0" err="1"/>
              <a:t>Funcionamento</a:t>
            </a:r>
            <a:r>
              <a:rPr lang="en-US" sz="2000" dirty="0"/>
              <a:t>: Todos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serviços</a:t>
            </a:r>
            <a:r>
              <a:rPr lang="en-US" sz="2000" dirty="0"/>
              <a:t> </a:t>
            </a:r>
            <a:r>
              <a:rPr lang="en-US" sz="2000" dirty="0" err="1"/>
              <a:t>essenciais</a:t>
            </a:r>
            <a:r>
              <a:rPr lang="en-US" sz="2000" dirty="0"/>
              <a:t> (</a:t>
            </a:r>
            <a:r>
              <a:rPr lang="en-US" sz="2000" dirty="0" err="1"/>
              <a:t>gestão</a:t>
            </a:r>
            <a:r>
              <a:rPr lang="en-US" sz="2000" dirty="0"/>
              <a:t> de </a:t>
            </a:r>
            <a:r>
              <a:rPr lang="en-US" sz="2000" dirty="0" err="1"/>
              <a:t>processos</a:t>
            </a:r>
            <a:r>
              <a:rPr lang="en-US" sz="2000" dirty="0"/>
              <a:t>, </a:t>
            </a:r>
            <a:r>
              <a:rPr lang="en-US" sz="2000" dirty="0" err="1"/>
              <a:t>gestão</a:t>
            </a:r>
            <a:r>
              <a:rPr lang="en-US" sz="2000" dirty="0"/>
              <a:t> de </a:t>
            </a:r>
            <a:r>
              <a:rPr lang="en-US" sz="2000" dirty="0" err="1"/>
              <a:t>memória</a:t>
            </a:r>
            <a:r>
              <a:rPr lang="en-US" sz="2000" dirty="0"/>
              <a:t>, </a:t>
            </a:r>
            <a:r>
              <a:rPr lang="en-US" sz="2000" dirty="0" err="1"/>
              <a:t>gestão</a:t>
            </a:r>
            <a:r>
              <a:rPr lang="en-US" sz="2000" dirty="0"/>
              <a:t> de </a:t>
            </a:r>
            <a:r>
              <a:rPr lang="en-US" sz="2000" dirty="0" err="1"/>
              <a:t>dispositivos</a:t>
            </a:r>
            <a:r>
              <a:rPr lang="en-US" sz="2000" dirty="0"/>
              <a:t>) </a:t>
            </a:r>
            <a:r>
              <a:rPr lang="en-US" sz="2000" dirty="0" err="1"/>
              <a:t>estão</a:t>
            </a:r>
            <a:r>
              <a:rPr lang="en-US" sz="2000" dirty="0"/>
              <a:t> </a:t>
            </a:r>
            <a:r>
              <a:rPr lang="en-US" sz="2000" dirty="0" err="1"/>
              <a:t>integrados</a:t>
            </a:r>
            <a:r>
              <a:rPr lang="en-US" sz="2000" dirty="0"/>
              <a:t> no kernel, o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funcione</a:t>
            </a:r>
            <a:r>
              <a:rPr lang="en-US" sz="2000" dirty="0"/>
              <a:t> de forma </a:t>
            </a:r>
            <a:r>
              <a:rPr lang="en-US" sz="2000" dirty="0" err="1"/>
              <a:t>rápida</a:t>
            </a:r>
            <a:r>
              <a:rPr lang="en-US" sz="2000" dirty="0"/>
              <a:t> e </a:t>
            </a:r>
            <a:r>
              <a:rPr lang="en-US" sz="2000" dirty="0" err="1"/>
              <a:t>eficiente</a:t>
            </a:r>
            <a:r>
              <a:rPr lang="en-US" sz="20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5E0F4C9-7F4B-C673-D441-3273DEDA86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Estrutura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sz="1800" b="1" dirty="0" err="1"/>
              <a:t>Exemplo</a:t>
            </a:r>
            <a:r>
              <a:rPr lang="en-US" sz="1800" dirty="0"/>
              <a:t>: Unix e Linux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exemplos</a:t>
            </a:r>
            <a:r>
              <a:rPr lang="en-US" sz="1800" dirty="0"/>
              <a:t> </a:t>
            </a:r>
            <a:r>
              <a:rPr lang="en-US" sz="1800" dirty="0" err="1"/>
              <a:t>clássicos</a:t>
            </a:r>
            <a:r>
              <a:rPr lang="en-US" sz="1800" dirty="0"/>
              <a:t> de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monolíticos</a:t>
            </a:r>
            <a:r>
              <a:rPr lang="en-US" sz="1800" dirty="0"/>
              <a:t>. Estes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operam</a:t>
            </a:r>
            <a:r>
              <a:rPr lang="en-US" sz="1800" dirty="0"/>
              <a:t> com um kernel </a:t>
            </a:r>
            <a:r>
              <a:rPr lang="en-US" sz="1800" dirty="0" err="1"/>
              <a:t>grande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tem</a:t>
            </a:r>
            <a:r>
              <a:rPr lang="en-US" sz="1800" dirty="0"/>
              <a:t> </a:t>
            </a:r>
            <a:r>
              <a:rPr lang="en-US" sz="1800" dirty="0" err="1"/>
              <a:t>acesso</a:t>
            </a:r>
            <a:r>
              <a:rPr lang="en-US" sz="1800" dirty="0"/>
              <a:t> </a:t>
            </a:r>
            <a:r>
              <a:rPr lang="en-US" sz="1800" dirty="0" err="1"/>
              <a:t>direto</a:t>
            </a:r>
            <a:r>
              <a:rPr lang="en-US" sz="1800" dirty="0"/>
              <a:t> </a:t>
            </a:r>
            <a:r>
              <a:rPr lang="en-US" sz="1800" dirty="0" err="1"/>
              <a:t>ao</a:t>
            </a:r>
            <a:r>
              <a:rPr lang="en-US" sz="1800" dirty="0"/>
              <a:t> hardware, o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torna</a:t>
            </a:r>
            <a:r>
              <a:rPr lang="en-US" sz="1800" dirty="0"/>
              <a:t> a </a:t>
            </a:r>
            <a:r>
              <a:rPr lang="en-US" sz="1800" dirty="0" err="1"/>
              <a:t>execução</a:t>
            </a:r>
            <a:r>
              <a:rPr lang="en-US" sz="1800" dirty="0"/>
              <a:t> de </a:t>
            </a:r>
            <a:r>
              <a:rPr lang="en-US" sz="1800" dirty="0" err="1"/>
              <a:t>tarefas</a:t>
            </a:r>
            <a:r>
              <a:rPr lang="en-US" sz="1800" dirty="0"/>
              <a:t> </a:t>
            </a:r>
            <a:r>
              <a:rPr lang="en-US" sz="1800" dirty="0" err="1"/>
              <a:t>muito</a:t>
            </a:r>
            <a:r>
              <a:rPr lang="en-US" sz="1800" dirty="0"/>
              <a:t> </a:t>
            </a:r>
            <a:r>
              <a:rPr lang="en-US" sz="1800" dirty="0" err="1"/>
              <a:t>eficiente</a:t>
            </a:r>
            <a:r>
              <a:rPr lang="en-US" sz="1800" dirty="0"/>
              <a:t>.</a:t>
            </a:r>
          </a:p>
          <a:p>
            <a:r>
              <a:rPr lang="en-US" sz="1800" b="1" dirty="0" err="1"/>
              <a:t>Vantagens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Maior </a:t>
            </a:r>
            <a:r>
              <a:rPr lang="en-US" sz="1800" dirty="0" err="1"/>
              <a:t>eficiência</a:t>
            </a:r>
            <a:r>
              <a:rPr lang="en-US" sz="1800" dirty="0"/>
              <a:t>,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vez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todos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serviços</a:t>
            </a:r>
            <a:r>
              <a:rPr lang="en-US" sz="1800" dirty="0"/>
              <a:t> </a:t>
            </a:r>
            <a:r>
              <a:rPr lang="en-US" sz="1800" dirty="0" err="1"/>
              <a:t>operam</a:t>
            </a:r>
            <a:r>
              <a:rPr lang="en-US" sz="1800" dirty="0"/>
              <a:t> no modo de kernel.</a:t>
            </a:r>
          </a:p>
          <a:p>
            <a:r>
              <a:rPr lang="en-US" sz="1800" b="1" dirty="0" err="1"/>
              <a:t>Desvantagens</a:t>
            </a:r>
            <a:r>
              <a:rPr lang="en-US" sz="1800" dirty="0"/>
              <a:t>:</a:t>
            </a:r>
          </a:p>
          <a:p>
            <a:pPr lvl="1"/>
            <a:r>
              <a:rPr lang="en-US" sz="1800" dirty="0" err="1"/>
              <a:t>Dificuldade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fazer</a:t>
            </a:r>
            <a:r>
              <a:rPr lang="en-US" sz="1800" dirty="0"/>
              <a:t> </a:t>
            </a:r>
            <a:r>
              <a:rPr lang="en-US" sz="1800" dirty="0" err="1"/>
              <a:t>atualizações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adicionar</a:t>
            </a:r>
            <a:r>
              <a:rPr lang="en-US" sz="1800" dirty="0"/>
              <a:t> </a:t>
            </a:r>
            <a:r>
              <a:rPr lang="en-US" sz="1800" dirty="0" err="1"/>
              <a:t>funcionalidades</a:t>
            </a:r>
            <a:r>
              <a:rPr lang="en-US" sz="1800" dirty="0"/>
              <a:t>, pois </a:t>
            </a:r>
            <a:r>
              <a:rPr lang="en-US" sz="1800" dirty="0" err="1"/>
              <a:t>qualquer</a:t>
            </a:r>
            <a:r>
              <a:rPr lang="en-US" sz="1800" dirty="0"/>
              <a:t> </a:t>
            </a:r>
            <a:r>
              <a:rPr lang="en-US" sz="1800" dirty="0" err="1"/>
              <a:t>alteração</a:t>
            </a:r>
            <a:r>
              <a:rPr lang="en-US" sz="1800" dirty="0"/>
              <a:t> </a:t>
            </a:r>
            <a:r>
              <a:rPr lang="en-US" sz="1800" dirty="0" err="1"/>
              <a:t>pode</a:t>
            </a:r>
            <a:r>
              <a:rPr lang="en-US" sz="1800" dirty="0"/>
              <a:t> </a:t>
            </a:r>
            <a:r>
              <a:rPr lang="en-US" sz="1800" dirty="0" err="1"/>
              <a:t>impactar</a:t>
            </a:r>
            <a:r>
              <a:rPr lang="en-US" sz="1800" dirty="0"/>
              <a:t> 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todo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8560514-EF80-42BE-1D09-578A8C17D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Estrutura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Sistemas Microkernel</a:t>
            </a:r>
          </a:p>
          <a:p>
            <a:pPr lvl="1"/>
            <a:r>
              <a:rPr lang="en-US" sz="1800" b="1" dirty="0" err="1"/>
              <a:t>Definição</a:t>
            </a:r>
            <a:r>
              <a:rPr lang="en-US" sz="1800" dirty="0"/>
              <a:t>: Nos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baseados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microkernel, o </a:t>
            </a:r>
            <a:r>
              <a:rPr lang="en-US" sz="1800" dirty="0" err="1"/>
              <a:t>núcleo</a:t>
            </a:r>
            <a:r>
              <a:rPr lang="en-US" sz="1800" dirty="0"/>
              <a:t> </a:t>
            </a:r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reduzido</a:t>
            </a:r>
            <a:r>
              <a:rPr lang="en-US" sz="1800" dirty="0"/>
              <a:t> </a:t>
            </a:r>
            <a:r>
              <a:rPr lang="en-US" sz="1800" dirty="0" err="1"/>
              <a:t>aos</a:t>
            </a:r>
            <a:r>
              <a:rPr lang="en-US" sz="1800" dirty="0"/>
              <a:t> </a:t>
            </a:r>
            <a:r>
              <a:rPr lang="en-US" sz="1800" dirty="0" err="1"/>
              <a:t>serviços</a:t>
            </a:r>
            <a:r>
              <a:rPr lang="en-US" sz="1800" dirty="0"/>
              <a:t> </a:t>
            </a:r>
            <a:r>
              <a:rPr lang="en-US" sz="1800" dirty="0" err="1"/>
              <a:t>essenciais</a:t>
            </a:r>
            <a:r>
              <a:rPr lang="en-US" sz="1800" dirty="0"/>
              <a:t>. Outros </a:t>
            </a:r>
            <a:r>
              <a:rPr lang="en-US" sz="1800" dirty="0" err="1"/>
              <a:t>serviços</a:t>
            </a:r>
            <a:r>
              <a:rPr lang="en-US" sz="1800" dirty="0"/>
              <a:t>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geridos</a:t>
            </a:r>
            <a:r>
              <a:rPr lang="en-US" sz="1800" dirty="0"/>
              <a:t> fora do kernel, num </a:t>
            </a:r>
            <a:r>
              <a:rPr lang="en-US" sz="1800" dirty="0" err="1"/>
              <a:t>espaço</a:t>
            </a:r>
            <a:r>
              <a:rPr lang="en-US" sz="1800" dirty="0"/>
              <a:t> </a:t>
            </a:r>
            <a:r>
              <a:rPr lang="en-US" sz="1800" dirty="0" err="1"/>
              <a:t>separado</a:t>
            </a:r>
            <a:r>
              <a:rPr lang="en-US" sz="1800" dirty="0"/>
              <a:t>, o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aumenta</a:t>
            </a:r>
            <a:r>
              <a:rPr lang="en-US" sz="1800" dirty="0"/>
              <a:t> a </a:t>
            </a:r>
            <a:r>
              <a:rPr lang="en-US" sz="1800" dirty="0" err="1"/>
              <a:t>segurança</a:t>
            </a:r>
            <a:r>
              <a:rPr lang="en-US" sz="1800" dirty="0"/>
              <a:t> e </a:t>
            </a:r>
            <a:r>
              <a:rPr lang="en-US" sz="1800" dirty="0" err="1"/>
              <a:t>modularidade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Funcionamento</a:t>
            </a:r>
            <a:r>
              <a:rPr lang="en-US" sz="1800" dirty="0"/>
              <a:t>: </a:t>
            </a:r>
            <a:r>
              <a:rPr lang="en-US" sz="1800" dirty="0" err="1"/>
              <a:t>Apenas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serviços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básicos</a:t>
            </a:r>
            <a:r>
              <a:rPr lang="en-US" sz="1800" dirty="0"/>
              <a:t> (</a:t>
            </a:r>
            <a:r>
              <a:rPr lang="en-US" sz="1800" dirty="0" err="1"/>
              <a:t>como</a:t>
            </a:r>
            <a:r>
              <a:rPr lang="en-US" sz="1800" dirty="0"/>
              <a:t> a </a:t>
            </a:r>
            <a:r>
              <a:rPr lang="en-US" sz="1800" dirty="0" err="1"/>
              <a:t>gestão</a:t>
            </a:r>
            <a:r>
              <a:rPr lang="en-US" sz="1800" dirty="0"/>
              <a:t> de </a:t>
            </a:r>
            <a:r>
              <a:rPr lang="en-US" sz="1800" dirty="0" err="1"/>
              <a:t>processos</a:t>
            </a:r>
            <a:r>
              <a:rPr lang="en-US" sz="1800" dirty="0"/>
              <a:t> e </a:t>
            </a:r>
            <a:r>
              <a:rPr lang="en-US" sz="1800" dirty="0" err="1"/>
              <a:t>comunicação</a:t>
            </a:r>
            <a:r>
              <a:rPr lang="en-US" sz="1800" dirty="0"/>
              <a:t> entre </a:t>
            </a:r>
            <a:r>
              <a:rPr lang="en-US" sz="1800" dirty="0" err="1"/>
              <a:t>processos</a:t>
            </a:r>
            <a:r>
              <a:rPr lang="en-US" sz="1800" dirty="0"/>
              <a:t>) </a:t>
            </a:r>
            <a:r>
              <a:rPr lang="en-US" sz="1800" dirty="0" err="1"/>
              <a:t>residem</a:t>
            </a:r>
            <a:r>
              <a:rPr lang="en-US" sz="1800" dirty="0"/>
              <a:t> no kernel. Outros </a:t>
            </a:r>
            <a:r>
              <a:rPr lang="en-US" sz="1800" dirty="0" err="1"/>
              <a:t>serviços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a </a:t>
            </a:r>
            <a:r>
              <a:rPr lang="en-US" sz="1800" dirty="0" err="1"/>
              <a:t>gestão</a:t>
            </a:r>
            <a:r>
              <a:rPr lang="en-US" sz="1800" dirty="0"/>
              <a:t> de </a:t>
            </a:r>
            <a:r>
              <a:rPr lang="en-US" sz="1800" dirty="0" err="1"/>
              <a:t>dispositivos</a:t>
            </a:r>
            <a:r>
              <a:rPr lang="en-US" sz="1800" dirty="0"/>
              <a:t>,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executados</a:t>
            </a:r>
            <a:r>
              <a:rPr lang="en-US" sz="1800" dirty="0"/>
              <a:t>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processos</a:t>
            </a:r>
            <a:r>
              <a:rPr lang="en-US" sz="1800" dirty="0"/>
              <a:t> de </a:t>
            </a:r>
            <a:r>
              <a:rPr lang="en-US" sz="1800" dirty="0" err="1"/>
              <a:t>utilizador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4519E04-9F37-B5DF-342D-6B01D3D947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Estrutura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sz="1800" b="1" dirty="0" err="1"/>
              <a:t>Exemplo</a:t>
            </a:r>
            <a:r>
              <a:rPr lang="en-US" sz="1800" dirty="0"/>
              <a:t>: Minix e QNX </a:t>
            </a:r>
            <a:r>
              <a:rPr lang="en-US" sz="1800" dirty="0" err="1"/>
              <a:t>utilizam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abordagem</a:t>
            </a:r>
            <a:r>
              <a:rPr lang="en-US" sz="1800" dirty="0"/>
              <a:t> de microkernel.</a:t>
            </a:r>
          </a:p>
          <a:p>
            <a:r>
              <a:rPr lang="en-US" sz="1800" b="1" dirty="0" err="1"/>
              <a:t>Vantagens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Maior </a:t>
            </a:r>
            <a:r>
              <a:rPr lang="en-US" sz="1800" dirty="0" err="1"/>
              <a:t>segurança</a:t>
            </a:r>
            <a:r>
              <a:rPr lang="en-US" sz="1800" dirty="0"/>
              <a:t> e </a:t>
            </a:r>
            <a:r>
              <a:rPr lang="en-US" sz="1800" dirty="0" err="1"/>
              <a:t>estabilidade</a:t>
            </a:r>
            <a:r>
              <a:rPr lang="en-US" sz="1800" dirty="0"/>
              <a:t>, pois </a:t>
            </a:r>
            <a:r>
              <a:rPr lang="en-US" sz="1800" dirty="0" err="1"/>
              <a:t>erros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serviços</a:t>
            </a:r>
            <a:r>
              <a:rPr lang="en-US" sz="1800" dirty="0"/>
              <a:t> </a:t>
            </a:r>
            <a:r>
              <a:rPr lang="en-US" sz="1800" dirty="0" err="1"/>
              <a:t>externos</a:t>
            </a:r>
            <a:r>
              <a:rPr lang="en-US" sz="1800" dirty="0"/>
              <a:t> </a:t>
            </a:r>
            <a:r>
              <a:rPr lang="en-US" sz="1800" dirty="0" err="1"/>
              <a:t>não</a:t>
            </a:r>
            <a:r>
              <a:rPr lang="en-US" sz="1800" dirty="0"/>
              <a:t> </a:t>
            </a:r>
            <a:r>
              <a:rPr lang="en-US" sz="1800" dirty="0" err="1"/>
              <a:t>afetam</a:t>
            </a:r>
            <a:r>
              <a:rPr lang="en-US" sz="1800" dirty="0"/>
              <a:t> o kernel.</a:t>
            </a:r>
          </a:p>
          <a:p>
            <a:pPr lvl="1"/>
            <a:r>
              <a:rPr lang="en-US" sz="1800" dirty="0" err="1"/>
              <a:t>Facilidade</a:t>
            </a:r>
            <a:r>
              <a:rPr lang="en-US" sz="1800" dirty="0"/>
              <a:t> de </a:t>
            </a:r>
            <a:r>
              <a:rPr lang="en-US" sz="1800" dirty="0" err="1"/>
              <a:t>manutenção</a:t>
            </a:r>
            <a:r>
              <a:rPr lang="en-US" sz="1800" dirty="0"/>
              <a:t> e </a:t>
            </a:r>
            <a:r>
              <a:rPr lang="en-US" sz="1800" dirty="0" err="1"/>
              <a:t>atualização</a:t>
            </a:r>
            <a:r>
              <a:rPr lang="en-US" sz="1800" dirty="0"/>
              <a:t>.</a:t>
            </a:r>
          </a:p>
          <a:p>
            <a:r>
              <a:rPr lang="en-US" sz="1800" b="1" dirty="0" err="1"/>
              <a:t>Desvantagens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Menor </a:t>
            </a:r>
            <a:r>
              <a:rPr lang="en-US" sz="1800" dirty="0" err="1"/>
              <a:t>eficiência</a:t>
            </a:r>
            <a:r>
              <a:rPr lang="en-US" sz="1800" dirty="0"/>
              <a:t> </a:t>
            </a:r>
            <a:r>
              <a:rPr lang="en-US" sz="1800" dirty="0" err="1"/>
              <a:t>devido</a:t>
            </a:r>
            <a:r>
              <a:rPr lang="en-US" sz="1800" dirty="0"/>
              <a:t> à </a:t>
            </a:r>
            <a:r>
              <a:rPr lang="en-US" sz="1800" dirty="0" err="1"/>
              <a:t>comunicação</a:t>
            </a:r>
            <a:r>
              <a:rPr lang="en-US" sz="1800" dirty="0"/>
              <a:t> entre </a:t>
            </a:r>
            <a:r>
              <a:rPr lang="en-US" sz="1800" dirty="0" err="1"/>
              <a:t>processos</a:t>
            </a:r>
            <a:r>
              <a:rPr lang="en-US" sz="1800" dirty="0"/>
              <a:t>, o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pode</a:t>
            </a:r>
            <a:r>
              <a:rPr lang="en-US" sz="1800" dirty="0"/>
              <a:t> </a:t>
            </a:r>
            <a:r>
              <a:rPr lang="en-US" sz="1800" dirty="0" err="1"/>
              <a:t>tornar</a:t>
            </a:r>
            <a:r>
              <a:rPr lang="en-US" sz="1800" dirty="0"/>
              <a:t> 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lento.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27227D-DB97-8973-5602-81BD17FFF6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Estrutura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/>
              <a:t>Máquinas</a:t>
            </a:r>
            <a:r>
              <a:rPr lang="en-US" sz="1800" b="1" dirty="0"/>
              <a:t> </a:t>
            </a:r>
            <a:r>
              <a:rPr lang="en-US" sz="1800" b="1" dirty="0" err="1"/>
              <a:t>Virtuais</a:t>
            </a:r>
            <a:endParaRPr lang="en-US" sz="1800" dirty="0"/>
          </a:p>
          <a:p>
            <a:pPr lvl="1"/>
            <a:r>
              <a:rPr lang="en-US" sz="1800" b="1" dirty="0" err="1"/>
              <a:t>Definição</a:t>
            </a:r>
            <a:r>
              <a:rPr lang="en-US" sz="1800" dirty="0"/>
              <a:t>: Uma </a:t>
            </a:r>
            <a:r>
              <a:rPr lang="en-US" sz="1800" dirty="0" err="1"/>
              <a:t>máquina</a:t>
            </a:r>
            <a:r>
              <a:rPr lang="en-US" sz="1800" dirty="0"/>
              <a:t> virtual (VM) </a:t>
            </a:r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camada</a:t>
            </a:r>
            <a:r>
              <a:rPr lang="en-US" sz="1800" dirty="0"/>
              <a:t> de </a:t>
            </a:r>
            <a:r>
              <a:rPr lang="en-US" sz="1800" dirty="0" err="1"/>
              <a:t>abstração</a:t>
            </a:r>
            <a:r>
              <a:rPr lang="en-US" sz="1800" dirty="0"/>
              <a:t> </a:t>
            </a:r>
            <a:r>
              <a:rPr lang="en-US" sz="1800" dirty="0" err="1"/>
              <a:t>criada</a:t>
            </a:r>
            <a:r>
              <a:rPr lang="en-US" sz="1800" dirty="0"/>
              <a:t> </a:t>
            </a:r>
            <a:r>
              <a:rPr lang="en-US" sz="1800" dirty="0" err="1"/>
              <a:t>pelo</a:t>
            </a:r>
            <a:r>
              <a:rPr lang="en-US" sz="1800" dirty="0"/>
              <a:t>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operativo</a:t>
            </a:r>
            <a:r>
              <a:rPr lang="en-US" sz="1800" dirty="0"/>
              <a:t> para </a:t>
            </a:r>
            <a:r>
              <a:rPr lang="en-US" sz="1800" dirty="0" err="1"/>
              <a:t>simular</a:t>
            </a:r>
            <a:r>
              <a:rPr lang="en-US" sz="1800" dirty="0"/>
              <a:t> </a:t>
            </a:r>
            <a:r>
              <a:rPr lang="en-US" sz="1800" dirty="0" err="1"/>
              <a:t>múltiplas</a:t>
            </a:r>
            <a:r>
              <a:rPr lang="en-US" sz="1800" dirty="0"/>
              <a:t> </a:t>
            </a:r>
            <a:r>
              <a:rPr lang="en-US" sz="1800" dirty="0" err="1"/>
              <a:t>instâncias</a:t>
            </a:r>
            <a:r>
              <a:rPr lang="en-US" sz="1800" dirty="0"/>
              <a:t> de hardware </a:t>
            </a:r>
            <a:r>
              <a:rPr lang="en-US" sz="1800" dirty="0" err="1"/>
              <a:t>virtualizadas</a:t>
            </a:r>
            <a:r>
              <a:rPr lang="en-US" sz="1800" dirty="0"/>
              <a:t>. Cada VM </a:t>
            </a:r>
            <a:r>
              <a:rPr lang="en-US" sz="1800" dirty="0" err="1"/>
              <a:t>pode</a:t>
            </a:r>
            <a:r>
              <a:rPr lang="en-US" sz="1800" dirty="0"/>
              <a:t> </a:t>
            </a:r>
            <a:r>
              <a:rPr lang="en-US" sz="1800" dirty="0" err="1"/>
              <a:t>executar</a:t>
            </a:r>
            <a:r>
              <a:rPr lang="en-US" sz="1800" dirty="0"/>
              <a:t> o </a:t>
            </a:r>
            <a:r>
              <a:rPr lang="en-US" sz="1800" dirty="0" err="1"/>
              <a:t>seu</a:t>
            </a:r>
            <a:r>
              <a:rPr lang="en-US" sz="1800" dirty="0"/>
              <a:t> </a:t>
            </a:r>
            <a:r>
              <a:rPr lang="en-US" sz="1800" dirty="0" err="1"/>
              <a:t>próprio</a:t>
            </a:r>
            <a:r>
              <a:rPr lang="en-US" sz="1800" dirty="0"/>
              <a:t>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operativo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se </a:t>
            </a:r>
            <a:r>
              <a:rPr lang="en-US" sz="1800" dirty="0" err="1"/>
              <a:t>estivesse</a:t>
            </a:r>
            <a:r>
              <a:rPr lang="en-US" sz="1800" dirty="0"/>
              <a:t> num </a:t>
            </a:r>
            <a:r>
              <a:rPr lang="en-US" sz="1800" dirty="0" err="1"/>
              <a:t>computador</a:t>
            </a:r>
            <a:r>
              <a:rPr lang="en-US" sz="1800" dirty="0"/>
              <a:t> </a:t>
            </a:r>
            <a:r>
              <a:rPr lang="en-US" sz="1800" dirty="0" err="1"/>
              <a:t>físico</a:t>
            </a:r>
            <a:r>
              <a:rPr lang="en-US" sz="1800" dirty="0"/>
              <a:t> </a:t>
            </a:r>
            <a:r>
              <a:rPr lang="en-US" sz="1800" dirty="0" err="1"/>
              <a:t>separado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Funcionamento</a:t>
            </a:r>
            <a:r>
              <a:rPr lang="en-US" sz="1800" dirty="0"/>
              <a:t>: </a:t>
            </a:r>
            <a:r>
              <a:rPr lang="en-US" sz="1800" dirty="0" err="1"/>
              <a:t>Através</a:t>
            </a:r>
            <a:r>
              <a:rPr lang="en-US" sz="1800" dirty="0"/>
              <a:t> de </a:t>
            </a:r>
            <a:r>
              <a:rPr lang="en-US" sz="1800" dirty="0" err="1"/>
              <a:t>virtualização</a:t>
            </a:r>
            <a:r>
              <a:rPr lang="en-US" sz="1800" dirty="0"/>
              <a:t>, um </a:t>
            </a:r>
            <a:r>
              <a:rPr lang="en-US" sz="1800" dirty="0" err="1"/>
              <a:t>único</a:t>
            </a:r>
            <a:r>
              <a:rPr lang="en-US" sz="1800" dirty="0"/>
              <a:t>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físico</a:t>
            </a:r>
            <a:r>
              <a:rPr lang="en-US" sz="1800" dirty="0"/>
              <a:t> (host) </a:t>
            </a:r>
            <a:r>
              <a:rPr lang="en-US" sz="1800" dirty="0" err="1"/>
              <a:t>pode</a:t>
            </a:r>
            <a:r>
              <a:rPr lang="en-US" sz="1800" dirty="0"/>
              <a:t> </a:t>
            </a:r>
            <a:r>
              <a:rPr lang="en-US" sz="1800" dirty="0" err="1"/>
              <a:t>executar</a:t>
            </a:r>
            <a:r>
              <a:rPr lang="en-US" sz="1800" dirty="0"/>
              <a:t> </a:t>
            </a:r>
            <a:r>
              <a:rPr lang="en-US" sz="1800" dirty="0" err="1"/>
              <a:t>várias</a:t>
            </a:r>
            <a:r>
              <a:rPr lang="en-US" sz="1800" dirty="0"/>
              <a:t> </a:t>
            </a:r>
            <a:r>
              <a:rPr lang="en-US" sz="1800" dirty="0" err="1"/>
              <a:t>máquinas</a:t>
            </a:r>
            <a:r>
              <a:rPr lang="en-US" sz="1800" dirty="0"/>
              <a:t> </a:t>
            </a:r>
            <a:r>
              <a:rPr lang="en-US" sz="1800" dirty="0" err="1"/>
              <a:t>virtuais</a:t>
            </a:r>
            <a:r>
              <a:rPr lang="en-US" sz="1800" dirty="0"/>
              <a:t> (guest), </a:t>
            </a:r>
            <a:r>
              <a:rPr lang="en-US" sz="1800" dirty="0" err="1"/>
              <a:t>cada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isolada</a:t>
            </a:r>
            <a:r>
              <a:rPr lang="en-US" sz="1800" dirty="0"/>
              <a:t> das </a:t>
            </a:r>
            <a:r>
              <a:rPr lang="en-US" sz="1800" dirty="0" err="1"/>
              <a:t>outras</a:t>
            </a:r>
            <a:r>
              <a:rPr lang="en-US" sz="1800" dirty="0"/>
              <a:t>. A </a:t>
            </a:r>
            <a:r>
              <a:rPr lang="en-US" sz="1800" dirty="0" err="1"/>
              <a:t>camada</a:t>
            </a:r>
            <a:r>
              <a:rPr lang="en-US" sz="1800" dirty="0"/>
              <a:t> de software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gere</a:t>
            </a:r>
            <a:r>
              <a:rPr lang="en-US" sz="1800" dirty="0"/>
              <a:t> </a:t>
            </a:r>
            <a:r>
              <a:rPr lang="en-US" sz="1800" dirty="0" err="1"/>
              <a:t>estas</a:t>
            </a:r>
            <a:r>
              <a:rPr lang="en-US" sz="1800" dirty="0"/>
              <a:t> VMs </a:t>
            </a:r>
            <a:r>
              <a:rPr lang="en-US" sz="1800" dirty="0" err="1"/>
              <a:t>é</a:t>
            </a:r>
            <a:r>
              <a:rPr lang="en-US" sz="1800" dirty="0"/>
              <a:t> o hypervisor.</a:t>
            </a:r>
          </a:p>
          <a:p>
            <a:r>
              <a:rPr lang="en-US" sz="1800" b="1" dirty="0"/>
              <a:t>Hypervisor Tipo 1:</a:t>
            </a:r>
            <a:r>
              <a:rPr lang="en-US" sz="1800" dirty="0"/>
              <a:t> Corre </a:t>
            </a:r>
            <a:r>
              <a:rPr lang="en-US" sz="1800" dirty="0" err="1"/>
              <a:t>diretamente</a:t>
            </a:r>
            <a:r>
              <a:rPr lang="en-US" sz="1800" dirty="0"/>
              <a:t> no hardware, </a:t>
            </a:r>
            <a:r>
              <a:rPr lang="en-US" sz="1800" dirty="0" err="1"/>
              <a:t>como</a:t>
            </a:r>
            <a:r>
              <a:rPr lang="en-US" sz="1800" dirty="0"/>
              <a:t> o VMware </a:t>
            </a:r>
            <a:r>
              <a:rPr lang="en-US" sz="1800" dirty="0" err="1"/>
              <a:t>ESXi</a:t>
            </a:r>
            <a:r>
              <a:rPr lang="en-US" sz="1800" dirty="0"/>
              <a:t>.</a:t>
            </a:r>
          </a:p>
          <a:p>
            <a:r>
              <a:rPr lang="en-US" sz="1800" b="1" dirty="0"/>
              <a:t>Hypervisor Tipo 2</a:t>
            </a:r>
            <a:r>
              <a:rPr lang="en-US" sz="1800" dirty="0"/>
              <a:t>: Corre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cima</a:t>
            </a:r>
            <a:r>
              <a:rPr lang="en-US" sz="1800" dirty="0"/>
              <a:t> do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operativo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o VirtualBox e o VMware Workstation.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623FB71-2A5B-23FC-14DF-BF18265BEB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Estrutura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sz="1800" b="1" dirty="0" err="1"/>
              <a:t>Exemplo</a:t>
            </a:r>
            <a:r>
              <a:rPr lang="en-US" sz="1800" dirty="0"/>
              <a:t>: VMware, Hyper-V e VirtualBox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exemplos</a:t>
            </a:r>
            <a:r>
              <a:rPr lang="en-US" sz="1800" dirty="0"/>
              <a:t> de </a:t>
            </a:r>
            <a:r>
              <a:rPr lang="en-US" sz="1800" dirty="0" err="1"/>
              <a:t>plataformas</a:t>
            </a:r>
            <a:r>
              <a:rPr lang="en-US" sz="1800" dirty="0"/>
              <a:t> de </a:t>
            </a:r>
            <a:r>
              <a:rPr lang="en-US" sz="1800" dirty="0" err="1"/>
              <a:t>virtualização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permitem</a:t>
            </a:r>
            <a:r>
              <a:rPr lang="en-US" sz="1800" dirty="0"/>
              <a:t> </a:t>
            </a:r>
            <a:r>
              <a:rPr lang="en-US" sz="1800" dirty="0" err="1"/>
              <a:t>criar</a:t>
            </a:r>
            <a:r>
              <a:rPr lang="en-US" sz="1800" dirty="0"/>
              <a:t> e </a:t>
            </a:r>
            <a:r>
              <a:rPr lang="en-US" sz="1800" dirty="0" err="1"/>
              <a:t>gerir</a:t>
            </a:r>
            <a:r>
              <a:rPr lang="en-US" sz="1800" dirty="0"/>
              <a:t> VMs.</a:t>
            </a:r>
          </a:p>
          <a:p>
            <a:r>
              <a:rPr lang="en-US" sz="1800" b="1" dirty="0" err="1"/>
              <a:t>Vantagens</a:t>
            </a:r>
            <a:r>
              <a:rPr lang="en-US" sz="1800" dirty="0"/>
              <a:t>:</a:t>
            </a:r>
          </a:p>
          <a:p>
            <a:pPr lvl="1"/>
            <a:r>
              <a:rPr lang="en-US" sz="1800" dirty="0" err="1"/>
              <a:t>Flexibilidade</a:t>
            </a:r>
            <a:r>
              <a:rPr lang="en-US" sz="1800" dirty="0"/>
              <a:t> para </a:t>
            </a:r>
            <a:r>
              <a:rPr lang="en-US" sz="1800" dirty="0" err="1"/>
              <a:t>testar</a:t>
            </a:r>
            <a:r>
              <a:rPr lang="en-US" sz="1800" dirty="0"/>
              <a:t> </a:t>
            </a:r>
            <a:r>
              <a:rPr lang="en-US" sz="1800" dirty="0" err="1"/>
              <a:t>diferentes</a:t>
            </a:r>
            <a:r>
              <a:rPr lang="en-US" sz="1800" dirty="0"/>
              <a:t>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operativos</a:t>
            </a:r>
            <a:r>
              <a:rPr lang="en-US" sz="1800" dirty="0"/>
              <a:t> e </a:t>
            </a:r>
            <a:r>
              <a:rPr lang="en-US" sz="1800" dirty="0" err="1"/>
              <a:t>configurações</a:t>
            </a:r>
            <a:r>
              <a:rPr lang="en-US" sz="1800" dirty="0"/>
              <a:t>.</a:t>
            </a:r>
          </a:p>
          <a:p>
            <a:pPr lvl="1"/>
            <a:r>
              <a:rPr lang="en-US" sz="1800" dirty="0" err="1"/>
              <a:t>Segurança</a:t>
            </a:r>
            <a:r>
              <a:rPr lang="en-US" sz="1800" dirty="0"/>
              <a:t> e </a:t>
            </a:r>
            <a:r>
              <a:rPr lang="en-US" sz="1800" dirty="0" err="1"/>
              <a:t>isolamento</a:t>
            </a:r>
            <a:r>
              <a:rPr lang="en-US" sz="1800" dirty="0"/>
              <a:t>, pois </a:t>
            </a:r>
            <a:r>
              <a:rPr lang="en-US" sz="1800" dirty="0" err="1"/>
              <a:t>cada</a:t>
            </a:r>
            <a:r>
              <a:rPr lang="en-US" sz="1800" dirty="0"/>
              <a:t> VM </a:t>
            </a:r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independente</a:t>
            </a:r>
            <a:r>
              <a:rPr lang="en-US" sz="1800" dirty="0"/>
              <a:t>.</a:t>
            </a:r>
          </a:p>
          <a:p>
            <a:r>
              <a:rPr lang="en-US" sz="1800" b="1" dirty="0" err="1"/>
              <a:t>Desvantagens</a:t>
            </a:r>
            <a:r>
              <a:rPr lang="en-US" sz="1800" dirty="0"/>
              <a:t>:</a:t>
            </a:r>
          </a:p>
          <a:p>
            <a:pPr lvl="1"/>
            <a:r>
              <a:rPr lang="en-US" sz="1800" dirty="0" err="1"/>
              <a:t>Requer</a:t>
            </a:r>
            <a:r>
              <a:rPr lang="en-US" sz="1800" dirty="0"/>
              <a:t> </a:t>
            </a:r>
            <a:r>
              <a:rPr lang="en-US" sz="1800" dirty="0" err="1"/>
              <a:t>recursos</a:t>
            </a:r>
            <a:r>
              <a:rPr lang="en-US" sz="1800" dirty="0"/>
              <a:t> </a:t>
            </a:r>
            <a:r>
              <a:rPr lang="en-US" sz="1800" dirty="0" err="1"/>
              <a:t>significativos</a:t>
            </a:r>
            <a:r>
              <a:rPr lang="en-US" sz="1800" dirty="0"/>
              <a:t> de hardware para </a:t>
            </a:r>
            <a:r>
              <a:rPr lang="en-US" sz="1800" dirty="0" err="1"/>
              <a:t>suportar</a:t>
            </a:r>
            <a:r>
              <a:rPr lang="en-US" sz="1800" dirty="0"/>
              <a:t> </a:t>
            </a:r>
            <a:r>
              <a:rPr lang="en-US" sz="1800" dirty="0" err="1"/>
              <a:t>múltiplas</a:t>
            </a:r>
            <a:r>
              <a:rPr lang="en-US" sz="1800" dirty="0"/>
              <a:t> VMs.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5454F9C-734B-A6A3-27C0-B18DC3DF43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Estrutura</a:t>
            </a:r>
            <a:r>
              <a:rPr lang="en-US" dirty="0"/>
              <a:t> do Sistema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3"/>
            <a:ext cx="10999214" cy="4036673"/>
          </a:xfrm>
        </p:spPr>
        <p:txBody>
          <a:bodyPr>
            <a:normAutofit/>
          </a:bodyPr>
          <a:lstStyle/>
          <a:p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operativos</a:t>
            </a:r>
            <a:r>
              <a:rPr lang="en-US" sz="1800" dirty="0"/>
              <a:t> </a:t>
            </a:r>
            <a:r>
              <a:rPr lang="en-US" sz="1800" dirty="0" err="1"/>
              <a:t>protegem</a:t>
            </a:r>
            <a:r>
              <a:rPr lang="en-US" sz="1800" dirty="0"/>
              <a:t> o hardware contra </a:t>
            </a:r>
            <a:r>
              <a:rPr lang="en-US" sz="1800" dirty="0" err="1"/>
              <a:t>acessos</a:t>
            </a:r>
            <a:r>
              <a:rPr lang="en-US" sz="1800" dirty="0"/>
              <a:t> </a:t>
            </a:r>
            <a:r>
              <a:rPr lang="en-US" sz="1800" dirty="0" err="1"/>
              <a:t>indevidos</a:t>
            </a:r>
            <a:r>
              <a:rPr lang="en-US" sz="1800" dirty="0"/>
              <a:t> e </a:t>
            </a:r>
            <a:r>
              <a:rPr lang="en-US" sz="1800" dirty="0" err="1"/>
              <a:t>garantem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cada</a:t>
            </a:r>
            <a:r>
              <a:rPr lang="en-US" sz="1800" dirty="0"/>
              <a:t> </a:t>
            </a:r>
            <a:r>
              <a:rPr lang="en-US" sz="1800" dirty="0" err="1"/>
              <a:t>processo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utilizador</a:t>
            </a:r>
            <a:r>
              <a:rPr lang="en-US" sz="1800" dirty="0"/>
              <a:t> </a:t>
            </a:r>
            <a:r>
              <a:rPr lang="en-US" sz="1800" dirty="0" err="1"/>
              <a:t>interaja</a:t>
            </a:r>
            <a:r>
              <a:rPr lang="en-US" sz="1800" dirty="0"/>
              <a:t> com o hardware de forma </a:t>
            </a:r>
            <a:r>
              <a:rPr lang="en-US" sz="1800" dirty="0" err="1"/>
              <a:t>segura</a:t>
            </a:r>
            <a:r>
              <a:rPr lang="en-US" sz="1800" dirty="0"/>
              <a:t> e </a:t>
            </a:r>
            <a:r>
              <a:rPr lang="en-US" sz="1800" dirty="0" err="1"/>
              <a:t>controlada</a:t>
            </a:r>
            <a:r>
              <a:rPr lang="en-US" sz="1800" dirty="0"/>
              <a:t>. Essa </a:t>
            </a:r>
            <a:r>
              <a:rPr lang="en-US" sz="1800" dirty="0" err="1"/>
              <a:t>proteção</a:t>
            </a:r>
            <a:r>
              <a:rPr lang="en-US" sz="1800" dirty="0"/>
              <a:t> </a:t>
            </a:r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essencial</a:t>
            </a:r>
            <a:r>
              <a:rPr lang="en-US" sz="1800" dirty="0"/>
              <a:t> para </a:t>
            </a:r>
            <a:r>
              <a:rPr lang="en-US" sz="1800" dirty="0" err="1"/>
              <a:t>preservar</a:t>
            </a:r>
            <a:r>
              <a:rPr lang="en-US" sz="1800" dirty="0"/>
              <a:t> a </a:t>
            </a:r>
            <a:r>
              <a:rPr lang="en-US" sz="1800" dirty="0" err="1"/>
              <a:t>integridade</a:t>
            </a:r>
            <a:r>
              <a:rPr lang="en-US" sz="1800" dirty="0"/>
              <a:t> dos dados e </a:t>
            </a:r>
            <a:r>
              <a:rPr lang="en-US" sz="1800" dirty="0" err="1"/>
              <a:t>garantir</a:t>
            </a:r>
            <a:r>
              <a:rPr lang="en-US" sz="1800" dirty="0"/>
              <a:t> o </a:t>
            </a:r>
            <a:r>
              <a:rPr lang="en-US" sz="1800" dirty="0" err="1"/>
              <a:t>funcionamento</a:t>
            </a:r>
            <a:r>
              <a:rPr lang="en-US" sz="1800" dirty="0"/>
              <a:t> </a:t>
            </a:r>
            <a:r>
              <a:rPr lang="en-US" sz="1800" dirty="0" err="1"/>
              <a:t>seguro</a:t>
            </a:r>
            <a:r>
              <a:rPr lang="en-US" sz="1800" dirty="0"/>
              <a:t> do </a:t>
            </a:r>
            <a:r>
              <a:rPr lang="en-US" sz="1800" dirty="0" err="1"/>
              <a:t>sistema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 err="1"/>
              <a:t>Mecanismos</a:t>
            </a:r>
            <a:r>
              <a:rPr lang="en-US" sz="1800" b="1" dirty="0"/>
              <a:t> de </a:t>
            </a:r>
            <a:r>
              <a:rPr lang="en-US" sz="1800" b="1" dirty="0" err="1"/>
              <a:t>Proteção</a:t>
            </a:r>
            <a:endParaRPr lang="en-US" sz="1800" b="1" dirty="0"/>
          </a:p>
          <a:p>
            <a:r>
              <a:rPr lang="en-US" sz="1800" b="1" dirty="0" err="1"/>
              <a:t>Modos</a:t>
            </a:r>
            <a:r>
              <a:rPr lang="en-US" sz="1800" b="1" dirty="0"/>
              <a:t> de </a:t>
            </a:r>
            <a:r>
              <a:rPr lang="en-US" sz="1800" b="1" dirty="0" err="1"/>
              <a:t>Acesso</a:t>
            </a:r>
            <a:r>
              <a:rPr lang="en-US" sz="1800" b="1" dirty="0"/>
              <a:t>:</a:t>
            </a:r>
            <a:endParaRPr lang="en-US" sz="1800" dirty="0"/>
          </a:p>
          <a:p>
            <a:pPr lvl="1"/>
            <a:r>
              <a:rPr lang="en-US" sz="1800" dirty="0"/>
              <a:t>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operativo</a:t>
            </a:r>
            <a:r>
              <a:rPr lang="en-US" sz="1800" dirty="0"/>
              <a:t> define </a:t>
            </a:r>
            <a:r>
              <a:rPr lang="en-US" sz="1800" dirty="0" err="1"/>
              <a:t>diferentes</a:t>
            </a:r>
            <a:r>
              <a:rPr lang="en-US" sz="1800" dirty="0"/>
              <a:t> </a:t>
            </a:r>
            <a:r>
              <a:rPr lang="en-US" sz="1800" dirty="0" err="1"/>
              <a:t>modos</a:t>
            </a:r>
            <a:r>
              <a:rPr lang="en-US" sz="1800" dirty="0"/>
              <a:t> de </a:t>
            </a:r>
            <a:r>
              <a:rPr lang="en-US" sz="1800" dirty="0" err="1"/>
              <a:t>operação</a:t>
            </a:r>
            <a:r>
              <a:rPr lang="en-US" sz="1800" dirty="0"/>
              <a:t> para </a:t>
            </a:r>
            <a:r>
              <a:rPr lang="en-US" sz="1800" dirty="0" err="1"/>
              <a:t>separar</a:t>
            </a:r>
            <a:r>
              <a:rPr lang="en-US" sz="1800" dirty="0"/>
              <a:t> as </a:t>
            </a:r>
            <a:r>
              <a:rPr lang="en-US" sz="1800" dirty="0" err="1"/>
              <a:t>funções</a:t>
            </a:r>
            <a:r>
              <a:rPr lang="en-US" sz="1800" dirty="0"/>
              <a:t> </a:t>
            </a:r>
            <a:r>
              <a:rPr lang="en-US" sz="1800" dirty="0" err="1"/>
              <a:t>básicas</a:t>
            </a:r>
            <a:r>
              <a:rPr lang="en-US" sz="1800" dirty="0"/>
              <a:t> e </a:t>
            </a:r>
            <a:r>
              <a:rPr lang="en-US" sz="1800" dirty="0" err="1"/>
              <a:t>privilegiadas</a:t>
            </a:r>
            <a:r>
              <a:rPr lang="en-US" sz="1800" dirty="0"/>
              <a:t> (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exemplo</a:t>
            </a:r>
            <a:r>
              <a:rPr lang="en-US" sz="1800" dirty="0"/>
              <a:t>, modo </a:t>
            </a:r>
            <a:r>
              <a:rPr lang="en-US" sz="1800" dirty="0" err="1"/>
              <a:t>utilizador</a:t>
            </a:r>
            <a:r>
              <a:rPr lang="en-US" sz="1800" dirty="0"/>
              <a:t> e modo kernel).</a:t>
            </a:r>
          </a:p>
          <a:p>
            <a:pPr lvl="1"/>
            <a:r>
              <a:rPr lang="en-US" sz="1800" b="1" dirty="0"/>
              <a:t>Modo Kernel:</a:t>
            </a:r>
            <a:r>
              <a:rPr lang="en-US" sz="1800" dirty="0"/>
              <a:t> </a:t>
            </a: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acesse</a:t>
            </a:r>
            <a:r>
              <a:rPr lang="en-US" sz="1800" dirty="0"/>
              <a:t> </a:t>
            </a:r>
            <a:r>
              <a:rPr lang="en-US" sz="1800" dirty="0" err="1"/>
              <a:t>diretamente</a:t>
            </a:r>
            <a:r>
              <a:rPr lang="en-US" sz="1800" dirty="0"/>
              <a:t> o hardware, </a:t>
            </a:r>
            <a:r>
              <a:rPr lang="en-US" sz="1800" dirty="0" err="1"/>
              <a:t>sendo</a:t>
            </a:r>
            <a:r>
              <a:rPr lang="en-US" sz="1800" dirty="0"/>
              <a:t> </a:t>
            </a:r>
            <a:r>
              <a:rPr lang="en-US" sz="1800" dirty="0" err="1"/>
              <a:t>utilizado</a:t>
            </a:r>
            <a:r>
              <a:rPr lang="en-US" sz="1800" dirty="0"/>
              <a:t> para </a:t>
            </a:r>
            <a:r>
              <a:rPr lang="en-US" sz="1800" dirty="0" err="1"/>
              <a:t>operações</a:t>
            </a:r>
            <a:r>
              <a:rPr lang="en-US" sz="1800" dirty="0"/>
              <a:t> </a:t>
            </a:r>
            <a:r>
              <a:rPr lang="en-US" sz="1800" dirty="0" err="1"/>
              <a:t>sensíveis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a </a:t>
            </a:r>
            <a:r>
              <a:rPr lang="en-US" sz="1800" dirty="0" err="1"/>
              <a:t>gestão</a:t>
            </a:r>
            <a:r>
              <a:rPr lang="en-US" sz="1800" dirty="0"/>
              <a:t> de </a:t>
            </a:r>
            <a:r>
              <a:rPr lang="en-US" sz="1800" dirty="0" err="1"/>
              <a:t>memória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/>
              <a:t>Modo </a:t>
            </a:r>
            <a:r>
              <a:rPr lang="en-US" sz="1800" b="1" dirty="0" err="1"/>
              <a:t>Utilizador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dirty="0" err="1"/>
              <a:t>Restringe</a:t>
            </a:r>
            <a:r>
              <a:rPr lang="en-US" sz="1800" dirty="0"/>
              <a:t> o </a:t>
            </a:r>
            <a:r>
              <a:rPr lang="en-US" sz="1800" dirty="0" err="1"/>
              <a:t>acesso</a:t>
            </a:r>
            <a:r>
              <a:rPr lang="en-US" sz="1800" dirty="0"/>
              <a:t> </a:t>
            </a:r>
            <a:r>
              <a:rPr lang="en-US" sz="1800" dirty="0" err="1"/>
              <a:t>ao</a:t>
            </a:r>
            <a:r>
              <a:rPr lang="en-US" sz="1800" dirty="0"/>
              <a:t> hardware para </a:t>
            </a:r>
            <a:r>
              <a:rPr lang="en-US" sz="1800" dirty="0" err="1"/>
              <a:t>operações</a:t>
            </a:r>
            <a:r>
              <a:rPr lang="en-US" sz="1800" dirty="0"/>
              <a:t> </a:t>
            </a:r>
            <a:r>
              <a:rPr lang="en-US" sz="1800" dirty="0" err="1"/>
              <a:t>básicas</a:t>
            </a:r>
            <a:r>
              <a:rPr lang="en-US" sz="1800" dirty="0"/>
              <a:t>, </a:t>
            </a:r>
            <a:r>
              <a:rPr lang="en-US" sz="1800" dirty="0" err="1"/>
              <a:t>limitando</a:t>
            </a:r>
            <a:r>
              <a:rPr lang="en-US" sz="1800" dirty="0"/>
              <a:t> o </a:t>
            </a:r>
            <a:r>
              <a:rPr lang="en-US" sz="1800" dirty="0" err="1"/>
              <a:t>utilizador</a:t>
            </a:r>
            <a:r>
              <a:rPr lang="en-US" sz="1800" dirty="0"/>
              <a:t> e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processos</a:t>
            </a:r>
            <a:r>
              <a:rPr lang="en-US" sz="1800" dirty="0"/>
              <a:t> de </a:t>
            </a:r>
            <a:r>
              <a:rPr lang="en-US" sz="1800" dirty="0" err="1"/>
              <a:t>aceder</a:t>
            </a:r>
            <a:r>
              <a:rPr lang="en-US" sz="1800" dirty="0"/>
              <a:t> </a:t>
            </a:r>
            <a:r>
              <a:rPr lang="en-US" sz="1800" dirty="0" err="1"/>
              <a:t>diretamente</a:t>
            </a:r>
            <a:r>
              <a:rPr lang="en-US" sz="1800" dirty="0"/>
              <a:t> </a:t>
            </a:r>
            <a:r>
              <a:rPr lang="en-US" sz="1800" dirty="0" err="1"/>
              <a:t>ao</a:t>
            </a:r>
            <a:r>
              <a:rPr lang="en-US" sz="1800" dirty="0"/>
              <a:t> hardware, </a:t>
            </a:r>
            <a:r>
              <a:rPr lang="en-US" sz="1800" dirty="0" err="1"/>
              <a:t>evitando</a:t>
            </a:r>
            <a:r>
              <a:rPr lang="en-US" sz="1800" dirty="0"/>
              <a:t> </a:t>
            </a:r>
            <a:r>
              <a:rPr lang="en-US" sz="1800" dirty="0" err="1"/>
              <a:t>alterações</a:t>
            </a:r>
            <a:r>
              <a:rPr lang="en-US" sz="1800" dirty="0"/>
              <a:t> </a:t>
            </a:r>
            <a:r>
              <a:rPr lang="en-US" sz="1800" dirty="0" err="1"/>
              <a:t>indesejadas</a:t>
            </a:r>
            <a:r>
              <a:rPr lang="en-US" sz="1800" dirty="0"/>
              <a:t> e </a:t>
            </a:r>
            <a:r>
              <a:rPr lang="en-US" sz="1800" dirty="0" err="1"/>
              <a:t>comprometedoras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2EC99AE-F93D-72AF-1250-8AAC5EC67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Prote</a:t>
            </a:r>
            <a:r>
              <a:rPr lang="pt-BR" altLang="en-US" dirty="0" err="1"/>
              <a:t>c</a:t>
            </a:r>
            <a:r>
              <a:rPr lang="en-US" dirty="0" err="1"/>
              <a:t>ão</a:t>
            </a:r>
            <a:r>
              <a:rPr lang="en-US" dirty="0"/>
              <a:t> do Hardware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3"/>
            <a:ext cx="10999214" cy="41530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b="1" dirty="0" err="1"/>
              <a:t>Permissões</a:t>
            </a:r>
            <a:r>
              <a:rPr lang="en-US" sz="1800" b="1" dirty="0"/>
              <a:t> e Controle de </a:t>
            </a:r>
            <a:r>
              <a:rPr lang="en-US" sz="1800" b="1" dirty="0" err="1"/>
              <a:t>Acesso</a:t>
            </a:r>
            <a:r>
              <a:rPr lang="en-US" sz="1800" b="1" dirty="0"/>
              <a:t>:</a:t>
            </a:r>
            <a:endParaRPr lang="en-US" sz="1800" dirty="0"/>
          </a:p>
          <a:p>
            <a:pPr lvl="1">
              <a:lnSpc>
                <a:spcPct val="90000"/>
              </a:lnSpc>
            </a:pP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operativos</a:t>
            </a:r>
            <a:r>
              <a:rPr lang="en-US" sz="1800" dirty="0"/>
              <a:t> </a:t>
            </a:r>
            <a:r>
              <a:rPr lang="en-US" sz="1800" dirty="0" err="1"/>
              <a:t>aplicam</a:t>
            </a:r>
            <a:r>
              <a:rPr lang="en-US" sz="1800" dirty="0"/>
              <a:t> </a:t>
            </a:r>
            <a:r>
              <a:rPr lang="en-US" sz="1800" dirty="0" err="1"/>
              <a:t>permissões</a:t>
            </a:r>
            <a:r>
              <a:rPr lang="en-US" sz="1800" dirty="0"/>
              <a:t> de </a:t>
            </a:r>
            <a:r>
              <a:rPr lang="en-US" sz="1800" dirty="0" err="1"/>
              <a:t>acesso</a:t>
            </a:r>
            <a:r>
              <a:rPr lang="en-US" sz="1800" dirty="0"/>
              <a:t> para </a:t>
            </a:r>
            <a:r>
              <a:rPr lang="en-US" sz="1800" dirty="0" err="1"/>
              <a:t>controlar</a:t>
            </a:r>
            <a:r>
              <a:rPr lang="en-US" sz="1800" dirty="0"/>
              <a:t> </a:t>
            </a:r>
            <a:r>
              <a:rPr lang="en-US" sz="1800" dirty="0" err="1"/>
              <a:t>quem</a:t>
            </a:r>
            <a:r>
              <a:rPr lang="en-US" sz="1800" dirty="0"/>
              <a:t> </a:t>
            </a:r>
            <a:r>
              <a:rPr lang="en-US" sz="1800" dirty="0" err="1"/>
              <a:t>pode</a:t>
            </a:r>
            <a:r>
              <a:rPr lang="en-US" sz="1800" dirty="0"/>
              <a:t> </a:t>
            </a:r>
            <a:r>
              <a:rPr lang="en-US" sz="1800" dirty="0" err="1"/>
              <a:t>ler</a:t>
            </a:r>
            <a:r>
              <a:rPr lang="en-US" sz="1800" dirty="0"/>
              <a:t>, </a:t>
            </a:r>
            <a:r>
              <a:rPr lang="en-US" sz="1800" dirty="0" err="1"/>
              <a:t>escrever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executar</a:t>
            </a:r>
            <a:r>
              <a:rPr lang="en-US" sz="1800" dirty="0"/>
              <a:t> </a:t>
            </a:r>
            <a:r>
              <a:rPr lang="en-US" sz="1800" dirty="0" err="1"/>
              <a:t>arquivos</a:t>
            </a:r>
            <a:r>
              <a:rPr lang="en-US" sz="1800" dirty="0"/>
              <a:t> e </a:t>
            </a:r>
            <a:r>
              <a:rPr lang="en-US" sz="1800" dirty="0" err="1"/>
              <a:t>dispositivos</a:t>
            </a:r>
            <a:r>
              <a:rPr lang="en-US" sz="18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Em </a:t>
            </a:r>
            <a:r>
              <a:rPr lang="en-US" sz="1800" dirty="0" err="1"/>
              <a:t>sistemas</a:t>
            </a:r>
            <a:r>
              <a:rPr lang="en-US" sz="1800" dirty="0"/>
              <a:t> </a:t>
            </a:r>
            <a:r>
              <a:rPr lang="en-US" sz="1800" dirty="0" err="1"/>
              <a:t>baseados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Linux,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exemplo</a:t>
            </a:r>
            <a:r>
              <a:rPr lang="en-US" sz="1800" dirty="0"/>
              <a:t>, </a:t>
            </a:r>
            <a:r>
              <a:rPr lang="en-US" sz="1800" dirty="0" err="1"/>
              <a:t>utiliza</a:t>
            </a:r>
            <a:r>
              <a:rPr lang="en-US" sz="1800" dirty="0"/>
              <a:t>-se o </a:t>
            </a:r>
            <a:r>
              <a:rPr lang="en-US" sz="1800" dirty="0" err="1"/>
              <a:t>comando</a:t>
            </a:r>
            <a:r>
              <a:rPr lang="en-US" sz="1800" dirty="0"/>
              <a:t> </a:t>
            </a:r>
            <a:r>
              <a:rPr lang="en-US" sz="1800" dirty="0" err="1"/>
              <a:t>chmod</a:t>
            </a:r>
            <a:r>
              <a:rPr lang="en-US" sz="1800" dirty="0"/>
              <a:t> para </a:t>
            </a:r>
            <a:r>
              <a:rPr lang="en-US" sz="1800" dirty="0" err="1"/>
              <a:t>definir</a:t>
            </a:r>
            <a:r>
              <a:rPr lang="en-US" sz="1800" dirty="0"/>
              <a:t> </a:t>
            </a:r>
            <a:r>
              <a:rPr lang="en-US" sz="1800" dirty="0" err="1"/>
              <a:t>permissões</a:t>
            </a:r>
            <a:r>
              <a:rPr lang="en-US" sz="1800" dirty="0"/>
              <a:t> </a:t>
            </a:r>
            <a:r>
              <a:rPr lang="en-US" sz="1800" dirty="0" err="1"/>
              <a:t>específicas</a:t>
            </a:r>
            <a:r>
              <a:rPr lang="en-US" sz="1800" dirty="0"/>
              <a:t> para </a:t>
            </a:r>
            <a:r>
              <a:rPr lang="en-US" sz="1800" dirty="0" err="1"/>
              <a:t>diferentes</a:t>
            </a:r>
            <a:r>
              <a:rPr lang="en-US" sz="1800" dirty="0"/>
              <a:t> </a:t>
            </a:r>
            <a:r>
              <a:rPr lang="en-US" sz="1800" dirty="0" err="1"/>
              <a:t>utilizadores</a:t>
            </a:r>
            <a:r>
              <a:rPr lang="en-US" sz="1800" dirty="0"/>
              <a:t> e </a:t>
            </a:r>
            <a:r>
              <a:rPr lang="en-US" sz="1800" dirty="0" err="1"/>
              <a:t>grupos</a:t>
            </a:r>
            <a:r>
              <a:rPr lang="en-US" sz="18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Este </a:t>
            </a:r>
            <a:r>
              <a:rPr lang="en-US" sz="1800" dirty="0" err="1"/>
              <a:t>controle</a:t>
            </a:r>
            <a:r>
              <a:rPr lang="en-US" sz="1800" dirty="0"/>
              <a:t> </a:t>
            </a:r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crítico</a:t>
            </a:r>
            <a:r>
              <a:rPr lang="en-US" sz="1800" dirty="0"/>
              <a:t> para </a:t>
            </a:r>
            <a:r>
              <a:rPr lang="en-US" sz="1800" dirty="0" err="1"/>
              <a:t>evitar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processos</a:t>
            </a:r>
            <a:r>
              <a:rPr lang="en-US" sz="1800" dirty="0"/>
              <a:t> mal-</a:t>
            </a:r>
            <a:r>
              <a:rPr lang="en-US" sz="1800" dirty="0" err="1"/>
              <a:t>intencionados</a:t>
            </a:r>
            <a:r>
              <a:rPr lang="en-US" sz="1800" dirty="0"/>
              <a:t> </a:t>
            </a:r>
            <a:r>
              <a:rPr lang="en-US" sz="1800" dirty="0" err="1"/>
              <a:t>acessem</a:t>
            </a:r>
            <a:r>
              <a:rPr lang="en-US" sz="1800" dirty="0"/>
              <a:t> </a:t>
            </a:r>
            <a:r>
              <a:rPr lang="en-US" sz="1800" dirty="0" err="1"/>
              <a:t>diretamente</a:t>
            </a:r>
            <a:r>
              <a:rPr lang="en-US" sz="1800" dirty="0"/>
              <a:t> a CPU, </a:t>
            </a:r>
            <a:r>
              <a:rPr lang="en-US" sz="1800" dirty="0" err="1"/>
              <a:t>memória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dispositivos</a:t>
            </a:r>
            <a:r>
              <a:rPr lang="en-US" sz="1800" dirty="0"/>
              <a:t> de entrada/</a:t>
            </a:r>
            <a:r>
              <a:rPr lang="en-US" sz="1800" dirty="0" err="1"/>
              <a:t>saída</a:t>
            </a:r>
            <a:r>
              <a:rPr lang="en-US" sz="18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800" b="1" dirty="0" err="1"/>
              <a:t>Exemplos</a:t>
            </a:r>
            <a:endParaRPr lang="en-US" sz="1800" b="1" dirty="0"/>
          </a:p>
          <a:p>
            <a:pPr lvl="1">
              <a:lnSpc>
                <a:spcPct val="90000"/>
              </a:lnSpc>
            </a:pPr>
            <a:r>
              <a:rPr lang="en-US" sz="1800" b="1" dirty="0"/>
              <a:t>Windows</a:t>
            </a:r>
            <a:r>
              <a:rPr lang="en-US" sz="1800" dirty="0"/>
              <a:t>: </a:t>
            </a:r>
            <a:r>
              <a:rPr lang="en-US" sz="1800" dirty="0" err="1"/>
              <a:t>Utiliza</a:t>
            </a:r>
            <a:r>
              <a:rPr lang="en-US" sz="1800" dirty="0"/>
              <a:t> um </a:t>
            </a:r>
            <a:r>
              <a:rPr lang="en-US" sz="1800" dirty="0" err="1"/>
              <a:t>sistema</a:t>
            </a:r>
            <a:r>
              <a:rPr lang="en-US" sz="1800" dirty="0"/>
              <a:t> de </a:t>
            </a:r>
            <a:r>
              <a:rPr lang="en-US" sz="1800" dirty="0" err="1"/>
              <a:t>permissões</a:t>
            </a:r>
            <a:r>
              <a:rPr lang="en-US" sz="1800" dirty="0"/>
              <a:t> e o User Account Control (UAC) para </a:t>
            </a:r>
            <a:r>
              <a:rPr lang="en-US" sz="1800" dirty="0" err="1"/>
              <a:t>limitar</a:t>
            </a:r>
            <a:r>
              <a:rPr lang="en-US" sz="1800" dirty="0"/>
              <a:t> o </a:t>
            </a:r>
            <a:r>
              <a:rPr lang="en-US" sz="1800" dirty="0" err="1"/>
              <a:t>acesso</a:t>
            </a:r>
            <a:r>
              <a:rPr lang="en-US" sz="1800" dirty="0"/>
              <a:t> a </a:t>
            </a:r>
            <a:r>
              <a:rPr lang="en-US" sz="1800" dirty="0" err="1"/>
              <a:t>operações</a:t>
            </a:r>
            <a:r>
              <a:rPr lang="en-US" sz="1800" dirty="0"/>
              <a:t> </a:t>
            </a:r>
            <a:r>
              <a:rPr lang="en-US" sz="1800" dirty="0" err="1"/>
              <a:t>críticas</a:t>
            </a:r>
            <a:r>
              <a:rPr lang="en-US" sz="18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1800" b="1" dirty="0"/>
              <a:t>Linux</a:t>
            </a:r>
            <a:r>
              <a:rPr lang="en-US" sz="1800" dirty="0"/>
              <a:t>: Baseia-se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permissões</a:t>
            </a:r>
            <a:r>
              <a:rPr lang="en-US" sz="1800" dirty="0"/>
              <a:t> de </a:t>
            </a:r>
            <a:r>
              <a:rPr lang="en-US" sz="1800" dirty="0" err="1"/>
              <a:t>leitura</a:t>
            </a:r>
            <a:r>
              <a:rPr lang="en-US" sz="1800" dirty="0"/>
              <a:t>/</a:t>
            </a:r>
            <a:r>
              <a:rPr lang="en-US" sz="1800" dirty="0" err="1"/>
              <a:t>escrita</a:t>
            </a:r>
            <a:r>
              <a:rPr lang="en-US" sz="1800" dirty="0"/>
              <a:t>/</a:t>
            </a:r>
            <a:r>
              <a:rPr lang="en-US" sz="1800" dirty="0" err="1"/>
              <a:t>executável</a:t>
            </a:r>
            <a:r>
              <a:rPr lang="en-US" sz="1800" dirty="0"/>
              <a:t> e </a:t>
            </a:r>
            <a:r>
              <a:rPr lang="en-US" sz="1800" dirty="0" err="1"/>
              <a:t>utiliza</a:t>
            </a:r>
            <a:r>
              <a:rPr lang="en-US" sz="1800" dirty="0"/>
              <a:t> o </a:t>
            </a:r>
            <a:r>
              <a:rPr lang="en-US" sz="1800" dirty="0" err="1"/>
              <a:t>chown</a:t>
            </a:r>
            <a:r>
              <a:rPr lang="en-US" sz="1800" dirty="0"/>
              <a:t> e </a:t>
            </a:r>
            <a:r>
              <a:rPr lang="en-US" sz="1800" dirty="0" err="1"/>
              <a:t>chmod</a:t>
            </a:r>
            <a:r>
              <a:rPr lang="en-US" sz="1800" dirty="0"/>
              <a:t> para </a:t>
            </a:r>
            <a:r>
              <a:rPr lang="en-US" sz="1800" dirty="0" err="1"/>
              <a:t>atribuir</a:t>
            </a:r>
            <a:r>
              <a:rPr lang="en-US" sz="1800" dirty="0"/>
              <a:t> </a:t>
            </a:r>
            <a:r>
              <a:rPr lang="en-US" sz="1800" dirty="0" err="1"/>
              <a:t>direitos</a:t>
            </a:r>
            <a:r>
              <a:rPr lang="en-US" sz="1800" dirty="0"/>
              <a:t> de </a:t>
            </a:r>
            <a:r>
              <a:rPr lang="en-US" sz="1800" dirty="0" err="1"/>
              <a:t>acesso</a:t>
            </a:r>
            <a:r>
              <a:rPr lang="en-US" sz="1800" dirty="0"/>
              <a:t> a </a:t>
            </a:r>
            <a:r>
              <a:rPr lang="en-US" sz="1800" dirty="0" err="1"/>
              <a:t>arquivos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E815A3A-B498-01C6-8085-E75717E168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Prote</a:t>
            </a:r>
            <a:r>
              <a:rPr lang="pt-BR" altLang="en-US" dirty="0" err="1"/>
              <a:t>c</a:t>
            </a:r>
            <a:r>
              <a:rPr lang="en-US" dirty="0" err="1"/>
              <a:t>ão</a:t>
            </a:r>
            <a:r>
              <a:rPr lang="en-US" dirty="0"/>
              <a:t> do Hardware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3"/>
            <a:ext cx="10999214" cy="4493873"/>
          </a:xfrm>
        </p:spPr>
        <p:txBody>
          <a:bodyPr>
            <a:normAutofit/>
          </a:bodyPr>
          <a:lstStyle/>
          <a:p>
            <a:r>
              <a:rPr lang="en-US" sz="2000" dirty="0" err="1"/>
              <a:t>Conceitos</a:t>
            </a:r>
            <a:r>
              <a:rPr lang="en-US" sz="2000" dirty="0"/>
              <a:t> de </a:t>
            </a:r>
            <a:r>
              <a:rPr lang="en-US" sz="2000" dirty="0" err="1"/>
              <a:t>Processos</a:t>
            </a:r>
            <a:r>
              <a:rPr lang="en-US" sz="2000" dirty="0"/>
              <a:t> e Threads</a:t>
            </a:r>
          </a:p>
          <a:p>
            <a:pPr lvl="1"/>
            <a:r>
              <a:rPr lang="en-US" sz="2000" dirty="0" err="1"/>
              <a:t>Processos</a:t>
            </a:r>
            <a:r>
              <a:rPr lang="en-US" sz="2000" dirty="0"/>
              <a:t>:</a:t>
            </a:r>
          </a:p>
          <a:p>
            <a:pPr lvl="2"/>
            <a:r>
              <a:rPr lang="en-US" sz="2000" dirty="0"/>
              <a:t>Um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instância</a:t>
            </a:r>
            <a:r>
              <a:rPr lang="en-US" sz="2000" dirty="0"/>
              <a:t> de um </a:t>
            </a:r>
            <a:r>
              <a:rPr lang="en-US" sz="2000" dirty="0" err="1"/>
              <a:t>programa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execução</a:t>
            </a:r>
            <a:r>
              <a:rPr lang="en-US" sz="2000" dirty="0"/>
              <a:t>. Cada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tem</a:t>
            </a:r>
            <a:r>
              <a:rPr lang="en-US" sz="2000" dirty="0"/>
              <a:t> o </a:t>
            </a:r>
            <a:r>
              <a:rPr lang="en-US" sz="2000" dirty="0" err="1"/>
              <a:t>seu</a:t>
            </a:r>
            <a:r>
              <a:rPr lang="en-US" sz="2000" dirty="0"/>
              <a:t> </a:t>
            </a:r>
            <a:r>
              <a:rPr lang="en-US" sz="2000" dirty="0" err="1"/>
              <a:t>próprio</a:t>
            </a:r>
            <a:r>
              <a:rPr lang="en-US" sz="2000" dirty="0"/>
              <a:t> </a:t>
            </a:r>
            <a:r>
              <a:rPr lang="en-US" sz="2000" dirty="0" err="1"/>
              <a:t>espaço</a:t>
            </a:r>
            <a:r>
              <a:rPr lang="en-US" sz="2000" dirty="0"/>
              <a:t> de </a:t>
            </a:r>
            <a:r>
              <a:rPr lang="en-US" sz="2000" dirty="0" err="1"/>
              <a:t>memória</a:t>
            </a:r>
            <a:r>
              <a:rPr lang="en-US" sz="2000" dirty="0"/>
              <a:t> e dados, e 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operativo</a:t>
            </a:r>
            <a:r>
              <a:rPr lang="en-US" sz="2000" dirty="0"/>
              <a:t> </a:t>
            </a:r>
            <a:r>
              <a:rPr lang="en-US" sz="2000" dirty="0" err="1"/>
              <a:t>aloca</a:t>
            </a:r>
            <a:r>
              <a:rPr lang="en-US" sz="2000" dirty="0"/>
              <a:t> </a:t>
            </a:r>
            <a:r>
              <a:rPr lang="en-US" sz="2000" dirty="0" err="1"/>
              <a:t>recursos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CPU e </a:t>
            </a:r>
            <a:r>
              <a:rPr lang="en-US" sz="2000" dirty="0" err="1"/>
              <a:t>memória</a:t>
            </a:r>
            <a:r>
              <a:rPr lang="en-US" sz="2000" dirty="0"/>
              <a:t> para </a:t>
            </a:r>
            <a:r>
              <a:rPr lang="en-US" sz="2000" dirty="0" err="1"/>
              <a:t>cada</a:t>
            </a:r>
            <a:r>
              <a:rPr lang="en-US" sz="2000" dirty="0"/>
              <a:t> um.</a:t>
            </a:r>
          </a:p>
          <a:p>
            <a:pPr lvl="1"/>
            <a:r>
              <a:rPr lang="en-US" sz="2000" dirty="0" err="1"/>
              <a:t>Ciclo</a:t>
            </a:r>
            <a:r>
              <a:rPr lang="en-US" sz="2000" dirty="0"/>
              <a:t> de Vida dos </a:t>
            </a:r>
            <a:r>
              <a:rPr lang="en-US" sz="2000" dirty="0" err="1"/>
              <a:t>Processos</a:t>
            </a:r>
            <a:r>
              <a:rPr lang="en-US" sz="2000" dirty="0"/>
              <a:t>:</a:t>
            </a:r>
          </a:p>
          <a:p>
            <a:pPr lvl="2"/>
            <a:r>
              <a:rPr lang="en-US" sz="2000" b="1" dirty="0" err="1"/>
              <a:t>Criação</a:t>
            </a:r>
            <a:r>
              <a:rPr lang="en-US" sz="2000" dirty="0"/>
              <a:t>: O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criado</a:t>
            </a:r>
            <a:r>
              <a:rPr lang="en-US" sz="2000" dirty="0"/>
              <a:t> e </a:t>
            </a:r>
            <a:r>
              <a:rPr lang="en-US" sz="2000" dirty="0" err="1"/>
              <a:t>registado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tabela</a:t>
            </a:r>
            <a:r>
              <a:rPr lang="en-US" sz="2000" dirty="0"/>
              <a:t> de </a:t>
            </a:r>
            <a:r>
              <a:rPr lang="en-US" sz="2000" dirty="0" err="1"/>
              <a:t>processos</a:t>
            </a:r>
            <a:r>
              <a:rPr lang="en-US" sz="2000" dirty="0"/>
              <a:t> do SO.</a:t>
            </a:r>
          </a:p>
          <a:p>
            <a:pPr lvl="2"/>
            <a:r>
              <a:rPr lang="en-US" sz="2000" b="1" dirty="0" err="1"/>
              <a:t>Execução</a:t>
            </a:r>
            <a:r>
              <a:rPr lang="en-US" sz="2000" dirty="0"/>
              <a:t>: O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executado</a:t>
            </a:r>
            <a:r>
              <a:rPr lang="en-US" sz="2000" dirty="0"/>
              <a:t> e </a:t>
            </a:r>
            <a:r>
              <a:rPr lang="en-US" sz="2000" dirty="0" err="1"/>
              <a:t>utiliza</a:t>
            </a:r>
            <a:r>
              <a:rPr lang="en-US" sz="2000" dirty="0"/>
              <a:t> </a:t>
            </a:r>
            <a:r>
              <a:rPr lang="en-US" sz="2000" dirty="0" err="1"/>
              <a:t>recursos</a:t>
            </a:r>
            <a:r>
              <a:rPr lang="en-US" sz="2000" dirty="0"/>
              <a:t> da CPU.</a:t>
            </a:r>
          </a:p>
          <a:p>
            <a:pPr lvl="2"/>
            <a:r>
              <a:rPr lang="en-US" sz="2000" b="1" dirty="0"/>
              <a:t>Espera</a:t>
            </a:r>
            <a:r>
              <a:rPr lang="en-US" sz="2000" dirty="0"/>
              <a:t>: Quando o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aguarda</a:t>
            </a:r>
            <a:r>
              <a:rPr lang="en-US" sz="2000" dirty="0"/>
              <a:t> um </a:t>
            </a:r>
            <a:r>
              <a:rPr lang="en-US" sz="2000" dirty="0" err="1"/>
              <a:t>recurso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evento</a:t>
            </a:r>
            <a:r>
              <a:rPr lang="en-US" sz="2000" dirty="0"/>
              <a:t>.</a:t>
            </a:r>
          </a:p>
          <a:p>
            <a:pPr lvl="2"/>
            <a:r>
              <a:rPr lang="en-US" sz="2000" b="1" dirty="0" err="1"/>
              <a:t>Terminação</a:t>
            </a:r>
            <a:r>
              <a:rPr lang="en-US" sz="2000" dirty="0"/>
              <a:t>: O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finalizado</a:t>
            </a:r>
            <a:r>
              <a:rPr lang="en-US" sz="2000" dirty="0"/>
              <a:t> e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seus</a:t>
            </a:r>
            <a:r>
              <a:rPr lang="en-US" sz="2000" dirty="0"/>
              <a:t> </a:t>
            </a:r>
            <a:r>
              <a:rPr lang="en-US" sz="2000" dirty="0" err="1"/>
              <a:t>recursos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libertados</a:t>
            </a:r>
            <a:r>
              <a:rPr lang="en-US" sz="20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ACFB664-9AC6-46EA-C076-04CC1E67DE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Gestão</a:t>
            </a:r>
            <a:r>
              <a:rPr lang="en-US" dirty="0"/>
              <a:t> de </a:t>
            </a:r>
            <a:r>
              <a:rPr lang="en-US" dirty="0" err="1"/>
              <a:t>Processos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sz="2000" b="1" dirty="0"/>
              <a:t>Threads:</a:t>
            </a:r>
          </a:p>
          <a:p>
            <a:pPr lvl="1"/>
            <a:r>
              <a:rPr lang="en-US" sz="2000" dirty="0"/>
              <a:t>Um thread </a:t>
            </a:r>
            <a:r>
              <a:rPr lang="en-US" sz="2000" dirty="0" err="1"/>
              <a:t>é</a:t>
            </a:r>
            <a:r>
              <a:rPr lang="en-US" sz="2000" dirty="0"/>
              <a:t> a </a:t>
            </a:r>
            <a:r>
              <a:rPr lang="en-US" sz="2000" dirty="0" err="1"/>
              <a:t>menor</a:t>
            </a:r>
            <a:r>
              <a:rPr lang="en-US" sz="2000" dirty="0"/>
              <a:t> </a:t>
            </a:r>
            <a:r>
              <a:rPr lang="en-US" sz="2000" dirty="0" err="1"/>
              <a:t>unidade</a:t>
            </a:r>
            <a:r>
              <a:rPr lang="en-US" sz="2000" dirty="0"/>
              <a:t> de </a:t>
            </a:r>
            <a:r>
              <a:rPr lang="en-US" sz="2000" dirty="0" err="1"/>
              <a:t>execução</a:t>
            </a:r>
            <a:r>
              <a:rPr lang="en-US" sz="2000" dirty="0"/>
              <a:t> de um </a:t>
            </a:r>
            <a:r>
              <a:rPr lang="en-US" sz="2000" dirty="0" err="1"/>
              <a:t>processo</a:t>
            </a:r>
            <a:r>
              <a:rPr lang="en-US" sz="2000" dirty="0"/>
              <a:t>. Um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pode</a:t>
            </a:r>
            <a:r>
              <a:rPr lang="en-US" sz="2000" dirty="0"/>
              <a:t> </a:t>
            </a:r>
            <a:r>
              <a:rPr lang="en-US" sz="2000" dirty="0" err="1"/>
              <a:t>ter</a:t>
            </a:r>
            <a:r>
              <a:rPr lang="en-US" sz="2000" dirty="0"/>
              <a:t> </a:t>
            </a:r>
            <a:r>
              <a:rPr lang="en-US" sz="2000" dirty="0" err="1"/>
              <a:t>múltiplos</a:t>
            </a:r>
            <a:r>
              <a:rPr lang="en-US" sz="2000" dirty="0"/>
              <a:t> threads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compartilham</a:t>
            </a:r>
            <a:r>
              <a:rPr lang="en-US" sz="2000" dirty="0"/>
              <a:t> o </a:t>
            </a:r>
            <a:r>
              <a:rPr lang="en-US" sz="2000" dirty="0" err="1"/>
              <a:t>mesmo</a:t>
            </a:r>
            <a:r>
              <a:rPr lang="en-US" sz="2000" dirty="0"/>
              <a:t> </a:t>
            </a:r>
            <a:r>
              <a:rPr lang="en-US" sz="2000" dirty="0" err="1"/>
              <a:t>espaço</a:t>
            </a:r>
            <a:r>
              <a:rPr lang="en-US" sz="2000" dirty="0"/>
              <a:t> de </a:t>
            </a:r>
            <a:r>
              <a:rPr lang="en-US" sz="2000" dirty="0" err="1"/>
              <a:t>memória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Threads </a:t>
            </a:r>
            <a:r>
              <a:rPr lang="en-US" sz="2000" dirty="0" err="1"/>
              <a:t>permitem</a:t>
            </a:r>
            <a:r>
              <a:rPr lang="en-US" sz="2000" dirty="0"/>
              <a:t> multithreading, </a:t>
            </a:r>
            <a:r>
              <a:rPr lang="en-US" sz="2000" dirty="0" err="1"/>
              <a:t>onde</a:t>
            </a:r>
            <a:r>
              <a:rPr lang="en-US" sz="2000" dirty="0"/>
              <a:t> </a:t>
            </a:r>
            <a:r>
              <a:rPr lang="en-US" sz="2000" dirty="0" err="1"/>
              <a:t>várias</a:t>
            </a:r>
            <a:r>
              <a:rPr lang="en-US" sz="2000" dirty="0"/>
              <a:t> </a:t>
            </a:r>
            <a:r>
              <a:rPr lang="en-US" sz="2000" dirty="0" err="1"/>
              <a:t>tarefas</a:t>
            </a:r>
            <a:r>
              <a:rPr lang="en-US" sz="2000" dirty="0"/>
              <a:t> de um </a:t>
            </a:r>
            <a:r>
              <a:rPr lang="en-US" sz="2000" dirty="0" err="1"/>
              <a:t>mesmo</a:t>
            </a:r>
            <a:r>
              <a:rPr lang="en-US" sz="2000" dirty="0"/>
              <a:t> </a:t>
            </a:r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ser </a:t>
            </a:r>
            <a:r>
              <a:rPr lang="en-US" sz="2000" dirty="0" err="1"/>
              <a:t>executadas</a:t>
            </a:r>
            <a:r>
              <a:rPr lang="en-US" sz="2000" dirty="0"/>
              <a:t> </a:t>
            </a:r>
            <a:r>
              <a:rPr lang="en-US" sz="2000" dirty="0" err="1"/>
              <a:t>simultaneamente</a:t>
            </a:r>
            <a:r>
              <a:rPr lang="en-US" sz="2000" dirty="0"/>
              <a:t>, </a:t>
            </a:r>
            <a:r>
              <a:rPr lang="en-US" sz="2000" dirty="0" err="1"/>
              <a:t>aumentando</a:t>
            </a:r>
            <a:r>
              <a:rPr lang="en-US" sz="2000" dirty="0"/>
              <a:t> a </a:t>
            </a:r>
            <a:r>
              <a:rPr lang="en-US" sz="2000" dirty="0" err="1"/>
              <a:t>eficiência</a:t>
            </a:r>
            <a:r>
              <a:rPr lang="en-US" sz="20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F656508-5DC1-3079-4DC4-073A0078A7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Gestão</a:t>
            </a:r>
            <a:r>
              <a:rPr lang="en-US" dirty="0"/>
              <a:t> de </a:t>
            </a:r>
            <a:r>
              <a:rPr lang="en-US" dirty="0" err="1"/>
              <a:t>Processos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O </a:t>
            </a:r>
            <a:r>
              <a:rPr lang="en-US" sz="1800" dirty="0" err="1"/>
              <a:t>escalonamento</a:t>
            </a:r>
            <a:r>
              <a:rPr lang="en-US" sz="1800" dirty="0"/>
              <a:t> de </a:t>
            </a:r>
            <a:r>
              <a:rPr lang="en-US" sz="1800" dirty="0" err="1"/>
              <a:t>processos</a:t>
            </a:r>
            <a:r>
              <a:rPr lang="en-US" sz="1800" dirty="0"/>
              <a:t> </a:t>
            </a:r>
            <a:r>
              <a:rPr lang="en-US" sz="1800" dirty="0" err="1"/>
              <a:t>é</a:t>
            </a:r>
            <a:r>
              <a:rPr lang="en-US" sz="1800" dirty="0"/>
              <a:t> a forma </a:t>
            </a:r>
            <a:r>
              <a:rPr lang="en-US" sz="1800" dirty="0" err="1"/>
              <a:t>como</a:t>
            </a:r>
            <a:r>
              <a:rPr lang="en-US" sz="1800" dirty="0"/>
              <a:t> o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operativo</a:t>
            </a:r>
            <a:r>
              <a:rPr lang="en-US" sz="1800" dirty="0"/>
              <a:t> </a:t>
            </a:r>
            <a:r>
              <a:rPr lang="en-US" sz="1800" dirty="0" err="1"/>
              <a:t>organiza</a:t>
            </a:r>
            <a:r>
              <a:rPr lang="en-US" sz="1800" dirty="0"/>
              <a:t> e </a:t>
            </a:r>
            <a:r>
              <a:rPr lang="en-US" sz="1800" dirty="0" err="1"/>
              <a:t>aloca</a:t>
            </a:r>
            <a:r>
              <a:rPr lang="en-US" sz="1800" dirty="0"/>
              <a:t> a CPU para </a:t>
            </a:r>
            <a:r>
              <a:rPr lang="en-US" sz="1800" dirty="0" err="1"/>
              <a:t>diferentes</a:t>
            </a:r>
            <a:r>
              <a:rPr lang="en-US" sz="1800" dirty="0"/>
              <a:t> </a:t>
            </a:r>
            <a:r>
              <a:rPr lang="en-US" sz="1800" dirty="0" err="1"/>
              <a:t>processos</a:t>
            </a:r>
            <a:r>
              <a:rPr lang="en-US" sz="1800" dirty="0"/>
              <a:t>, </a:t>
            </a:r>
            <a:r>
              <a:rPr lang="en-US" sz="1800" dirty="0" err="1"/>
              <a:t>utilizando</a:t>
            </a:r>
            <a:r>
              <a:rPr lang="en-US" sz="1800" dirty="0"/>
              <a:t> </a:t>
            </a:r>
            <a:r>
              <a:rPr lang="en-US" sz="1800" dirty="0" err="1"/>
              <a:t>algoritmos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ajudam</a:t>
            </a:r>
            <a:r>
              <a:rPr lang="en-US" sz="1800" dirty="0"/>
              <a:t> a </a:t>
            </a:r>
            <a:r>
              <a:rPr lang="en-US" sz="1800" dirty="0" err="1"/>
              <a:t>manter</a:t>
            </a:r>
            <a:r>
              <a:rPr lang="en-US" sz="1800" dirty="0"/>
              <a:t> a </a:t>
            </a:r>
            <a:r>
              <a:rPr lang="en-US" sz="1800" dirty="0" err="1"/>
              <a:t>eficiência</a:t>
            </a:r>
            <a:r>
              <a:rPr lang="en-US" sz="1800" dirty="0"/>
              <a:t> e </a:t>
            </a:r>
            <a:r>
              <a:rPr lang="en-US" sz="1800" dirty="0" err="1"/>
              <a:t>justiça</a:t>
            </a:r>
            <a:r>
              <a:rPr lang="en-US" sz="1800" dirty="0"/>
              <a:t> no </a:t>
            </a:r>
            <a:r>
              <a:rPr lang="en-US" sz="1800" dirty="0" err="1"/>
              <a:t>uso</a:t>
            </a:r>
            <a:r>
              <a:rPr lang="en-US" sz="1800" dirty="0"/>
              <a:t> do CPU.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2B0AEDA-78B5-C36E-71BA-5A235D57E7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Escalonamento</a:t>
            </a:r>
            <a:r>
              <a:rPr lang="en-US" dirty="0"/>
              <a:t> de </a:t>
            </a:r>
            <a:r>
              <a:rPr lang="en-US" dirty="0" err="1"/>
              <a:t>Processos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/>
              <a:t>Principais</a:t>
            </a:r>
            <a:r>
              <a:rPr lang="en-US" sz="1800" b="1" dirty="0"/>
              <a:t> </a:t>
            </a:r>
            <a:r>
              <a:rPr lang="en-US" sz="1800" b="1" dirty="0" err="1"/>
              <a:t>Algoritmos</a:t>
            </a:r>
            <a:r>
              <a:rPr lang="en-US" sz="1800" b="1" dirty="0"/>
              <a:t> de </a:t>
            </a:r>
            <a:r>
              <a:rPr lang="en-US" sz="1800" b="1" dirty="0" err="1"/>
              <a:t>Escalonamento</a:t>
            </a:r>
            <a:r>
              <a:rPr lang="en-US" sz="1800" b="1" dirty="0"/>
              <a:t>:</a:t>
            </a:r>
          </a:p>
          <a:p>
            <a:r>
              <a:rPr lang="en-US" sz="1800" b="1" dirty="0"/>
              <a:t>FIFO (First-In-First-Out):</a:t>
            </a:r>
            <a:endParaRPr lang="en-US" sz="1800" dirty="0"/>
          </a:p>
          <a:p>
            <a:pPr lvl="1"/>
            <a:r>
              <a:rPr lang="en-US" sz="1800" dirty="0" err="1"/>
              <a:t>Processos</a:t>
            </a:r>
            <a:r>
              <a:rPr lang="en-US" sz="1800" dirty="0"/>
              <a:t>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executados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ordem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chegam</a:t>
            </a:r>
            <a:r>
              <a:rPr lang="en-US" sz="1800" dirty="0"/>
              <a:t>. O </a:t>
            </a:r>
            <a:r>
              <a:rPr lang="en-US" sz="1800" dirty="0" err="1"/>
              <a:t>primeiro</a:t>
            </a:r>
            <a:r>
              <a:rPr lang="en-US" sz="1800" dirty="0"/>
              <a:t> a </a:t>
            </a:r>
            <a:r>
              <a:rPr lang="en-US" sz="1800" dirty="0" err="1"/>
              <a:t>chegar</a:t>
            </a:r>
            <a:r>
              <a:rPr lang="en-US" sz="1800" dirty="0"/>
              <a:t> </a:t>
            </a:r>
            <a:r>
              <a:rPr lang="en-US" sz="1800" dirty="0" err="1"/>
              <a:t>é</a:t>
            </a:r>
            <a:r>
              <a:rPr lang="en-US" sz="1800" dirty="0"/>
              <a:t> o </a:t>
            </a:r>
            <a:r>
              <a:rPr lang="en-US" sz="1800" dirty="0" err="1"/>
              <a:t>primeiro</a:t>
            </a:r>
            <a:r>
              <a:rPr lang="en-US" sz="1800" dirty="0"/>
              <a:t> a ser </a:t>
            </a:r>
            <a:r>
              <a:rPr lang="en-US" sz="1800" dirty="0" err="1"/>
              <a:t>executado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Vantagem</a:t>
            </a:r>
            <a:r>
              <a:rPr lang="en-US" sz="1800" dirty="0"/>
              <a:t>: Simples de </a:t>
            </a:r>
            <a:r>
              <a:rPr lang="en-US" sz="1800" dirty="0" err="1"/>
              <a:t>implementar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Desvantagem</a:t>
            </a:r>
            <a:r>
              <a:rPr lang="en-US" sz="1800" dirty="0"/>
              <a:t>: </a:t>
            </a:r>
            <a:r>
              <a:rPr lang="en-US" sz="1800" dirty="0" err="1"/>
              <a:t>Não</a:t>
            </a:r>
            <a:r>
              <a:rPr lang="en-US" sz="1800" dirty="0"/>
              <a:t> </a:t>
            </a:r>
            <a:r>
              <a:rPr lang="en-US" sz="1800" dirty="0" err="1"/>
              <a:t>otimiza</a:t>
            </a:r>
            <a:r>
              <a:rPr lang="en-US" sz="1800" dirty="0"/>
              <a:t> o tempo de </a:t>
            </a:r>
            <a:r>
              <a:rPr lang="en-US" sz="1800" dirty="0" err="1"/>
              <a:t>resposta</a:t>
            </a:r>
            <a:r>
              <a:rPr lang="en-US" sz="1800" dirty="0"/>
              <a:t>, pois </a:t>
            </a:r>
            <a:r>
              <a:rPr lang="en-US" sz="1800" dirty="0" err="1"/>
              <a:t>processos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curtos</a:t>
            </a:r>
            <a:r>
              <a:rPr lang="en-US" sz="1800" dirty="0"/>
              <a:t> </a:t>
            </a:r>
            <a:r>
              <a:rPr lang="en-US" sz="1800" dirty="0" err="1"/>
              <a:t>podem</a:t>
            </a:r>
            <a:r>
              <a:rPr lang="en-US" sz="1800" dirty="0"/>
              <a:t> </a:t>
            </a:r>
            <a:r>
              <a:rPr lang="en-US" sz="1800" dirty="0" err="1"/>
              <a:t>esperar</a:t>
            </a:r>
            <a:r>
              <a:rPr lang="en-US" sz="1800" dirty="0"/>
              <a:t> </a:t>
            </a:r>
            <a:r>
              <a:rPr lang="en-US" sz="1800" dirty="0" err="1"/>
              <a:t>longos</a:t>
            </a:r>
            <a:r>
              <a:rPr lang="en-US" sz="1800" dirty="0"/>
              <a:t> </a:t>
            </a:r>
            <a:r>
              <a:rPr lang="en-US" sz="1800" dirty="0" err="1"/>
              <a:t>períodos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FD4D6D5-ABCC-1A2D-A9BE-52A412E41F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Escalonamento</a:t>
            </a:r>
            <a:r>
              <a:rPr lang="en-US" dirty="0"/>
              <a:t> de </a:t>
            </a:r>
            <a:r>
              <a:rPr lang="en-US" dirty="0" err="1"/>
              <a:t>Processos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953C-49D4-799D-3BD9-82665100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5798-9452-1073-E64C-C0958DDA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6DD3E-A729-EE28-7DC7-1A7941B9F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/>
              <a:t>Principais</a:t>
            </a:r>
            <a:r>
              <a:rPr lang="en-US" sz="1800" b="1" dirty="0"/>
              <a:t> </a:t>
            </a:r>
            <a:r>
              <a:rPr lang="en-US" sz="1800" b="1" dirty="0" err="1"/>
              <a:t>Algoritmos</a:t>
            </a:r>
            <a:r>
              <a:rPr lang="en-US" sz="1800" b="1" dirty="0"/>
              <a:t> de </a:t>
            </a:r>
            <a:r>
              <a:rPr lang="en-US" sz="1800" b="1" dirty="0" err="1"/>
              <a:t>Escalonamento</a:t>
            </a:r>
            <a:r>
              <a:rPr lang="en-US" sz="1800" b="1" dirty="0"/>
              <a:t>:</a:t>
            </a:r>
          </a:p>
          <a:p>
            <a:r>
              <a:rPr lang="en-US" sz="1800" b="1" dirty="0"/>
              <a:t>FIFO (First-In-First-Out):</a:t>
            </a:r>
            <a:endParaRPr lang="en-US" sz="1800" dirty="0"/>
          </a:p>
          <a:p>
            <a:pPr lvl="1"/>
            <a:r>
              <a:rPr lang="en-US" sz="1800" dirty="0" err="1"/>
              <a:t>Processos</a:t>
            </a:r>
            <a:r>
              <a:rPr lang="en-US" sz="1800" dirty="0"/>
              <a:t>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executados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ordem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chegam</a:t>
            </a:r>
            <a:r>
              <a:rPr lang="en-US" sz="1800" dirty="0"/>
              <a:t>. O </a:t>
            </a:r>
            <a:r>
              <a:rPr lang="en-US" sz="1800" dirty="0" err="1"/>
              <a:t>primeiro</a:t>
            </a:r>
            <a:r>
              <a:rPr lang="en-US" sz="1800" dirty="0"/>
              <a:t> a </a:t>
            </a:r>
            <a:r>
              <a:rPr lang="en-US" sz="1800" dirty="0" err="1"/>
              <a:t>chegar</a:t>
            </a:r>
            <a:r>
              <a:rPr lang="en-US" sz="1800" dirty="0"/>
              <a:t> </a:t>
            </a:r>
            <a:r>
              <a:rPr lang="en-US" sz="1800" dirty="0" err="1"/>
              <a:t>é</a:t>
            </a:r>
            <a:r>
              <a:rPr lang="en-US" sz="1800" dirty="0"/>
              <a:t> o </a:t>
            </a:r>
            <a:r>
              <a:rPr lang="en-US" sz="1800" dirty="0" err="1"/>
              <a:t>primeiro</a:t>
            </a:r>
            <a:r>
              <a:rPr lang="en-US" sz="1800" dirty="0"/>
              <a:t> a ser </a:t>
            </a:r>
            <a:r>
              <a:rPr lang="en-US" sz="1800" dirty="0" err="1"/>
              <a:t>executado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Vantagem</a:t>
            </a:r>
            <a:r>
              <a:rPr lang="en-US" sz="1800" dirty="0"/>
              <a:t>: Simples de </a:t>
            </a:r>
            <a:r>
              <a:rPr lang="en-US" sz="1800" dirty="0" err="1"/>
              <a:t>implementar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Desvantagem</a:t>
            </a:r>
            <a:r>
              <a:rPr lang="en-US" sz="1800" dirty="0"/>
              <a:t>: </a:t>
            </a:r>
            <a:r>
              <a:rPr lang="en-US" sz="1800" dirty="0" err="1"/>
              <a:t>Não</a:t>
            </a:r>
            <a:r>
              <a:rPr lang="en-US" sz="1800" dirty="0"/>
              <a:t> </a:t>
            </a:r>
            <a:r>
              <a:rPr lang="en-US" sz="1800" dirty="0" err="1"/>
              <a:t>otimiza</a:t>
            </a:r>
            <a:r>
              <a:rPr lang="en-US" sz="1800" dirty="0"/>
              <a:t> o tempo de </a:t>
            </a:r>
            <a:r>
              <a:rPr lang="en-US" sz="1800" dirty="0" err="1"/>
              <a:t>resposta</a:t>
            </a:r>
            <a:r>
              <a:rPr lang="en-US" sz="1800" dirty="0"/>
              <a:t>, pois </a:t>
            </a:r>
            <a:r>
              <a:rPr lang="en-US" sz="1800" dirty="0" err="1"/>
              <a:t>processos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curtos</a:t>
            </a:r>
            <a:r>
              <a:rPr lang="en-US" sz="1800" dirty="0"/>
              <a:t> </a:t>
            </a:r>
            <a:r>
              <a:rPr lang="en-US" sz="1800" dirty="0" err="1"/>
              <a:t>podem</a:t>
            </a:r>
            <a:r>
              <a:rPr lang="en-US" sz="1800" dirty="0"/>
              <a:t> </a:t>
            </a:r>
            <a:r>
              <a:rPr lang="en-US" sz="1800" dirty="0" err="1"/>
              <a:t>esperar</a:t>
            </a:r>
            <a:r>
              <a:rPr lang="en-US" sz="1800" dirty="0"/>
              <a:t> </a:t>
            </a:r>
            <a:r>
              <a:rPr lang="en-US" sz="1800" dirty="0" err="1"/>
              <a:t>longos</a:t>
            </a:r>
            <a:r>
              <a:rPr lang="en-US" sz="1800" dirty="0"/>
              <a:t> </a:t>
            </a:r>
            <a:r>
              <a:rPr lang="en-US" sz="1800" dirty="0" err="1"/>
              <a:t>períodos</a:t>
            </a:r>
            <a:r>
              <a:rPr lang="en-US" sz="1800" dirty="0"/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2F5C25F-FFA8-8E54-F4EA-1D1F8EB14E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Escalonamento</a:t>
            </a:r>
            <a:r>
              <a:rPr lang="en-US" dirty="0"/>
              <a:t> de </a:t>
            </a:r>
            <a:r>
              <a:rPr lang="en-US" dirty="0" err="1"/>
              <a:t>Processos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17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b="1"/>
              <a:t>Como funciona:</a:t>
            </a:r>
            <a:endParaRPr lang="en-US"/>
          </a:p>
          <a:p>
            <a:r>
              <a:rPr lang="en-US"/>
              <a:t>Os processos são executados na ordem em que chegam na fila.</a:t>
            </a:r>
          </a:p>
          <a:p>
            <a:r>
              <a:rPr lang="en-US"/>
              <a:t>Não há preempção (interrupção) de processos; um processo é executado até terminar.</a:t>
            </a:r>
          </a:p>
          <a:p>
            <a:r>
              <a:rPr lang="en-US"/>
              <a:t>É como uma fila de supermercado: quem chega primeiro é atendido primeiro.</a:t>
            </a:r>
          </a:p>
          <a:p>
            <a:r>
              <a:rPr lang="en-US" b="1"/>
              <a:t>Características</a:t>
            </a:r>
            <a:r>
              <a:rPr lang="en-US"/>
              <a:t>:</a:t>
            </a:r>
          </a:p>
          <a:p>
            <a:r>
              <a:rPr lang="en-US"/>
              <a:t>Simples de implementar.</a:t>
            </a:r>
          </a:p>
          <a:p>
            <a:r>
              <a:rPr lang="en-US"/>
              <a:t>Não considera o tempo de execução ou prioridades dos processos.</a:t>
            </a:r>
          </a:p>
          <a:p>
            <a:r>
              <a:rPr lang="en-US"/>
              <a:t>Pode causar o problema do comboio ("convoy effect"), em que processos mais curtos esperam muito por um processo longo que chegou antes.</a:t>
            </a:r>
          </a:p>
          <a:p>
            <a:r>
              <a:rPr lang="en-US" b="1"/>
              <a:t>Exemplo</a:t>
            </a:r>
            <a:r>
              <a:rPr lang="en-US"/>
              <a:t>:</a:t>
            </a:r>
          </a:p>
          <a:p>
            <a:pPr lvl="1"/>
            <a:r>
              <a:rPr lang="en-US"/>
              <a:t>Se os processos P1, P2 e P3 chegam nesta ordem:</a:t>
            </a:r>
          </a:p>
          <a:p>
            <a:pPr lvl="1"/>
            <a:r>
              <a:rPr lang="en-US"/>
              <a:t>P1 é executado completamente, depois P2, e só então P3.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A400017-A73E-57C8-F5F4-DF10B7BD43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FIFO (First-In-First-Out)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B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/>
              <a:t>O turnaround time (ou tempo de retorno) é o tempo total que um processo leva desde o momento em que chega ao sistema (tempo de chegada) até o momento em que é concluído.</a:t>
            </a:r>
          </a:p>
          <a:p>
            <a:pPr lvl="1"/>
            <a:r>
              <a:rPr lang="en-US" b="1"/>
              <a:t>Turnaround Time (TAT)=Tempo de Conclus</a:t>
            </a:r>
            <a:r>
              <a:rPr lang="pt-BR" altLang="en-US" b="1"/>
              <a:t>ão</a:t>
            </a:r>
            <a:r>
              <a:rPr lang="en-US" b="1"/>
              <a:t> (CT)</a:t>
            </a:r>
            <a:r>
              <a:rPr lang="pt-BR" altLang="en-US" b="1"/>
              <a:t> </a:t>
            </a:r>
            <a:r>
              <a:rPr lang="en-US" b="1"/>
              <a:t>−</a:t>
            </a:r>
            <a:r>
              <a:rPr lang="pt-BR" altLang="en-US" b="1"/>
              <a:t> </a:t>
            </a:r>
            <a:r>
              <a:rPr lang="en-US" b="1"/>
              <a:t>Tempo de Chegada (AT)</a:t>
            </a:r>
          </a:p>
          <a:p>
            <a:pPr lvl="0"/>
            <a:r>
              <a:rPr lang="en-US" b="1"/>
              <a:t>Explicação:</a:t>
            </a:r>
          </a:p>
          <a:p>
            <a:pPr lvl="0"/>
            <a:r>
              <a:rPr lang="en-US" b="1"/>
              <a:t>Tempo de Conclusão (CT): </a:t>
            </a:r>
            <a:r>
              <a:rPr lang="en-US"/>
              <a:t>O momento em que o processo termina sua execução.</a:t>
            </a:r>
            <a:endParaRPr lang="en-US" b="1"/>
          </a:p>
          <a:p>
            <a:pPr lvl="0"/>
            <a:r>
              <a:rPr lang="en-US" b="1"/>
              <a:t>Tempo de Chegada (AT): </a:t>
            </a:r>
            <a:r>
              <a:rPr lang="en-US"/>
              <a:t>O momento em que o processo entra na fila para ser processado.</a:t>
            </a:r>
          </a:p>
          <a:p>
            <a:pPr lvl="0"/>
            <a:r>
              <a:rPr lang="en-US"/>
              <a:t>O turnaround mede o tempo total que um processo "permanece no sistema", incluindo:</a:t>
            </a:r>
          </a:p>
          <a:p>
            <a:pPr lvl="1"/>
            <a:r>
              <a:rPr lang="en-US"/>
              <a:t>O tempo de espera na fila.</a:t>
            </a:r>
          </a:p>
          <a:p>
            <a:pPr lvl="1"/>
            <a:r>
              <a:rPr lang="en-US"/>
              <a:t>O tempo de execução na CPU.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B6AB6BA-BF4F-3718-88AE-9E64B85BB6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pt-BR" altLang="en-US" dirty="0"/>
              <a:t>Turnaround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16435-6FA7-A036-EB92-D14D9B44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3C22-7B72-DA48-C3BA-4401E4D2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BR" alt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92D3133-FDD7-6455-C9AD-A9959782A7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pt-BR" altLang="en-US" dirty="0"/>
              <a:t>Exemplo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5AF5BB-9CBF-D0E4-7FB7-5A781CD62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C3FD673-A5DF-CF00-8D43-22BB65F5A0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471787"/>
              </p:ext>
            </p:extLst>
          </p:nvPr>
        </p:nvGraphicFramePr>
        <p:xfrm>
          <a:off x="613144" y="1715734"/>
          <a:ext cx="110312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Tempo de Chegada (AT)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Tempo de </a:t>
                      </a:r>
                      <a:r>
                        <a:rPr lang="en-US" dirty="0" err="1"/>
                        <a:t>Execução</a:t>
                      </a:r>
                      <a:r>
                        <a:rPr lang="en-US" dirty="0"/>
                        <a:t> (BT)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Tempo de Conclusão (CT)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Box 5">
            <a:extLst>
              <a:ext uri="{FF2B5EF4-FFF2-40B4-BE49-F238E27FC236}">
                <a16:creationId xmlns:a16="http://schemas.microsoft.com/office/drawing/2014/main" id="{74481042-7688-570D-0905-6155FCB2D848}"/>
              </a:ext>
            </a:extLst>
          </p:cNvPr>
          <p:cNvSpPr txBox="1"/>
          <p:nvPr/>
        </p:nvSpPr>
        <p:spPr>
          <a:xfrm>
            <a:off x="700607" y="4036753"/>
            <a:ext cx="11202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Turnaround Time (TAT):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/>
              <a:t>P1: 5-0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>
                <a:sym typeface="+mn-ea"/>
              </a:rPr>
              <a:t>P2: 8-1 =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>
                <a:sym typeface="+mn-ea"/>
              </a:rPr>
              <a:t>P3: 10-2 = 8</a:t>
            </a:r>
            <a:endParaRPr lang="pt-B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7C3112-B384-D78B-5BE8-907DFF049DAA}"/>
                  </a:ext>
                </a:extLst>
              </p14:cNvPr>
              <p14:cNvContentPartPr/>
              <p14:nvPr/>
            </p14:nvContentPartPr>
            <p14:xfrm>
              <a:off x="2895840" y="520776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7C3112-B384-D78B-5BE8-907DFF049D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6480" y="5198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0929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751740"/>
          </a:xfrm>
        </p:spPr>
        <p:txBody>
          <a:bodyPr>
            <a:normAutofit fontScale="92500" lnSpcReduction="10000"/>
          </a:bodyPr>
          <a:lstStyle/>
          <a:p>
            <a:r>
              <a:rPr lang="en-US" sz="1700" dirty="0" err="1">
                <a:ea typeface="Open Sans" panose="020B0606030504020204" pitchFamily="34" charset="0"/>
              </a:rPr>
              <a:t>Processos</a:t>
            </a:r>
            <a:r>
              <a:rPr lang="en-US" sz="1700" dirty="0">
                <a:ea typeface="Open Sans" panose="020B0606030504020204" pitchFamily="34" charset="0"/>
              </a:rPr>
              <a:t>:</a:t>
            </a:r>
          </a:p>
          <a:p>
            <a:pPr marL="457200" lvl="1" indent="0">
              <a:buNone/>
            </a:pPr>
            <a:r>
              <a:rPr lang="en-US" sz="1700" dirty="0"/>
              <a:t>P1 → </a:t>
            </a:r>
            <a:r>
              <a:rPr lang="en-US" sz="1700" dirty="0" err="1"/>
              <a:t>Chegada</a:t>
            </a:r>
            <a:r>
              <a:rPr lang="en-US" sz="1700" dirty="0"/>
              <a:t>: 0, </a:t>
            </a:r>
            <a:r>
              <a:rPr lang="en-US" sz="1700" dirty="0" err="1"/>
              <a:t>Duração</a:t>
            </a:r>
            <a:r>
              <a:rPr lang="en-US" sz="1700" dirty="0"/>
              <a:t>: 4</a:t>
            </a:r>
          </a:p>
          <a:p>
            <a:pPr marL="457200" lvl="1" indent="0">
              <a:buNone/>
            </a:pPr>
            <a:r>
              <a:rPr lang="en-US" sz="1700" dirty="0"/>
              <a:t>P2 → </a:t>
            </a:r>
            <a:r>
              <a:rPr lang="en-US" sz="1700" dirty="0" err="1"/>
              <a:t>Chegada</a:t>
            </a:r>
            <a:r>
              <a:rPr lang="en-US" sz="1700" dirty="0"/>
              <a:t>: 1, </a:t>
            </a:r>
            <a:r>
              <a:rPr lang="en-US" sz="1700" dirty="0" err="1"/>
              <a:t>Duração</a:t>
            </a:r>
            <a:r>
              <a:rPr lang="en-US" sz="1700" dirty="0"/>
              <a:t>: 3</a:t>
            </a:r>
          </a:p>
          <a:p>
            <a:pPr marL="457200" lvl="1" indent="0">
              <a:buNone/>
            </a:pPr>
            <a:r>
              <a:rPr lang="en-US" sz="1700" dirty="0"/>
              <a:t>P3 → </a:t>
            </a:r>
            <a:r>
              <a:rPr lang="en-US" sz="1700" dirty="0" err="1"/>
              <a:t>Chegada</a:t>
            </a:r>
            <a:r>
              <a:rPr lang="en-US" sz="1700" dirty="0"/>
              <a:t>: 2, </a:t>
            </a:r>
            <a:r>
              <a:rPr lang="en-US" sz="1700" dirty="0" err="1"/>
              <a:t>Duração</a:t>
            </a:r>
            <a:r>
              <a:rPr lang="en-US" sz="1700" dirty="0"/>
              <a:t>: 2</a:t>
            </a:r>
          </a:p>
          <a:p>
            <a:br>
              <a:rPr lang="en-US" sz="1700" dirty="0">
                <a:ea typeface="Open Sans" panose="020B0606030504020204" pitchFamily="34" charset="0"/>
              </a:rPr>
            </a:br>
            <a:r>
              <a:rPr lang="en-US" sz="1700" dirty="0" err="1">
                <a:ea typeface="Open Sans" panose="020B0606030504020204" pitchFamily="34" charset="0"/>
              </a:rPr>
              <a:t>Processos</a:t>
            </a:r>
            <a:r>
              <a:rPr lang="en-US" sz="1700" dirty="0">
                <a:ea typeface="Open Sans" panose="020B0606030504020204" pitchFamily="34" charset="0"/>
              </a:rPr>
              <a:t>:</a:t>
            </a:r>
          </a:p>
          <a:p>
            <a:pPr marL="457200" lvl="1" indent="0">
              <a:buNone/>
            </a:pPr>
            <a:r>
              <a:rPr lang="en-US" sz="1700" dirty="0"/>
              <a:t>P1 → </a:t>
            </a:r>
            <a:r>
              <a:rPr lang="en-US" sz="1700" dirty="0" err="1"/>
              <a:t>Chegada</a:t>
            </a:r>
            <a:r>
              <a:rPr lang="en-US" sz="1700" dirty="0"/>
              <a:t>: 0, </a:t>
            </a:r>
            <a:r>
              <a:rPr lang="en-US" sz="1700" dirty="0" err="1"/>
              <a:t>Duração</a:t>
            </a:r>
            <a:r>
              <a:rPr lang="en-US" sz="1700" dirty="0"/>
              <a:t>: 5</a:t>
            </a:r>
          </a:p>
          <a:p>
            <a:pPr marL="457200" lvl="1" indent="0">
              <a:buNone/>
            </a:pPr>
            <a:r>
              <a:rPr lang="en-US" sz="1700" dirty="0"/>
              <a:t>P2 → </a:t>
            </a:r>
            <a:r>
              <a:rPr lang="en-US" sz="1700" dirty="0" err="1"/>
              <a:t>Chegada</a:t>
            </a:r>
            <a:r>
              <a:rPr lang="en-US" sz="1700" dirty="0"/>
              <a:t>: 2, </a:t>
            </a:r>
            <a:r>
              <a:rPr lang="en-US" sz="1700" dirty="0" err="1"/>
              <a:t>Duração</a:t>
            </a:r>
            <a:r>
              <a:rPr lang="en-US" sz="1700" dirty="0"/>
              <a:t>: 4</a:t>
            </a:r>
          </a:p>
          <a:p>
            <a:pPr marL="457200" lvl="1" indent="0">
              <a:buNone/>
            </a:pPr>
            <a:r>
              <a:rPr lang="en-US" sz="1700" dirty="0"/>
              <a:t>P3 → </a:t>
            </a:r>
            <a:r>
              <a:rPr lang="en-US" sz="1700" dirty="0" err="1"/>
              <a:t>Chegada</a:t>
            </a:r>
            <a:r>
              <a:rPr lang="en-US" sz="1700" dirty="0"/>
              <a:t>: 3, </a:t>
            </a:r>
            <a:r>
              <a:rPr lang="en-US" sz="1700" dirty="0" err="1"/>
              <a:t>Duração</a:t>
            </a:r>
            <a:r>
              <a:rPr lang="en-US" sz="1700" dirty="0"/>
              <a:t>: 1</a:t>
            </a:r>
          </a:p>
          <a:p>
            <a:pPr marL="457200" lvl="1" indent="0">
              <a:buNone/>
            </a:pPr>
            <a:r>
              <a:rPr lang="en-US" sz="1700" dirty="0"/>
              <a:t>P4 → </a:t>
            </a:r>
            <a:r>
              <a:rPr lang="en-US" sz="1700" dirty="0" err="1"/>
              <a:t>Chegada</a:t>
            </a:r>
            <a:r>
              <a:rPr lang="en-US" sz="1700" dirty="0"/>
              <a:t>: 6, </a:t>
            </a:r>
            <a:r>
              <a:rPr lang="en-US" sz="1700" dirty="0" err="1"/>
              <a:t>Duração</a:t>
            </a:r>
            <a:r>
              <a:rPr lang="en-US" sz="1700" dirty="0"/>
              <a:t>: 2</a:t>
            </a:r>
          </a:p>
          <a:p>
            <a:pPr lvl="1"/>
            <a:endParaRPr lang="en-US" sz="1700" dirty="0"/>
          </a:p>
          <a:p>
            <a:r>
              <a:rPr lang="en-US" sz="1700" dirty="0" err="1"/>
              <a:t>Processos</a:t>
            </a:r>
            <a:r>
              <a:rPr lang="en-US" sz="1700" dirty="0"/>
              <a:t>:</a:t>
            </a: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ea typeface="Open Sans" panose="020B0606030504020204" pitchFamily="34" charset="0"/>
              </a:rPr>
              <a:t>P1 → </a:t>
            </a:r>
            <a:r>
              <a:rPr lang="en-US" altLang="en-US" sz="1700" dirty="0" err="1">
                <a:ea typeface="Open Sans" panose="020B0606030504020204" pitchFamily="34" charset="0"/>
              </a:rPr>
              <a:t>Chegada</a:t>
            </a:r>
            <a:r>
              <a:rPr lang="en-US" altLang="en-US" sz="1700" dirty="0">
                <a:ea typeface="Open Sans" panose="020B0606030504020204" pitchFamily="34" charset="0"/>
              </a:rPr>
              <a:t>: 1, </a:t>
            </a:r>
            <a:r>
              <a:rPr lang="en-US" altLang="en-US" sz="1700" dirty="0" err="1">
                <a:ea typeface="Open Sans" panose="020B0606030504020204" pitchFamily="34" charset="0"/>
              </a:rPr>
              <a:t>Duração</a:t>
            </a:r>
            <a:r>
              <a:rPr lang="en-US" altLang="en-US" sz="1700" dirty="0">
                <a:ea typeface="Open Sans" panose="020B0606030504020204" pitchFamily="34" charset="0"/>
              </a:rPr>
              <a:t>: 3</a:t>
            </a: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ea typeface="Open Sans" panose="020B0606030504020204" pitchFamily="34" charset="0"/>
              </a:rPr>
              <a:t>P2 → </a:t>
            </a:r>
            <a:r>
              <a:rPr lang="en-US" altLang="en-US" sz="1700" dirty="0" err="1">
                <a:ea typeface="Open Sans" panose="020B0606030504020204" pitchFamily="34" charset="0"/>
              </a:rPr>
              <a:t>Chegada</a:t>
            </a:r>
            <a:r>
              <a:rPr lang="en-US" altLang="en-US" sz="1700" dirty="0">
                <a:ea typeface="Open Sans" panose="020B0606030504020204" pitchFamily="34" charset="0"/>
              </a:rPr>
              <a:t>: 2, </a:t>
            </a:r>
            <a:r>
              <a:rPr lang="en-US" altLang="en-US" sz="1700" dirty="0" err="1">
                <a:ea typeface="Open Sans" panose="020B0606030504020204" pitchFamily="34" charset="0"/>
              </a:rPr>
              <a:t>Duração</a:t>
            </a:r>
            <a:r>
              <a:rPr lang="en-US" altLang="en-US" sz="1700" dirty="0">
                <a:ea typeface="Open Sans" panose="020B0606030504020204" pitchFamily="34" charset="0"/>
              </a:rPr>
              <a:t>: 6</a:t>
            </a: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ea typeface="Open Sans" panose="020B0606030504020204" pitchFamily="34" charset="0"/>
              </a:rPr>
              <a:t>P3 → </a:t>
            </a:r>
            <a:r>
              <a:rPr lang="en-US" altLang="en-US" sz="1700" dirty="0" err="1">
                <a:ea typeface="Open Sans" panose="020B0606030504020204" pitchFamily="34" charset="0"/>
              </a:rPr>
              <a:t>Chegada</a:t>
            </a:r>
            <a:r>
              <a:rPr lang="en-US" altLang="en-US" sz="1700" dirty="0">
                <a:ea typeface="Open Sans" panose="020B0606030504020204" pitchFamily="34" charset="0"/>
              </a:rPr>
              <a:t>: 4, </a:t>
            </a:r>
            <a:r>
              <a:rPr lang="en-US" altLang="en-US" sz="1700" dirty="0" err="1">
                <a:ea typeface="Open Sans" panose="020B0606030504020204" pitchFamily="34" charset="0"/>
              </a:rPr>
              <a:t>Duração</a:t>
            </a:r>
            <a:r>
              <a:rPr lang="en-US" altLang="en-US" sz="1700" dirty="0">
                <a:ea typeface="Open Sans" panose="020B0606030504020204" pitchFamily="34" charset="0"/>
              </a:rPr>
              <a:t>: 4</a:t>
            </a: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err="1"/>
              <a:t>Calcular</a:t>
            </a:r>
            <a:r>
              <a:rPr lang="en-US" dirty="0"/>
              <a:t> BT, CT e TAT</a:t>
            </a:r>
            <a:br>
              <a:rPr lang="en-US" dirty="0"/>
            </a:br>
            <a:endParaRPr lang="en-US" dirty="0"/>
          </a:p>
          <a:p>
            <a:pPr lvl="1"/>
            <a:endParaRPr lang="en-US" sz="200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782ED0-14F4-1540-26CB-3A7C8EE0CF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Exercicios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510DCA1F-4290-43A3-A161-E997230B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619" y="-9268"/>
            <a:ext cx="12236619" cy="68672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1E68017-0F2F-40A8-A580-AF36CB2C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619" y="3086100"/>
            <a:ext cx="12236619" cy="6858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O</a:t>
            </a:r>
            <a:r>
              <a:rPr lang="pt-PT" sz="3200" dirty="0">
                <a:solidFill>
                  <a:schemeClr val="bg1"/>
                </a:solidFill>
              </a:rPr>
              <a:t>BRIGADO PELA VOSSA ATENÇÃO E COLABORAÇÃO</a:t>
            </a:r>
          </a:p>
        </p:txBody>
      </p:sp>
    </p:spTree>
    <p:extLst>
      <p:ext uri="{BB962C8B-B14F-4D97-AF65-F5344CB8AC3E}">
        <p14:creationId xmlns:p14="http://schemas.microsoft.com/office/powerpoint/2010/main" val="3329026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>
            <a:extLst>
              <a:ext uri="{FF2B5EF4-FFF2-40B4-BE49-F238E27FC236}">
                <a16:creationId xmlns:a16="http://schemas.microsoft.com/office/drawing/2014/main" id="{A6B44AB8-C57E-4B4B-9DE9-D2913E180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501" y="5286562"/>
            <a:ext cx="12236619" cy="1571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-44619" y="-9268"/>
            <a:ext cx="12236619" cy="5304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AutoShape 3"/>
          <p:cNvSpPr>
            <a:spLocks noChangeAspect="1" noChangeArrowheads="1" noTextEdit="1"/>
          </p:cNvSpPr>
          <p:nvPr/>
        </p:nvSpPr>
        <p:spPr bwMode="auto">
          <a:xfrm>
            <a:off x="2341563" y="-471488"/>
            <a:ext cx="2997200" cy="213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54" name="AutoShape 37"/>
          <p:cNvSpPr>
            <a:spLocks noChangeAspect="1" noChangeArrowheads="1" noTextEdit="1"/>
          </p:cNvSpPr>
          <p:nvPr/>
        </p:nvSpPr>
        <p:spPr bwMode="auto">
          <a:xfrm>
            <a:off x="8786813" y="4030663"/>
            <a:ext cx="36703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85" name="Title 1"/>
          <p:cNvSpPr txBox="1">
            <a:spLocks/>
          </p:cNvSpPr>
          <p:nvPr/>
        </p:nvSpPr>
        <p:spPr>
          <a:xfrm>
            <a:off x="0" y="5667050"/>
            <a:ext cx="12189619" cy="67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1500"/>
              </a:lnSpc>
              <a:spcBef>
                <a:spcPct val="0"/>
              </a:spcBef>
              <a:buNone/>
              <a:defRPr sz="2600" b="1" u="sng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ts val="2300"/>
              </a:lnSpc>
            </a:pP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www.</a:t>
            </a:r>
            <a:r>
              <a:rPr lang="pt-PT" sz="2800" b="0" u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atec</a:t>
            </a: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.pt</a:t>
            </a:r>
            <a:endParaRPr lang="pt-PT" sz="2800" b="0" u="none" dirty="0">
              <a:solidFill>
                <a:schemeClr val="bg1"/>
              </a:solidFill>
              <a:latin typeface="+mn-lt"/>
              <a:ea typeface="Open Sans Light" panose="020B0306030504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982763" y="1219149"/>
            <a:ext cx="7206856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PALMELA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ATEC · Parque Industrial da Volkswagen Autoeuropa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2950-557 · Quinta do Anjo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212 107 300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956636" y="1304214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982763" y="2935739"/>
            <a:ext cx="7206856" cy="1250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MATOSINHOS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Siemens · Av. Mário Brito (EN107), nº 3570  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Freixieiro · 4456-901 · Perafita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220 400 500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infoporto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956636" y="3036669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>
            <a:extLst>
              <a:ext uri="{FF2B5EF4-FFF2-40B4-BE49-F238E27FC236}">
                <a16:creationId xmlns:a16="http://schemas.microsoft.com/office/drawing/2014/main" id="{F5BA44BE-E038-44F0-87EB-5B2726461F45}"/>
              </a:ext>
            </a:extLst>
          </p:cNvPr>
          <p:cNvSpPr/>
          <p:nvPr/>
        </p:nvSpPr>
        <p:spPr>
          <a:xfrm>
            <a:off x="-35089" y="567559"/>
            <a:ext cx="4989344" cy="40577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Segoe UI" panose="020B0502040204020203" pitchFamily="34" charset="0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873A391-1245-4652-BEED-9F4CF796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285" y="2320238"/>
            <a:ext cx="2848821" cy="744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3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Título e Sub-título">
  <a:themeElements>
    <a:clrScheme name="CORES ATEC">
      <a:dk1>
        <a:srgbClr val="134773"/>
      </a:dk1>
      <a:lt1>
        <a:sysClr val="window" lastClr="FFFFFF"/>
      </a:lt1>
      <a:dk2>
        <a:srgbClr val="6D6E71"/>
      </a:dk2>
      <a:lt2>
        <a:srgbClr val="134773"/>
      </a:lt2>
      <a:accent1>
        <a:srgbClr val="134773"/>
      </a:accent1>
      <a:accent2>
        <a:srgbClr val="0060AC"/>
      </a:accent2>
      <a:accent3>
        <a:srgbClr val="00AEEF"/>
      </a:accent3>
      <a:accent4>
        <a:srgbClr val="E85A26"/>
      </a:accent4>
      <a:accent5>
        <a:srgbClr val="F29122"/>
      </a:accent5>
      <a:accent6>
        <a:srgbClr val="FBAE47"/>
      </a:accent6>
      <a:hlink>
        <a:srgbClr val="134773"/>
      </a:hlink>
      <a:folHlink>
        <a:srgbClr val="00AEEF"/>
      </a:folHlink>
    </a:clrScheme>
    <a:fontScheme name="LETRA ATEC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0bc2b0-995c-4aff-9aba-f2b12d967e9b" xsi:nil="true"/>
    <lcf76f155ced4ddcb4097134ff3c332f xmlns="c824db9b-d9c7-4797-be33-505d3522994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A9AA3B46D399499A38902902288AE9" ma:contentTypeVersion="11" ma:contentTypeDescription="Create a new document." ma:contentTypeScope="" ma:versionID="94b41e59adfbdd1dbf1551b61b72d2df">
  <xsd:schema xmlns:xsd="http://www.w3.org/2001/XMLSchema" xmlns:xs="http://www.w3.org/2001/XMLSchema" xmlns:p="http://schemas.microsoft.com/office/2006/metadata/properties" xmlns:ns2="c824db9b-d9c7-4797-be33-505d35229944" xmlns:ns3="490bc2b0-995c-4aff-9aba-f2b12d967e9b" targetNamespace="http://schemas.microsoft.com/office/2006/metadata/properties" ma:root="true" ma:fieldsID="4a3bca8d44f619a046909ccf39ada52c" ns2:_="" ns3:_="">
    <xsd:import namespace="c824db9b-d9c7-4797-be33-505d35229944"/>
    <xsd:import namespace="490bc2b0-995c-4aff-9aba-f2b12d967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4db9b-d9c7-4797-be33-505d352299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30164bd-3db1-4035-80db-1f2bd81da9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c2b0-995c-4aff-9aba-f2b12d967e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882fea-8b44-44a5-af3e-e8fd1d54f9dc}" ma:internalName="TaxCatchAll" ma:showField="CatchAllData" ma:web="490bc2b0-995c-4aff-9aba-f2b12d967e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9C6585-F6AA-41B4-B979-BFB1807B4534}">
  <ds:schemaRefs>
    <ds:schemaRef ds:uri="http://schemas.microsoft.com/office/2006/metadata/properties"/>
    <ds:schemaRef ds:uri="http://schemas.microsoft.com/office/infopath/2007/PartnerControls"/>
    <ds:schemaRef ds:uri="b5d6457f-cca8-4519-abcc-ee100bd73b31"/>
    <ds:schemaRef ds:uri="bd68fa59-262a-45eb-a282-aff4b0a9c043"/>
  </ds:schemaRefs>
</ds:datastoreItem>
</file>

<file path=customXml/itemProps2.xml><?xml version="1.0" encoding="utf-8"?>
<ds:datastoreItem xmlns:ds="http://schemas.openxmlformats.org/officeDocument/2006/customXml" ds:itemID="{30E6CD22-E652-4FA4-BFBB-AB320C6980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D92FB9-1F61-4270-90B1-9B71DCFB751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12351</TotalTime>
  <Words>3221</Words>
  <Application>Microsoft Macintosh PowerPoint</Application>
  <PresentationFormat>Widescreen</PresentationFormat>
  <Paragraphs>285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Open Sans</vt:lpstr>
      <vt:lpstr>Segoe UI</vt:lpstr>
      <vt:lpstr>Segoe UI Black</vt:lpstr>
      <vt:lpstr>Segoe UI Bold</vt:lpstr>
      <vt:lpstr>Segoe UI Light</vt:lpstr>
      <vt:lpstr>Segoe UI Semibold</vt:lpstr>
      <vt:lpstr>Söhne</vt:lpstr>
      <vt:lpstr>Título e Sub-título</vt:lpstr>
      <vt:lpstr>PowerPoint Presentation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OBRIGADO PELA VOSSA ATENÇÃO E COLABORAÇÃO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Inês Bastos</dc:creator>
  <cp:lastModifiedBy>André S. Ribeiro</cp:lastModifiedBy>
  <cp:revision>717</cp:revision>
  <cp:lastPrinted>2019-02-18T11:33:32Z</cp:lastPrinted>
  <dcterms:created xsi:type="dcterms:W3CDTF">2017-04-05T12:09:40Z</dcterms:created>
  <dcterms:modified xsi:type="dcterms:W3CDTF">2025-09-29T22:08:06Z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0x010100CEA9AA3B46D399499A38902902288AE9</vt:lpwstr>
  </property>
  <property fmtid="{D5CDD505-2E9C-101B-9397-08002B2CF9AE}" pid="3" name="MediaServiceImageTags">
    <vt:lpwstr/>
  </property>
</Properties>
</file>