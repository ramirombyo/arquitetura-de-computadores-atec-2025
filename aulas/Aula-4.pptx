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74"/>
  </p:notesMasterIdLst>
  <p:sldIdLst>
    <p:sldId id="303" r:id="rId5"/>
    <p:sldId id="3035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2" r:id="rId38"/>
    <p:sldId id="3036" r:id="rId39"/>
    <p:sldId id="3037" r:id="rId40"/>
    <p:sldId id="3038" r:id="rId41"/>
    <p:sldId id="3039" r:id="rId42"/>
    <p:sldId id="3040" r:id="rId43"/>
    <p:sldId id="3041" r:id="rId44"/>
    <p:sldId id="3042" r:id="rId45"/>
    <p:sldId id="3066" r:id="rId46"/>
    <p:sldId id="3044" r:id="rId47"/>
    <p:sldId id="3045" r:id="rId48"/>
    <p:sldId id="3046" r:id="rId49"/>
    <p:sldId id="3047" r:id="rId50"/>
    <p:sldId id="3048" r:id="rId51"/>
    <p:sldId id="3049" r:id="rId52"/>
    <p:sldId id="3050" r:id="rId53"/>
    <p:sldId id="3051" r:id="rId54"/>
    <p:sldId id="3052" r:id="rId55"/>
    <p:sldId id="3053" r:id="rId56"/>
    <p:sldId id="3054" r:id="rId57"/>
    <p:sldId id="3055" r:id="rId58"/>
    <p:sldId id="3056" r:id="rId59"/>
    <p:sldId id="3057" r:id="rId60"/>
    <p:sldId id="3058" r:id="rId61"/>
    <p:sldId id="3059" r:id="rId62"/>
    <p:sldId id="3060" r:id="rId63"/>
    <p:sldId id="3061" r:id="rId64"/>
    <p:sldId id="3062" r:id="rId65"/>
    <p:sldId id="3063" r:id="rId66"/>
    <p:sldId id="301" r:id="rId67"/>
    <p:sldId id="3064" r:id="rId68"/>
    <p:sldId id="304" r:id="rId69"/>
    <p:sldId id="305" r:id="rId70"/>
    <p:sldId id="306" r:id="rId71"/>
    <p:sldId id="2991" r:id="rId72"/>
    <p:sldId id="2957" r:id="rId73"/>
  </p:sldIdLst>
  <p:sldSz cx="12192000" cy="6858000"/>
  <p:notesSz cx="7099300" cy="10234613"/>
  <p:defaultTextStyle>
    <a:defPPr>
      <a:defRPr lang="pt-PT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4" orient="horz" pos="1979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7310" userDrawn="1">
          <p15:clr>
            <a:srgbClr val="A4A3A4"/>
          </p15:clr>
        </p15:guide>
        <p15:guide id="9" pos="619" userDrawn="1">
          <p15:clr>
            <a:srgbClr val="A4A3A4"/>
          </p15:clr>
        </p15:guide>
        <p15:guide id="10" pos="4226" userDrawn="1">
          <p15:clr>
            <a:srgbClr val="A4A3A4"/>
          </p15:clr>
        </p15:guide>
        <p15:guide id="11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2F2"/>
    <a:srgbClr val="05687F"/>
    <a:srgbClr val="2BACE2"/>
    <a:srgbClr val="042F5B"/>
    <a:srgbClr val="B7B7B7"/>
    <a:srgbClr val="C8C8C8"/>
    <a:srgbClr val="B5B5B5"/>
    <a:srgbClr val="CACACA"/>
    <a:srgbClr val="F2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62" autoAdjust="0"/>
    <p:restoredTop sz="96005" autoAdjust="0"/>
  </p:normalViewPr>
  <p:slideViewPr>
    <p:cSldViewPr snapToGrid="0">
      <p:cViewPr varScale="1">
        <p:scale>
          <a:sx n="144" d="100"/>
          <a:sy n="144" d="100"/>
        </p:scale>
        <p:origin x="1664" y="200"/>
      </p:cViewPr>
      <p:guideLst>
        <p:guide orient="horz" pos="1003"/>
        <p:guide pos="370"/>
        <p:guide orient="horz" pos="1979"/>
        <p:guide orient="horz" pos="3770"/>
        <p:guide orient="horz" pos="550"/>
        <p:guide pos="3613"/>
        <p:guide pos="7310"/>
        <p:guide pos="619"/>
        <p:guide pos="4226"/>
        <p:guide orient="horz" pos="3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8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6C4126C-DCDA-49DB-A2BC-A62BEB6C9507}" type="datetimeFigureOut">
              <a:rPr lang="pt-PT" smtClean="0"/>
              <a:pPr/>
              <a:t>10/10/2025</a:t>
            </a:fld>
            <a:endParaRPr lang="pt-P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P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A46B27F-7627-47E3-BCCB-824837DAC44F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386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3958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470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0911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6814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7119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9980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3253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3437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3059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2986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3031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1569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6051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22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4009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9822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3318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7894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4422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581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1202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8797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27565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9990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25478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808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29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5048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5122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8405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50277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805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7416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61793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0826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3044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33389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01E05-8C80-CA49-A6ED-DCCAF24F2CCD}" type="slidenum">
              <a:rPr lang="pt-PT" smtClean="0"/>
              <a:t>39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223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44370CF-6371-4608-9DB1-6FFB002993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457367-E0AD-4641-B199-08FCAFD04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42E9C6-AE9B-4E89-A06A-878978742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80517"/>
            <a:ext cx="12192000" cy="73183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0676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727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</p:spTree>
    <p:extLst>
      <p:ext uri="{BB962C8B-B14F-4D97-AF65-F5344CB8AC3E}">
        <p14:creationId xmlns:p14="http://schemas.microsoft.com/office/powerpoint/2010/main" val="32633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953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1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2F20D-03D8-4169-B30C-F63D69065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4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C5560-A4FF-4E86-9DE2-4AE66E915D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91123E0-D667-4FE9-87BC-0A11B602E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926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F9D2C4-13BB-4100-B9F5-DA96BF39C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95A1C4-7284-4A03-8A1C-5AFEA742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14940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3849F3-22FA-4D1B-A226-1FA26FC2E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64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C9D125-4EBB-48C0-8865-5B930ED21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2046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branc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040E86-0E21-4B5F-8BEE-C084CC25C8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7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29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BBB4069-AFF1-4D14-BA73-A9C31D80615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5042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224732"/>
            <a:ext cx="11033760" cy="41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990600" y="542926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206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6" r:id="rId3"/>
    <p:sldLayoutId id="2147483695" r:id="rId4"/>
    <p:sldLayoutId id="2147483707" r:id="rId5"/>
    <p:sldLayoutId id="2147483709" r:id="rId6"/>
    <p:sldLayoutId id="2147483710" r:id="rId7"/>
    <p:sldLayoutId id="2147483699" r:id="rId8"/>
    <p:sldLayoutId id="2147483703" r:id="rId9"/>
    <p:sldLayoutId id="2147483713" r:id="rId10"/>
    <p:sldLayoutId id="2147483704" r:id="rId11"/>
    <p:sldLayoutId id="2147483714" r:id="rId12"/>
    <p:sldLayoutId id="2147483711" r:id="rId13"/>
    <p:sldLayoutId id="2147483712" r:id="rId14"/>
    <p:sldLayoutId id="2147483701" r:id="rId15"/>
    <p:sldLayoutId id="214748371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34773"/>
          </a:solidFill>
          <a:latin typeface="Segoe UI Bold" panose="020B0802040204020203" pitchFamily="34" charset="0"/>
          <a:ea typeface="+mj-ea"/>
          <a:cs typeface="Segoe UI Bold" panose="020B08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0B0F0"/>
          </a:solidFill>
          <a:latin typeface="Segoe UI Semibold" panose="020B0702040204020203" pitchFamily="34" charset="0"/>
          <a:ea typeface="Open Sans Semibold" panose="020B0706030804020204" pitchFamily="34" charset="0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476C946-46AB-45F8-806D-B34BC9EF6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PT" dirty="0"/>
              <a:t>Arquitetura Computadores</a:t>
            </a:r>
          </a:p>
        </p:txBody>
      </p:sp>
      <p:sp>
        <p:nvSpPr>
          <p:cNvPr id="32" name="AutoShape 18"/>
          <p:cNvSpPr>
            <a:spLocks noChangeAspect="1" noChangeArrowheads="1" noTextEdit="1"/>
          </p:cNvSpPr>
          <p:nvPr/>
        </p:nvSpPr>
        <p:spPr bwMode="auto">
          <a:xfrm>
            <a:off x="-220663" y="5072063"/>
            <a:ext cx="286385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560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1A90F9-B9B3-4454-A694-62D71243D6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Memórias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Arquitetura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Computadores</a:t>
            </a:r>
            <a:endParaRPr lang="en-GB" sz="1800" dirty="0">
              <a:solidFill>
                <a:schemeClr val="tx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Tipos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Memórias</a:t>
            </a:r>
            <a:endParaRPr lang="en-GB" sz="1800" dirty="0">
              <a:solidFill>
                <a:schemeClr val="tx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Hierarquia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Memória</a:t>
            </a:r>
            <a:endParaRPr lang="en-GB" sz="1800" dirty="0">
              <a:solidFill>
                <a:schemeClr val="tx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Söhne"/>
              </a:rPr>
              <a:t>Memoria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Söhne"/>
              </a:rPr>
              <a:t>Memoria Virtual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Dispositivos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Entrada e Saida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Entender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o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conceito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 Internet das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Coisas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(IoT).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Explorar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evolução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histórica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o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estado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atual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e o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futuro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da IoT.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Conhecer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as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tecnologias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disponíveis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IoT.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Compreender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princípios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comunicação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IoT.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Analisar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casos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uso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da IoT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várias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áreas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incluindo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domótica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indústria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agricultura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ambiente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lazer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Revisões</a:t>
            </a:r>
            <a:endParaRPr lang="en-GB" sz="1800" dirty="0">
              <a:solidFill>
                <a:schemeClr val="tx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800" dirty="0">
              <a:solidFill>
                <a:schemeClr val="tx1"/>
              </a:solidFill>
              <a:latin typeface="Söhne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439AA-ACA6-813D-C173-3CDCDCF095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Topicos</a:t>
            </a:r>
            <a:r>
              <a:rPr lang="en-US" dirty="0"/>
              <a:t> Aula</a:t>
            </a:r>
          </a:p>
        </p:txBody>
      </p:sp>
    </p:spTree>
    <p:extLst>
      <p:ext uri="{BB962C8B-B14F-4D97-AF65-F5344CB8AC3E}">
        <p14:creationId xmlns:p14="http://schemas.microsoft.com/office/powerpoint/2010/main" val="223352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effectLst/>
              </a:rPr>
              <a:t>A Base do </a:t>
            </a:r>
            <a:r>
              <a:rPr lang="en-GB" b="0" i="0" dirty="0" err="1">
                <a:effectLst/>
              </a:rPr>
              <a:t>Armazenamento</a:t>
            </a:r>
            <a:r>
              <a:rPr lang="en-GB" b="0" i="0" dirty="0">
                <a:effectLst/>
              </a:rPr>
              <a:t> de Dados</a:t>
            </a:r>
          </a:p>
          <a:p>
            <a:endParaRPr lang="en-GB" dirty="0"/>
          </a:p>
          <a:p>
            <a:pPr lvl="1"/>
            <a:r>
              <a:rPr lang="en-GB" b="0" i="0" dirty="0">
                <a:effectLst/>
              </a:rPr>
              <a:t>Elas </a:t>
            </a:r>
            <a:r>
              <a:rPr lang="en-GB" b="0" i="0" dirty="0" err="1">
                <a:effectLst/>
              </a:rPr>
              <a:t>desempenham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papel</a:t>
            </a:r>
            <a:r>
              <a:rPr lang="en-GB" b="0" i="0" dirty="0">
                <a:effectLst/>
              </a:rPr>
              <a:t> vital no </a:t>
            </a:r>
            <a:r>
              <a:rPr lang="en-GB" b="0" i="0" dirty="0" err="1">
                <a:effectLst/>
              </a:rPr>
              <a:t>armazenamento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recuperação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, e </a:t>
            </a:r>
            <a:r>
              <a:rPr lang="en-GB" b="0" i="0" dirty="0" err="1">
                <a:effectLst/>
              </a:rPr>
              <a:t>entender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seu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funcionamento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essencial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compreender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arquitetura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2E481A4-708E-1628-D29A-ECF988EE77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Memórias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Arquitetura</a:t>
            </a:r>
            <a:r>
              <a:rPr lang="en-GB" dirty="0"/>
              <a:t> de </a:t>
            </a:r>
            <a:r>
              <a:rPr lang="en-GB" dirty="0" err="1"/>
              <a:t>Computadores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94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</a:rPr>
              <a:t>Existem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vários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tipos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computador</a:t>
            </a:r>
            <a:r>
              <a:rPr lang="en-GB" b="0" i="0" dirty="0">
                <a:effectLst/>
              </a:rPr>
              <a:t>. As </a:t>
            </a:r>
            <a:r>
              <a:rPr lang="en-GB" b="0" i="0" dirty="0" err="1">
                <a:effectLst/>
              </a:rPr>
              <a:t>principais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categorias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incluem</a:t>
            </a:r>
            <a:r>
              <a:rPr lang="en-GB" b="0" i="0" dirty="0">
                <a:effectLst/>
              </a:rPr>
              <a:t>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RAM (Random Access Memory): </a:t>
            </a:r>
            <a:r>
              <a:rPr lang="en-GB" b="0" i="0" dirty="0" err="1">
                <a:effectLst/>
              </a:rPr>
              <a:t>Usada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armazenar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temporários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podem</a:t>
            </a:r>
            <a:r>
              <a:rPr lang="en-GB" b="0" i="0" dirty="0">
                <a:effectLst/>
              </a:rPr>
              <a:t> ser lidos e </a:t>
            </a:r>
            <a:r>
              <a:rPr lang="en-GB" b="0" i="0" dirty="0" err="1">
                <a:effectLst/>
              </a:rPr>
              <a:t>escritos</a:t>
            </a:r>
            <a:r>
              <a:rPr lang="en-GB" b="0" i="0" dirty="0">
                <a:effectLst/>
              </a:rPr>
              <a:t> pela CPU.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ROM (Read-Only Memory): </a:t>
            </a:r>
            <a:r>
              <a:rPr lang="en-GB" b="0" i="0" dirty="0" err="1">
                <a:effectLst/>
              </a:rPr>
              <a:t>Armazena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permanentes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podem</a:t>
            </a:r>
            <a:r>
              <a:rPr lang="en-GB" b="0" i="0" dirty="0">
                <a:effectLst/>
              </a:rPr>
              <a:t> ser </a:t>
            </a:r>
            <a:r>
              <a:rPr lang="en-GB" b="0" i="0" dirty="0" err="1">
                <a:effectLst/>
              </a:rPr>
              <a:t>alterados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pelo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utilizador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as </a:t>
            </a:r>
            <a:r>
              <a:rPr lang="en-GB" b="0" i="0" dirty="0" err="1">
                <a:effectLst/>
              </a:rPr>
              <a:t>instruções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inicialização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Cache: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alta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velocidade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armazena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frequentemente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usados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acelerar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acesso</a:t>
            </a:r>
            <a:r>
              <a:rPr lang="en-GB" b="0" i="0" dirty="0">
                <a:effectLst/>
              </a:rPr>
              <a:t> à RAM.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Virtual: Um </a:t>
            </a:r>
            <a:r>
              <a:rPr lang="en-GB" b="0" i="0" dirty="0" err="1">
                <a:effectLst/>
              </a:rPr>
              <a:t>espaço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armazenamento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disco </a:t>
            </a:r>
            <a:r>
              <a:rPr lang="en-GB" b="0" i="0" dirty="0" err="1">
                <a:effectLst/>
              </a:rPr>
              <a:t>usado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expandir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capacidade</a:t>
            </a:r>
            <a:r>
              <a:rPr lang="en-GB" b="0" i="0" dirty="0">
                <a:effectLst/>
              </a:rPr>
              <a:t> da RAM.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DADCE8-DA26-8FE7-514E-6D13C741A2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Tipos</a:t>
            </a:r>
            <a:r>
              <a:rPr lang="en-GB" dirty="0"/>
              <a:t> de </a:t>
            </a:r>
            <a:r>
              <a:rPr lang="en-GB" dirty="0" err="1"/>
              <a:t>Memórias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7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>
                <a:effectLst/>
              </a:rPr>
              <a:t>As memórias são organizadas em uma hierarquia com diferentes níveis de velocidade e capacidade. A hierarquia típica inclui:</a:t>
            </a:r>
            <a:endParaRPr lang="en-GB"/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Cache L1: A mais rápida e próxima da CPU.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Cache L2: Um nível intermediário entre a L1 e a RAM principal.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Memória RAM: A principal memória de sistema.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Memória de Armazenamento em Disco: Usada para armazenamento de longo prazo.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8645986-7EBF-C572-1D90-116D9F3198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Hierarquia</a:t>
            </a:r>
            <a:r>
              <a:rPr lang="en-GB" dirty="0"/>
              <a:t> de </a:t>
            </a:r>
            <a:r>
              <a:rPr lang="en-GB" dirty="0" err="1"/>
              <a:t>Memória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en-GB" b="1" i="0" dirty="0" err="1">
                <a:effectLst/>
              </a:rPr>
              <a:t>Arquitetura</a:t>
            </a:r>
            <a:r>
              <a:rPr lang="en-GB" b="1" i="0" dirty="0">
                <a:effectLst/>
              </a:rPr>
              <a:t> de </a:t>
            </a:r>
            <a:r>
              <a:rPr lang="en-GB" b="1" i="0" dirty="0" err="1">
                <a:effectLst/>
              </a:rPr>
              <a:t>Computadores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RAM (Random Access Memory)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principal do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. Ela </a:t>
            </a:r>
            <a:r>
              <a:rPr lang="en-GB" b="0" i="0" dirty="0" err="1">
                <a:effectLst/>
              </a:rPr>
              <a:t>consiste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células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organizadas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linhas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colunas</a:t>
            </a:r>
            <a:r>
              <a:rPr lang="en-GB" b="0" i="0" dirty="0">
                <a:effectLst/>
              </a:rPr>
              <a:t>. Cada </a:t>
            </a:r>
            <a:r>
              <a:rPr lang="en-GB" b="0" i="0" dirty="0" err="1">
                <a:effectLst/>
              </a:rPr>
              <a:t>célula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endereçada</a:t>
            </a:r>
            <a:r>
              <a:rPr lang="en-GB" b="0" i="0" dirty="0">
                <a:effectLst/>
              </a:rPr>
              <a:t> de forma </a:t>
            </a:r>
            <a:r>
              <a:rPr lang="en-GB" b="0" i="0" dirty="0" err="1">
                <a:effectLst/>
              </a:rPr>
              <a:t>única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permitindo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operações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leitura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escrita</a:t>
            </a:r>
            <a:r>
              <a:rPr lang="en-GB" b="0" i="0" dirty="0">
                <a:effectLst/>
              </a:rPr>
              <a:t>. Quando a CPU </a:t>
            </a:r>
            <a:r>
              <a:rPr lang="en-GB" b="0" i="0" dirty="0" err="1">
                <a:effectLst/>
              </a:rPr>
              <a:t>precisa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acessar</a:t>
            </a:r>
            <a:r>
              <a:rPr lang="en-GB" b="0" i="0" dirty="0">
                <a:effectLst/>
              </a:rPr>
              <a:t> dados, </a:t>
            </a:r>
            <a:r>
              <a:rPr lang="en-GB" b="0" i="0" dirty="0" err="1">
                <a:effectLst/>
              </a:rPr>
              <a:t>eles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transferidos</a:t>
            </a:r>
            <a:r>
              <a:rPr lang="en-GB" b="0" i="0" dirty="0">
                <a:effectLst/>
              </a:rPr>
              <a:t> da RAM para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registradores</a:t>
            </a:r>
            <a:r>
              <a:rPr lang="en-GB" b="0" i="0" dirty="0">
                <a:effectLst/>
              </a:rPr>
              <a:t> da CPU.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2116714-2A16-4622-B6E9-CE52F252E5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Funcionamento</a:t>
            </a:r>
            <a:r>
              <a:rPr lang="en-GB" dirty="0"/>
              <a:t> </a:t>
            </a:r>
            <a:r>
              <a:rPr lang="en-GB" dirty="0" err="1"/>
              <a:t>Básico</a:t>
            </a:r>
            <a:r>
              <a:rPr lang="en-GB" dirty="0"/>
              <a:t> da </a:t>
            </a:r>
            <a:r>
              <a:rPr lang="en-GB" dirty="0" err="1"/>
              <a:t>Memória</a:t>
            </a:r>
            <a:r>
              <a:rPr lang="en-GB" dirty="0"/>
              <a:t> 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2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>
                <a:effectLst/>
              </a:rPr>
              <a:t>A RAM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organizada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linhas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colunas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células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memória</a:t>
            </a:r>
            <a:r>
              <a:rPr lang="en-GB" b="0" i="0">
                <a:effectLst/>
              </a:rPr>
              <a:t>. As </a:t>
            </a:r>
            <a:r>
              <a:rPr lang="en-GB" b="0" i="0" err="1">
                <a:effectLst/>
              </a:rPr>
              <a:t>células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agrupadas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palavras</a:t>
            </a:r>
            <a:r>
              <a:rPr lang="en-GB" b="0" i="0">
                <a:effectLst/>
              </a:rPr>
              <a:t>, que </a:t>
            </a:r>
            <a:r>
              <a:rPr lang="en-GB" b="0" i="0" err="1">
                <a:effectLst/>
              </a:rPr>
              <a:t>podem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variar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tamanho</a:t>
            </a:r>
            <a:r>
              <a:rPr lang="en-GB" b="0" i="0">
                <a:effectLst/>
              </a:rPr>
              <a:t> (</a:t>
            </a:r>
            <a:r>
              <a:rPr lang="en-GB" b="0" i="0" err="1">
                <a:effectLst/>
              </a:rPr>
              <a:t>por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exemplo</a:t>
            </a:r>
            <a:r>
              <a:rPr lang="en-GB" b="0" i="0">
                <a:effectLst/>
              </a:rPr>
              <a:t>, 8 bits </a:t>
            </a:r>
            <a:r>
              <a:rPr lang="en-GB" b="0" i="0" err="1">
                <a:effectLst/>
              </a:rPr>
              <a:t>ou</a:t>
            </a:r>
            <a:r>
              <a:rPr lang="en-GB" b="0" i="0">
                <a:effectLst/>
              </a:rPr>
              <a:t> 64 bits).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registradores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memória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armazenam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temporariamente</a:t>
            </a:r>
            <a:r>
              <a:rPr lang="en-GB" b="0" i="0">
                <a:effectLst/>
              </a:rPr>
              <a:t> dados </a:t>
            </a:r>
            <a:r>
              <a:rPr lang="en-GB" b="0" i="0" err="1">
                <a:effectLst/>
              </a:rPr>
              <a:t>enquanto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processados</a:t>
            </a:r>
            <a:r>
              <a:rPr lang="en-GB" b="0" i="0">
                <a:effectLst/>
              </a:rPr>
              <a:t> pela CPU.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9F71C6B-E74B-7967-C47A-D7F24DC3BC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Estrutura</a:t>
            </a:r>
            <a:r>
              <a:rPr lang="en-GB" b="1" dirty="0"/>
              <a:t> da </a:t>
            </a:r>
            <a:r>
              <a:rPr lang="en-GB" b="1" dirty="0" err="1"/>
              <a:t>Memória</a:t>
            </a:r>
            <a:r>
              <a:rPr lang="en-GB" b="1" dirty="0"/>
              <a:t> 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82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RAM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volátil</a:t>
            </a:r>
            <a:r>
              <a:rPr lang="en-GB" b="0" i="0" dirty="0">
                <a:effectLst/>
              </a:rPr>
              <a:t>, o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significa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perdidos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quando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energia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desligada</a:t>
            </a:r>
            <a:r>
              <a:rPr lang="en-GB" b="0" i="0" dirty="0">
                <a:effectLst/>
              </a:rPr>
              <a:t>. Por </a:t>
            </a:r>
            <a:r>
              <a:rPr lang="en-GB" b="0" i="0" dirty="0" err="1">
                <a:effectLst/>
              </a:rPr>
              <a:t>esse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motivo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necessário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salvar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importantes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memórias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voláteis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a ROM/Disco. A </a:t>
            </a:r>
            <a:r>
              <a:rPr lang="en-GB" b="0" i="0" dirty="0" err="1">
                <a:effectLst/>
              </a:rPr>
              <a:t>volatilidade</a:t>
            </a:r>
            <a:r>
              <a:rPr lang="en-GB" b="0" i="0" dirty="0">
                <a:effectLst/>
              </a:rPr>
              <a:t> da RAM </a:t>
            </a:r>
            <a:r>
              <a:rPr lang="en-GB" b="0" i="0" dirty="0" err="1">
                <a:effectLst/>
              </a:rPr>
              <a:t>também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torna</a:t>
            </a:r>
            <a:r>
              <a:rPr lang="en-GB" b="0" i="0" dirty="0">
                <a:effectLst/>
              </a:rPr>
              <a:t> ideal para </a:t>
            </a:r>
            <a:r>
              <a:rPr lang="en-GB" b="0" i="0" dirty="0" err="1">
                <a:effectLst/>
              </a:rPr>
              <a:t>armazenar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temporários</a:t>
            </a:r>
            <a:r>
              <a:rPr lang="en-GB" b="0" i="0" dirty="0">
                <a:effectLst/>
              </a:rPr>
              <a:t> e de </a:t>
            </a:r>
            <a:r>
              <a:rPr lang="en-GB" b="0" i="0" dirty="0" err="1">
                <a:effectLst/>
              </a:rPr>
              <a:t>trabalho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652A4D6-9ECD-DD42-AC3E-E1DC67681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Volatilidade</a:t>
            </a:r>
            <a:r>
              <a:rPr lang="en-GB" b="1" dirty="0"/>
              <a:t> da </a:t>
            </a:r>
            <a:r>
              <a:rPr lang="en-GB" b="1" dirty="0" err="1"/>
              <a:t>Memória</a:t>
            </a:r>
            <a:r>
              <a:rPr lang="en-GB" b="1" dirty="0"/>
              <a:t> 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90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velocidade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acesso</a:t>
            </a:r>
            <a:r>
              <a:rPr lang="en-GB" b="0" i="0" dirty="0">
                <a:effectLst/>
              </a:rPr>
              <a:t> à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crucial para o </a:t>
            </a:r>
            <a:r>
              <a:rPr lang="en-GB" b="0" i="0" dirty="0" err="1">
                <a:effectLst/>
              </a:rPr>
              <a:t>desempenho</a:t>
            </a:r>
            <a:r>
              <a:rPr lang="en-GB" b="0" i="0" dirty="0">
                <a:effectLst/>
              </a:rPr>
              <a:t> do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. </a:t>
            </a:r>
            <a:r>
              <a:rPr lang="en-GB" b="0" i="0" dirty="0" err="1">
                <a:effectLst/>
              </a:rPr>
              <a:t>Diferentes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tipos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têm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diferentes</a:t>
            </a:r>
            <a:r>
              <a:rPr lang="en-GB" b="0" i="0" dirty="0">
                <a:effectLst/>
              </a:rPr>
              <a:t> tempos de </a:t>
            </a:r>
            <a:r>
              <a:rPr lang="en-GB" b="0" i="0" dirty="0" err="1">
                <a:effectLst/>
              </a:rPr>
              <a:t>acesso</a:t>
            </a:r>
            <a:r>
              <a:rPr lang="en-GB" b="0" i="0" dirty="0">
                <a:effectLst/>
              </a:rPr>
              <a:t>. Cache L1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rápida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seguida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por</a:t>
            </a:r>
            <a:r>
              <a:rPr lang="en-GB" b="0" i="0" dirty="0">
                <a:effectLst/>
              </a:rPr>
              <a:t> L2 e RAM. O </a:t>
            </a:r>
            <a:r>
              <a:rPr lang="en-GB" b="0" i="0" dirty="0" err="1">
                <a:effectLst/>
              </a:rPr>
              <a:t>acesso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armazenamento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disco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significativamente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lento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comparação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21154E0-951F-8955-53E1-D7BDC2D459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Velocidade</a:t>
            </a:r>
            <a:r>
              <a:rPr lang="en-GB" b="1" dirty="0"/>
              <a:t> de </a:t>
            </a:r>
            <a:r>
              <a:rPr lang="en-GB" b="1" dirty="0" err="1"/>
              <a:t>Acesso</a:t>
            </a:r>
            <a:r>
              <a:rPr lang="en-GB" b="1" dirty="0"/>
              <a:t> à </a:t>
            </a:r>
            <a:r>
              <a:rPr lang="en-GB" b="1" dirty="0" err="1"/>
              <a:t>Memória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94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cache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nível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intermediário</a:t>
            </a:r>
            <a:r>
              <a:rPr lang="en-GB" b="0" i="0" dirty="0">
                <a:effectLst/>
              </a:rPr>
              <a:t> entre a RAM e a CPU. Ela </a:t>
            </a:r>
            <a:r>
              <a:rPr lang="en-GB" b="0" i="0" dirty="0" err="1">
                <a:effectLst/>
              </a:rPr>
              <a:t>armazena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frequentemente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usados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acelerar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acesso</a:t>
            </a:r>
            <a:r>
              <a:rPr lang="en-GB" b="0" i="0" dirty="0">
                <a:effectLst/>
              </a:rPr>
              <a:t> à RAM principal. A cache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dividida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vários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níveis</a:t>
            </a:r>
            <a:r>
              <a:rPr lang="en-GB" b="0" i="0" dirty="0">
                <a:effectLst/>
              </a:rPr>
              <a:t> (L1, L2, L3) e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fundamental para </a:t>
            </a:r>
            <a:r>
              <a:rPr lang="en-GB" b="0" i="0" dirty="0" err="1">
                <a:effectLst/>
              </a:rPr>
              <a:t>melhorar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desempenho</a:t>
            </a:r>
            <a:r>
              <a:rPr lang="en-GB" b="0" i="0" dirty="0">
                <a:effectLst/>
              </a:rPr>
              <a:t> da CPU.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5D6235-6A16-C25D-ABC5-6D1AAFF653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Memória</a:t>
            </a:r>
            <a:r>
              <a:rPr lang="en-GB" b="1" dirty="0"/>
              <a:t> Cache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53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err="1">
                <a:effectLst/>
              </a:rPr>
              <a:t>Expansão</a:t>
            </a:r>
            <a:r>
              <a:rPr lang="en-GB" b="0" i="0">
                <a:effectLst/>
              </a:rPr>
              <a:t> da </a:t>
            </a:r>
            <a:r>
              <a:rPr lang="en-GB" b="0" i="0" err="1">
                <a:effectLst/>
              </a:rPr>
              <a:t>Capacidade</a:t>
            </a:r>
            <a:r>
              <a:rPr lang="en-GB" b="0" i="0">
                <a:effectLst/>
              </a:rPr>
              <a:t> da RAM</a:t>
            </a:r>
          </a:p>
          <a:p>
            <a:pPr lvl="1"/>
            <a:r>
              <a:rPr lang="en-GB" b="0" i="0" err="1">
                <a:effectLst/>
              </a:rPr>
              <a:t>Memória</a:t>
            </a:r>
            <a:r>
              <a:rPr lang="en-GB" b="0" i="0">
                <a:effectLst/>
              </a:rPr>
              <a:t> Virtual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um </a:t>
            </a:r>
            <a:r>
              <a:rPr lang="en-GB" b="0" i="0" err="1">
                <a:effectLst/>
              </a:rPr>
              <a:t>conceito</a:t>
            </a:r>
            <a:r>
              <a:rPr lang="en-GB" b="0" i="0">
                <a:effectLst/>
              </a:rPr>
              <a:t> fundamental para </a:t>
            </a:r>
            <a:r>
              <a:rPr lang="en-GB" b="0" i="0" err="1">
                <a:effectLst/>
              </a:rPr>
              <a:t>gerenciar</a:t>
            </a:r>
            <a:r>
              <a:rPr lang="en-GB" b="0" i="0">
                <a:effectLst/>
              </a:rPr>
              <a:t> o </a:t>
            </a:r>
            <a:r>
              <a:rPr lang="en-GB" b="0" i="0" err="1">
                <a:effectLst/>
              </a:rPr>
              <a:t>armazenamento</a:t>
            </a:r>
            <a:r>
              <a:rPr lang="en-GB" b="0" i="0">
                <a:effectLst/>
              </a:rPr>
              <a:t> de dados </a:t>
            </a:r>
            <a:r>
              <a:rPr lang="en-GB" b="0" i="0" err="1">
                <a:effectLst/>
              </a:rPr>
              <a:t>quando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capacidade</a:t>
            </a:r>
            <a:r>
              <a:rPr lang="en-GB" b="0" i="0">
                <a:effectLst/>
              </a:rPr>
              <a:t> da RAM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limitada</a:t>
            </a:r>
            <a:r>
              <a:rPr lang="en-GB" b="0" i="0">
                <a:effectLst/>
              </a:rPr>
              <a:t>. A </a:t>
            </a:r>
            <a:r>
              <a:rPr lang="en-GB" b="0" i="0" err="1">
                <a:effectLst/>
              </a:rPr>
              <a:t>Memória</a:t>
            </a:r>
            <a:r>
              <a:rPr lang="en-GB" b="0" i="0">
                <a:effectLst/>
              </a:rPr>
              <a:t> Virtual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uma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extensão</a:t>
            </a:r>
            <a:r>
              <a:rPr lang="en-GB" b="0" i="0">
                <a:effectLst/>
              </a:rPr>
              <a:t> do </a:t>
            </a:r>
            <a:r>
              <a:rPr lang="en-GB" b="0" i="0" err="1">
                <a:effectLst/>
              </a:rPr>
              <a:t>espaço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endereçamento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físico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por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meio</a:t>
            </a:r>
            <a:r>
              <a:rPr lang="en-GB" b="0" i="0">
                <a:effectLst/>
              </a:rPr>
              <a:t> do </a:t>
            </a:r>
            <a:r>
              <a:rPr lang="en-GB" b="0" i="0" err="1">
                <a:effectLst/>
              </a:rPr>
              <a:t>uso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armazenamento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disco.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5D49D43-0DC3-A134-F67B-AFF1AE14F9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Memória</a:t>
            </a:r>
            <a:r>
              <a:rPr lang="en-GB" b="1" dirty="0"/>
              <a:t> Virtual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4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RAM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recurso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valioso</a:t>
            </a:r>
            <a:r>
              <a:rPr lang="en-GB" b="0" i="0" dirty="0">
                <a:effectLst/>
              </a:rPr>
              <a:t>, mas </a:t>
            </a:r>
            <a:r>
              <a:rPr lang="en-GB" b="0" i="0" dirty="0" err="1">
                <a:effectLst/>
              </a:rPr>
              <a:t>limitado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qualquer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computador</a:t>
            </a:r>
            <a:r>
              <a:rPr lang="en-GB" b="0" i="0" dirty="0">
                <a:effectLst/>
              </a:rPr>
              <a:t>. </a:t>
            </a:r>
            <a:r>
              <a:rPr lang="en-GB" b="0" i="0" dirty="0" err="1">
                <a:effectLst/>
              </a:rPr>
              <a:t>Às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vezes</a:t>
            </a:r>
            <a:r>
              <a:rPr lang="en-GB" b="0" i="0" dirty="0">
                <a:effectLst/>
              </a:rPr>
              <a:t>, a </a:t>
            </a:r>
            <a:r>
              <a:rPr lang="en-GB" b="0" i="0" dirty="0" err="1">
                <a:effectLst/>
              </a:rPr>
              <a:t>quantidade</a:t>
            </a:r>
            <a:r>
              <a:rPr lang="en-GB" b="0" i="0" dirty="0">
                <a:effectLst/>
              </a:rPr>
              <a:t> de RAM </a:t>
            </a:r>
            <a:r>
              <a:rPr lang="en-GB" b="0" i="0" dirty="0" err="1">
                <a:effectLst/>
              </a:rPr>
              <a:t>não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suficiente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executar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todos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programas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tarefas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necessárias</a:t>
            </a:r>
            <a:r>
              <a:rPr lang="en-GB" b="0" i="0" dirty="0">
                <a:effectLst/>
              </a:rPr>
              <a:t>. Aqui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onde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entra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cena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F3AA448-922B-8E92-5F77-C4EDB5C2E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/>
              <a:t>O </a:t>
            </a:r>
            <a:r>
              <a:rPr lang="en-GB" b="1" dirty="0" err="1"/>
              <a:t>Problema</a:t>
            </a:r>
            <a:r>
              <a:rPr lang="en-GB" b="1" dirty="0"/>
              <a:t> da </a:t>
            </a:r>
            <a:r>
              <a:rPr lang="en-GB" b="1" dirty="0" err="1"/>
              <a:t>Limitação</a:t>
            </a:r>
            <a:r>
              <a:rPr lang="en-GB" b="1" dirty="0"/>
              <a:t> da 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29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operacional</a:t>
            </a:r>
            <a:r>
              <a:rPr lang="en-GB" b="0" i="0" dirty="0">
                <a:effectLst/>
              </a:rPr>
              <a:t> utilize </a:t>
            </a:r>
            <a:r>
              <a:rPr lang="en-GB" b="0" i="0" dirty="0" err="1">
                <a:effectLst/>
              </a:rPr>
              <a:t>espaço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disco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extensão</a:t>
            </a:r>
            <a:r>
              <a:rPr lang="en-GB" b="0" i="0" dirty="0">
                <a:effectLst/>
              </a:rPr>
              <a:t> da RAM </a:t>
            </a:r>
            <a:r>
              <a:rPr lang="en-GB" b="0" i="0" dirty="0" err="1">
                <a:effectLst/>
              </a:rPr>
              <a:t>física</a:t>
            </a:r>
            <a:r>
              <a:rPr lang="en-GB" b="0" i="0" dirty="0">
                <a:effectLst/>
              </a:rPr>
              <a:t>. </a:t>
            </a:r>
            <a:r>
              <a:rPr lang="en-GB" b="0" i="0" dirty="0" err="1">
                <a:effectLst/>
              </a:rPr>
              <a:t>Isso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programas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acessem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do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realmente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está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disponível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RAM.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D14DE-89C3-6937-EB99-09D10ECDF8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Função</a:t>
            </a:r>
            <a:r>
              <a:rPr lang="en-GB" b="1" dirty="0"/>
              <a:t> da </a:t>
            </a:r>
            <a:r>
              <a:rPr lang="en-GB" b="1" dirty="0" err="1"/>
              <a:t>Memória</a:t>
            </a:r>
            <a:r>
              <a:rPr lang="en-GB" b="1" dirty="0"/>
              <a:t> Virtual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3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implementação</a:t>
            </a:r>
            <a:r>
              <a:rPr lang="en-GB" b="0" i="0" dirty="0">
                <a:effectLst/>
              </a:rPr>
              <a:t> da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envolve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uso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tabelas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página</a:t>
            </a:r>
            <a:r>
              <a:rPr lang="en-GB" b="0" i="0" dirty="0">
                <a:effectLst/>
              </a:rPr>
              <a:t>. Cada </a:t>
            </a:r>
            <a:r>
              <a:rPr lang="en-GB" b="0" i="0" dirty="0" err="1">
                <a:effectLst/>
              </a:rPr>
              <a:t>página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mapeada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página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correspondente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RAM </a:t>
            </a:r>
            <a:r>
              <a:rPr lang="en-GB" b="0" i="0" dirty="0" err="1">
                <a:effectLst/>
              </a:rPr>
              <a:t>ou</a:t>
            </a:r>
            <a:r>
              <a:rPr lang="en-GB" b="0" i="0" dirty="0">
                <a:effectLst/>
              </a:rPr>
              <a:t> no </a:t>
            </a:r>
            <a:r>
              <a:rPr lang="en-GB" b="0" i="0" dirty="0" err="1">
                <a:effectLst/>
              </a:rPr>
              <a:t>armazenamento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disco. As </a:t>
            </a:r>
            <a:r>
              <a:rPr lang="en-GB" b="0" i="0" dirty="0" err="1">
                <a:effectLst/>
              </a:rPr>
              <a:t>tabelas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página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usadas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rastrear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essas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correspondências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03BD582-9610-36A3-E154-794EC4BA5C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Tabelas</a:t>
            </a:r>
            <a:r>
              <a:rPr lang="en-GB" b="1" dirty="0"/>
              <a:t> de Página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95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Quando um </a:t>
            </a:r>
            <a:r>
              <a:rPr lang="en-GB" b="0" i="0" dirty="0" err="1">
                <a:effectLst/>
              </a:rPr>
              <a:t>programa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acessa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endereço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virtual, o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operacional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traduz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esse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endereço</a:t>
            </a:r>
            <a:r>
              <a:rPr lang="en-GB" b="0" i="0" dirty="0">
                <a:effectLst/>
              </a:rPr>
              <a:t> para um </a:t>
            </a:r>
            <a:r>
              <a:rPr lang="en-GB" b="0" i="0" dirty="0" err="1">
                <a:effectLst/>
              </a:rPr>
              <a:t>endereço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físico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RAM </a:t>
            </a:r>
            <a:r>
              <a:rPr lang="en-GB" b="0" i="0" dirty="0" err="1">
                <a:effectLst/>
              </a:rPr>
              <a:t>ou</a:t>
            </a:r>
            <a:r>
              <a:rPr lang="en-GB" b="0" i="0" dirty="0">
                <a:effectLst/>
              </a:rPr>
              <a:t> no disco. </a:t>
            </a:r>
            <a:r>
              <a:rPr lang="en-GB" b="0" i="0" dirty="0" err="1">
                <a:effectLst/>
              </a:rPr>
              <a:t>Isso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sejam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recuperados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processados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corretamente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B789668-7D27-EAEA-2107-5FC677A751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Tradução</a:t>
            </a:r>
            <a:r>
              <a:rPr lang="en-GB" b="1" dirty="0"/>
              <a:t> de </a:t>
            </a:r>
            <a:r>
              <a:rPr lang="en-GB" b="1" dirty="0" err="1"/>
              <a:t>Endereços</a:t>
            </a:r>
            <a:r>
              <a:rPr lang="en-GB" b="1" dirty="0"/>
              <a:t> </a:t>
            </a:r>
            <a:r>
              <a:rPr lang="en-GB" b="1" dirty="0" err="1"/>
              <a:t>Virtuais</a:t>
            </a:r>
            <a:r>
              <a:rPr lang="en-GB" b="1" dirty="0"/>
              <a:t> para </a:t>
            </a:r>
            <a:r>
              <a:rPr lang="en-GB" b="1" dirty="0" err="1"/>
              <a:t>Físicos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611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oferece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vários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benefícios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incluindo</a:t>
            </a:r>
            <a:r>
              <a:rPr lang="en-GB" b="0" i="0" dirty="0">
                <a:effectLst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programas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do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a RAM </a:t>
            </a:r>
            <a:r>
              <a:rPr lang="en-GB" b="0" i="0" dirty="0" err="1">
                <a:effectLst/>
              </a:rPr>
              <a:t>física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disponível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Isola </a:t>
            </a:r>
            <a:r>
              <a:rPr lang="en-GB" b="0" i="0" dirty="0" err="1">
                <a:effectLst/>
              </a:rPr>
              <a:t>processos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uns</a:t>
            </a:r>
            <a:r>
              <a:rPr lang="en-GB" b="0" i="0" dirty="0">
                <a:effectLst/>
              </a:rPr>
              <a:t> dos outros, </a:t>
            </a:r>
            <a:r>
              <a:rPr lang="en-GB" b="0" i="0" dirty="0" err="1">
                <a:effectLst/>
              </a:rPr>
              <a:t>evitando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programa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acesse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de outro </a:t>
            </a:r>
            <a:r>
              <a:rPr lang="en-GB" b="0" i="0" dirty="0" err="1">
                <a:effectLst/>
              </a:rPr>
              <a:t>diretamente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Facilita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gestão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pelo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operacional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0A0B1A-80B1-CACF-57C1-A54B39B447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Benefícios</a:t>
            </a:r>
            <a:r>
              <a:rPr lang="en-GB" b="1" dirty="0"/>
              <a:t> da </a:t>
            </a:r>
            <a:r>
              <a:rPr lang="en-GB" b="1" dirty="0" err="1"/>
              <a:t>Memória</a:t>
            </a:r>
            <a:r>
              <a:rPr lang="en-GB" b="1" dirty="0"/>
              <a:t> Virtual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367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</a:rPr>
              <a:t>Apesar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seus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benefícios</a:t>
            </a:r>
            <a:r>
              <a:rPr lang="en-GB" b="0" i="0" dirty="0">
                <a:effectLst/>
              </a:rPr>
              <a:t>, 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também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apresenta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desafios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incluindo</a:t>
            </a:r>
            <a:r>
              <a:rPr lang="en-GB" b="0" i="0" dirty="0">
                <a:effectLst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Sobrecarga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devido</a:t>
            </a:r>
            <a:r>
              <a:rPr lang="en-GB" b="0" i="0" dirty="0">
                <a:effectLst/>
              </a:rPr>
              <a:t> à </a:t>
            </a:r>
            <a:r>
              <a:rPr lang="en-GB" b="0" i="0" dirty="0" err="1">
                <a:effectLst/>
              </a:rPr>
              <a:t>tradução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endereços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Possíveis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problemas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desempenho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quando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começa</a:t>
            </a:r>
            <a:r>
              <a:rPr lang="en-GB" b="0" i="0" dirty="0">
                <a:effectLst/>
              </a:rPr>
              <a:t> a usar o </a:t>
            </a:r>
            <a:r>
              <a:rPr lang="en-GB" b="0" i="0" dirty="0" err="1">
                <a:effectLst/>
              </a:rPr>
              <a:t>armazenamento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disco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vez</a:t>
            </a:r>
            <a:r>
              <a:rPr lang="en-GB" b="0" i="0" dirty="0">
                <a:effectLst/>
              </a:rPr>
              <a:t> da RAM.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58EAF92-D5CD-D534-968F-5F3DCC80BA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Desafios</a:t>
            </a:r>
            <a:r>
              <a:rPr lang="en-GB" b="1" dirty="0"/>
              <a:t> da </a:t>
            </a:r>
            <a:r>
              <a:rPr lang="en-GB" b="1" dirty="0" err="1"/>
              <a:t>Memória</a:t>
            </a:r>
            <a:r>
              <a:rPr lang="en-GB" b="1" dirty="0"/>
              <a:t> Virtual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5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Para lidar com a </a:t>
            </a:r>
            <a:r>
              <a:rPr lang="en-GB" b="0" i="0" dirty="0" err="1">
                <a:effectLst/>
              </a:rPr>
              <a:t>limitação</a:t>
            </a:r>
            <a:r>
              <a:rPr lang="en-GB" b="0" i="0" dirty="0">
                <a:effectLst/>
              </a:rPr>
              <a:t> da RAM, o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operacional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técnica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chamada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troca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páginas</a:t>
            </a:r>
            <a:r>
              <a:rPr lang="en-GB" b="0" i="0" dirty="0">
                <a:effectLst/>
              </a:rPr>
              <a:t> (paging). </a:t>
            </a:r>
            <a:r>
              <a:rPr lang="en-GB" b="0" i="0" dirty="0" err="1">
                <a:effectLst/>
              </a:rPr>
              <a:t>Isso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envolve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transferência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páginas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entre a RAM e o disco </a:t>
            </a:r>
            <a:r>
              <a:rPr lang="en-GB" b="0" i="0" dirty="0" err="1">
                <a:effectLst/>
              </a:rPr>
              <a:t>conforme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necessário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0F654-B058-7A42-1B47-0E3482A1F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Troca</a:t>
            </a:r>
            <a:r>
              <a:rPr lang="en-GB" b="1" dirty="0"/>
              <a:t> de </a:t>
            </a:r>
            <a:r>
              <a:rPr lang="en-GB" b="1" dirty="0" err="1"/>
              <a:t>Páginas</a:t>
            </a:r>
            <a:r>
              <a:rPr lang="en-GB" b="1" dirty="0"/>
              <a:t> (Paging)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90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Memória</a:t>
            </a:r>
            <a:r>
              <a:rPr lang="en-GB" b="0" i="0" dirty="0">
                <a:effectLst/>
              </a:rPr>
              <a:t> Virtual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parte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essencial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modernos</a:t>
            </a:r>
            <a:r>
              <a:rPr lang="en-GB" b="0" i="0" dirty="0">
                <a:effectLst/>
              </a:rPr>
              <a:t>. Ela </a:t>
            </a: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executem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ampla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gama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aplicativos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mesmo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máquinas</a:t>
            </a:r>
            <a:r>
              <a:rPr lang="en-GB" b="0" i="0" dirty="0">
                <a:effectLst/>
              </a:rPr>
              <a:t> com </a:t>
            </a:r>
            <a:r>
              <a:rPr lang="en-GB" b="0" i="0" dirty="0" err="1">
                <a:effectLst/>
              </a:rPr>
              <a:t>recursos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limitados</a:t>
            </a:r>
            <a:r>
              <a:rPr lang="en-GB" b="0" i="0" dirty="0">
                <a:effectLst/>
              </a:rPr>
              <a:t> de RAM.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FD96C2A-22FE-239A-1FAB-D57459C462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Memória</a:t>
            </a:r>
            <a:r>
              <a:rPr lang="en-GB" b="1" dirty="0"/>
              <a:t> Virtual </a:t>
            </a:r>
            <a:r>
              <a:rPr lang="en-GB" b="1" dirty="0" err="1"/>
              <a:t>em</a:t>
            </a:r>
            <a:r>
              <a:rPr lang="en-GB" b="1" dirty="0"/>
              <a:t> Sistemas </a:t>
            </a:r>
            <a:r>
              <a:rPr lang="en-GB" b="1" dirty="0" err="1"/>
              <a:t>Modernos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9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</a:rPr>
              <a:t>Interação</a:t>
            </a:r>
            <a:r>
              <a:rPr lang="en-GB" b="0" i="0" dirty="0">
                <a:effectLst/>
              </a:rPr>
              <a:t> entre Humanos e </a:t>
            </a:r>
            <a:r>
              <a:rPr lang="en-GB" b="0" i="0" dirty="0" err="1">
                <a:effectLst/>
              </a:rPr>
              <a:t>Computadores</a:t>
            </a:r>
            <a:endParaRPr lang="en-GB" b="0" i="0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Explorar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entrada,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desempenham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papel</a:t>
            </a:r>
            <a:r>
              <a:rPr lang="en-GB" b="0" i="0" dirty="0">
                <a:effectLst/>
              </a:rPr>
              <a:t> fundamental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comunicação</a:t>
            </a:r>
            <a:r>
              <a:rPr lang="en-GB" b="0" i="0" dirty="0">
                <a:effectLst/>
              </a:rPr>
              <a:t> entre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humanos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. Esses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forneçam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comandos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31126A-BB76-2190-40E7-98C77F3D6E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Dispositivos</a:t>
            </a:r>
            <a:r>
              <a:rPr lang="en-GB" b="1" dirty="0"/>
              <a:t> de Entrada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33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a porta de entrada para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. Eles </a:t>
            </a:r>
            <a:r>
              <a:rPr lang="en-GB" b="0" i="0" dirty="0" err="1">
                <a:effectLst/>
              </a:rPr>
              <a:t>permitem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forneçam</a:t>
            </a:r>
            <a:r>
              <a:rPr lang="en-GB" b="0" i="0" dirty="0">
                <a:effectLst/>
              </a:rPr>
              <a:t> dados, </a:t>
            </a:r>
            <a:r>
              <a:rPr lang="en-GB" b="0" i="0" dirty="0" err="1">
                <a:effectLst/>
              </a:rPr>
              <a:t>instruções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comandos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realizar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tarefas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diversas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desde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digitar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documento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até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jogar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jogo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582C2DA-2221-B688-5855-5347D446B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Importância</a:t>
            </a:r>
            <a:r>
              <a:rPr lang="en-GB" b="1" dirty="0"/>
              <a:t> dos </a:t>
            </a:r>
            <a:r>
              <a:rPr lang="en-GB" b="1" dirty="0" err="1"/>
              <a:t>Dispositivos</a:t>
            </a:r>
            <a:r>
              <a:rPr lang="en-GB" b="1" dirty="0"/>
              <a:t> de Entrada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90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</a:rPr>
              <a:t>Existe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variedade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entrada, </a:t>
            </a:r>
            <a:r>
              <a:rPr lang="en-GB" b="0" i="0" dirty="0" err="1">
                <a:effectLst/>
              </a:rPr>
              <a:t>incluindo:Teclado</a:t>
            </a:r>
            <a:r>
              <a:rPr lang="en-GB" b="0" i="0" dirty="0">
                <a:effectLst/>
              </a:rPr>
              <a:t>: </a:t>
            </a:r>
            <a:r>
              <a:rPr lang="en-GB" b="0" i="0" dirty="0" err="1">
                <a:effectLst/>
              </a:rPr>
              <a:t>Usado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inserir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texto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comandos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Mouse: </a:t>
            </a:r>
            <a:r>
              <a:rPr lang="en-GB" b="0" i="0" dirty="0" err="1">
                <a:effectLst/>
              </a:rPr>
              <a:t>Utilizado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apontar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selecionar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interagir</a:t>
            </a:r>
            <a:r>
              <a:rPr lang="en-GB" b="0" i="0" dirty="0">
                <a:effectLst/>
              </a:rPr>
              <a:t> com </a:t>
            </a:r>
            <a:r>
              <a:rPr lang="en-GB" b="0" i="0" dirty="0" err="1">
                <a:effectLst/>
              </a:rPr>
              <a:t>elementos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tela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Touchpad e Trackball: </a:t>
            </a:r>
            <a:r>
              <a:rPr lang="en-GB" b="0" i="0" dirty="0" err="1">
                <a:effectLst/>
              </a:rPr>
              <a:t>Alternativas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ao</a:t>
            </a:r>
            <a:r>
              <a:rPr lang="en-GB" b="0" i="0" dirty="0">
                <a:effectLst/>
              </a:rPr>
              <a:t> mouse.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Joysticks e Gamepads: Para </a:t>
            </a:r>
            <a:r>
              <a:rPr lang="en-GB" b="0" i="0" dirty="0" err="1">
                <a:effectLst/>
              </a:rPr>
              <a:t>jogos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simulações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Scanner: </a:t>
            </a:r>
            <a:r>
              <a:rPr lang="en-GB" b="0" i="0" dirty="0" err="1">
                <a:effectLst/>
              </a:rPr>
              <a:t>Digitaliza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documentos</a:t>
            </a:r>
            <a:r>
              <a:rPr lang="en-GB" b="0" i="0" dirty="0">
                <a:effectLst/>
              </a:rPr>
              <a:t> e imagens.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Microfone</a:t>
            </a:r>
            <a:r>
              <a:rPr lang="en-GB" b="0" i="0" dirty="0">
                <a:effectLst/>
              </a:rPr>
              <a:t>: </a:t>
            </a:r>
            <a:r>
              <a:rPr lang="en-GB" b="0" i="0" dirty="0" err="1">
                <a:effectLst/>
              </a:rPr>
              <a:t>Captura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áudio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Câmera</a:t>
            </a:r>
            <a:r>
              <a:rPr lang="en-GB" b="0" i="0" dirty="0">
                <a:effectLst/>
              </a:rPr>
              <a:t>: </a:t>
            </a:r>
            <a:r>
              <a:rPr lang="en-GB" b="0" i="0" dirty="0" err="1">
                <a:effectLst/>
              </a:rPr>
              <a:t>Captura</a:t>
            </a:r>
            <a:r>
              <a:rPr lang="en-GB" b="0" i="0" dirty="0">
                <a:effectLst/>
              </a:rPr>
              <a:t> imagens e </a:t>
            </a:r>
            <a:r>
              <a:rPr lang="en-GB" b="0" i="0" dirty="0" err="1">
                <a:effectLst/>
              </a:rPr>
              <a:t>vídeos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 de Toque: </a:t>
            </a:r>
            <a:r>
              <a:rPr lang="en-GB" b="0" i="0" dirty="0" err="1">
                <a:effectLst/>
              </a:rPr>
              <a:t>Detectam</a:t>
            </a:r>
            <a:r>
              <a:rPr lang="en-GB" b="0" i="0" dirty="0">
                <a:effectLst/>
              </a:rPr>
              <a:t> toques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tela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Movimento</a:t>
            </a:r>
            <a:r>
              <a:rPr lang="en-GB" b="0" i="0" dirty="0">
                <a:effectLst/>
              </a:rPr>
              <a:t>: </a:t>
            </a:r>
            <a:r>
              <a:rPr lang="en-GB" b="0" i="0" dirty="0" err="1">
                <a:effectLst/>
              </a:rPr>
              <a:t>Usados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smartphones e </a:t>
            </a:r>
            <a:r>
              <a:rPr lang="en-GB" b="0" i="0" dirty="0" err="1">
                <a:effectLst/>
              </a:rPr>
              <a:t>consolas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jogos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D6209B5-74CE-DDC1-45EC-35F82F174B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Tipos</a:t>
            </a:r>
            <a:r>
              <a:rPr lang="en-GB" b="1" dirty="0"/>
              <a:t> de </a:t>
            </a:r>
            <a:r>
              <a:rPr lang="en-GB" b="1" dirty="0" err="1"/>
              <a:t>Dispositivos</a:t>
            </a:r>
            <a:r>
              <a:rPr lang="en-GB" b="1" dirty="0"/>
              <a:t> de Entrada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5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Para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 se </a:t>
            </a:r>
            <a:r>
              <a:rPr lang="en-GB" b="0" i="0" dirty="0" err="1">
                <a:effectLst/>
              </a:rPr>
              <a:t>comuniquem</a:t>
            </a:r>
            <a:r>
              <a:rPr lang="en-GB" b="0" i="0" dirty="0">
                <a:effectLst/>
              </a:rPr>
              <a:t> com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necessário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haja</a:t>
            </a:r>
            <a:r>
              <a:rPr lang="en-GB" b="0" i="0" dirty="0">
                <a:effectLst/>
              </a:rPr>
              <a:t> interfaces </a:t>
            </a:r>
            <a:r>
              <a:rPr lang="en-GB" b="0" i="0" dirty="0" err="1">
                <a:effectLst/>
              </a:rPr>
              <a:t>apropriadas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portas</a:t>
            </a:r>
            <a:r>
              <a:rPr lang="en-GB" b="0" i="0" dirty="0">
                <a:effectLst/>
              </a:rPr>
              <a:t> USB, Bluetooth, Wi-Fi, entre </a:t>
            </a:r>
            <a:r>
              <a:rPr lang="en-GB" b="0" i="0" dirty="0" err="1">
                <a:effectLst/>
              </a:rPr>
              <a:t>outras</a:t>
            </a:r>
            <a:r>
              <a:rPr lang="en-GB" b="0" i="0" dirty="0">
                <a:effectLst/>
              </a:rPr>
              <a:t>. </a:t>
            </a:r>
            <a:r>
              <a:rPr lang="en-GB" b="0" i="0" dirty="0" err="1">
                <a:effectLst/>
              </a:rPr>
              <a:t>Essas</a:t>
            </a:r>
            <a:r>
              <a:rPr lang="en-GB" b="0" i="0" dirty="0">
                <a:effectLst/>
              </a:rPr>
              <a:t> interfaces </a:t>
            </a:r>
            <a:r>
              <a:rPr lang="en-GB" b="0" i="0" dirty="0" err="1">
                <a:effectLst/>
              </a:rPr>
              <a:t>permitem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transmissão</a:t>
            </a:r>
            <a:r>
              <a:rPr lang="en-GB" b="0" i="0" dirty="0">
                <a:effectLst/>
              </a:rPr>
              <a:t> de dados e </a:t>
            </a:r>
            <a:r>
              <a:rPr lang="en-GB" b="0" i="0" dirty="0" err="1">
                <a:effectLst/>
              </a:rPr>
              <a:t>comandos</a:t>
            </a:r>
            <a:r>
              <a:rPr lang="en-GB" b="0" i="0" dirty="0">
                <a:effectLst/>
              </a:rPr>
              <a:t> entre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0466150-ABBF-45CF-05D1-23E95C999C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/>
              <a:t>Interface entre </a:t>
            </a:r>
            <a:r>
              <a:rPr lang="en-GB" b="1" dirty="0" err="1"/>
              <a:t>Dispositivos</a:t>
            </a:r>
            <a:r>
              <a:rPr lang="en-GB" b="1" dirty="0"/>
              <a:t> e </a:t>
            </a:r>
            <a:r>
              <a:rPr lang="en-GB" b="1" dirty="0" err="1"/>
              <a:t>Computadores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21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Para </a:t>
            </a:r>
            <a:r>
              <a:rPr lang="en-GB" b="0" i="0" dirty="0" err="1">
                <a:effectLst/>
              </a:rPr>
              <a:t>garantir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 </a:t>
            </a:r>
            <a:r>
              <a:rPr lang="en-GB" b="0" i="0" dirty="0" err="1">
                <a:effectLst/>
              </a:rPr>
              <a:t>funcionem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corretamente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usam</a:t>
            </a:r>
            <a:r>
              <a:rPr lang="en-GB" b="0" i="0" dirty="0">
                <a:effectLst/>
              </a:rPr>
              <a:t> drivers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.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drivers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programas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operacional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reconhecer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controlar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conectados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B0BA38D-B4B4-61F5-A21E-28A5C81857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/>
              <a:t>Drivers de </a:t>
            </a:r>
            <a:r>
              <a:rPr lang="en-GB" b="1" dirty="0" err="1"/>
              <a:t>Dispositivos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85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podem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configurar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personalizar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seus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 </a:t>
            </a:r>
            <a:r>
              <a:rPr lang="en-GB" b="0" i="0" dirty="0" err="1">
                <a:effectLst/>
              </a:rPr>
              <a:t>nas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configurações</a:t>
            </a:r>
            <a:r>
              <a:rPr lang="en-GB" b="0" i="0" dirty="0">
                <a:effectLst/>
              </a:rPr>
              <a:t> do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operacional</a:t>
            </a:r>
            <a:r>
              <a:rPr lang="en-GB" b="0" i="0" dirty="0">
                <a:effectLst/>
              </a:rPr>
              <a:t>. </a:t>
            </a:r>
            <a:r>
              <a:rPr lang="en-GB" b="0" i="0" dirty="0" err="1">
                <a:effectLst/>
              </a:rPr>
              <a:t>Isso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inclui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definição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preferências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teclado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sensibilidade</a:t>
            </a:r>
            <a:r>
              <a:rPr lang="en-GB" b="0" i="0" dirty="0">
                <a:effectLst/>
              </a:rPr>
              <a:t> do mouse, </a:t>
            </a:r>
            <a:r>
              <a:rPr lang="en-GB" b="0" i="0" dirty="0" err="1">
                <a:effectLst/>
              </a:rPr>
              <a:t>configurações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voz</a:t>
            </a:r>
            <a:r>
              <a:rPr lang="en-GB" b="0" i="0" dirty="0">
                <a:effectLst/>
              </a:rPr>
              <a:t>, etc.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4837CDE-4406-AF26-9D81-59815EBEFD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Configuração</a:t>
            </a:r>
            <a:r>
              <a:rPr lang="en-GB" b="1" dirty="0"/>
              <a:t> de </a:t>
            </a:r>
            <a:r>
              <a:rPr lang="en-GB" b="1" dirty="0" err="1"/>
              <a:t>Dispositivos</a:t>
            </a:r>
            <a:r>
              <a:rPr lang="en-GB" b="1" dirty="0"/>
              <a:t> de Entrada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62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Profissionais</a:t>
            </a:r>
            <a:r>
              <a:rPr lang="en-GB" b="0" i="0" dirty="0">
                <a:effectLst/>
              </a:rPr>
              <a:t> de design de interfaces de </a:t>
            </a:r>
            <a:r>
              <a:rPr lang="en-GB" b="0" i="0" dirty="0" err="1">
                <a:effectLst/>
              </a:rPr>
              <a:t>utilizador</a:t>
            </a:r>
            <a:r>
              <a:rPr lang="en-GB" b="0" i="0" dirty="0">
                <a:effectLst/>
              </a:rPr>
              <a:t> (UI/UX) </a:t>
            </a:r>
            <a:r>
              <a:rPr lang="en-GB" b="0" i="0" dirty="0" err="1">
                <a:effectLst/>
              </a:rPr>
              <a:t>desempenham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papel</a:t>
            </a:r>
            <a:r>
              <a:rPr lang="en-GB" b="0" i="0" dirty="0">
                <a:effectLst/>
              </a:rPr>
              <a:t> fundamental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criação</a:t>
            </a:r>
            <a:r>
              <a:rPr lang="en-GB" b="0" i="0" dirty="0">
                <a:effectLst/>
              </a:rPr>
              <a:t> de interfaces </a:t>
            </a:r>
            <a:r>
              <a:rPr lang="en-GB" b="0" i="0" dirty="0" err="1">
                <a:effectLst/>
              </a:rPr>
              <a:t>amigáveis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intuitivas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entrada. Eles se </a:t>
            </a:r>
            <a:r>
              <a:rPr lang="en-GB" b="0" i="0" dirty="0" err="1">
                <a:effectLst/>
              </a:rPr>
              <a:t>concentram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tornar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interação</a:t>
            </a:r>
            <a:r>
              <a:rPr lang="en-GB" b="0" i="0" dirty="0">
                <a:effectLst/>
              </a:rPr>
              <a:t> entre </a:t>
            </a:r>
            <a:r>
              <a:rPr lang="en-GB" b="0" i="0" dirty="0" err="1">
                <a:effectLst/>
              </a:rPr>
              <a:t>humanos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eficiente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agradável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A669FB8-D597-4822-DC34-CB97662148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Desenvolvimento</a:t>
            </a:r>
            <a:r>
              <a:rPr lang="en-GB" b="1" dirty="0"/>
              <a:t> de Interfaces de </a:t>
            </a:r>
            <a:r>
              <a:rPr lang="en-GB" b="1" dirty="0" err="1"/>
              <a:t>utilizador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26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Destaque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constante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evolução</a:t>
            </a:r>
            <a:r>
              <a:rPr lang="en-GB" b="0" i="0" dirty="0">
                <a:effectLst/>
              </a:rPr>
              <a:t> dos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entrada, </a:t>
            </a:r>
            <a:r>
              <a:rPr lang="en-GB" b="0" i="0" dirty="0" err="1">
                <a:effectLst/>
              </a:rPr>
              <a:t>incluindo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inovações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reconhecimento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gestos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comandos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voz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avançados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realidade</a:t>
            </a:r>
            <a:r>
              <a:rPr lang="en-GB" b="0" i="0" dirty="0">
                <a:effectLst/>
              </a:rPr>
              <a:t> virtual (VR) e </a:t>
            </a:r>
            <a:r>
              <a:rPr lang="en-GB" b="0" i="0" dirty="0" err="1">
                <a:effectLst/>
              </a:rPr>
              <a:t>realidade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aumentada</a:t>
            </a:r>
            <a:r>
              <a:rPr lang="en-GB" b="0" i="0" dirty="0">
                <a:effectLst/>
              </a:rPr>
              <a:t> (AR).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A408A06-45AC-0369-D250-0366B3C8B0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Evolução</a:t>
            </a:r>
            <a:r>
              <a:rPr lang="en-GB" b="1" dirty="0"/>
              <a:t> e </a:t>
            </a:r>
            <a:r>
              <a:rPr lang="en-GB" b="1" dirty="0" err="1"/>
              <a:t>Inovações</a:t>
            </a:r>
            <a:r>
              <a:rPr lang="en-GB" b="1" dirty="0"/>
              <a:t> </a:t>
            </a:r>
            <a:r>
              <a:rPr lang="en-GB" b="1" dirty="0" err="1"/>
              <a:t>em</a:t>
            </a:r>
            <a:r>
              <a:rPr lang="en-GB" b="1" dirty="0"/>
              <a:t> </a:t>
            </a:r>
            <a:r>
              <a:rPr lang="en-GB" b="1" dirty="0" err="1"/>
              <a:t>Dispositivos</a:t>
            </a:r>
            <a:r>
              <a:rPr lang="en-GB" b="1" dirty="0"/>
              <a:t> de Entrada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493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Explorar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saída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desempenham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papel</a:t>
            </a:r>
            <a:r>
              <a:rPr lang="en-GB" b="0" i="0" dirty="0">
                <a:effectLst/>
              </a:rPr>
              <a:t> crucial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apresentação</a:t>
            </a:r>
            <a:r>
              <a:rPr lang="en-GB" b="0" i="0" dirty="0">
                <a:effectLst/>
              </a:rPr>
              <a:t> dos </a:t>
            </a:r>
            <a:r>
              <a:rPr lang="en-GB" b="0" i="0" dirty="0" err="1">
                <a:effectLst/>
              </a:rPr>
              <a:t>resultados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processados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pelos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utilizadores</a:t>
            </a:r>
            <a:r>
              <a:rPr lang="en-GB" b="0" i="0" dirty="0">
                <a:effectLst/>
              </a:rPr>
              <a:t>. Esses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sejam</a:t>
            </a:r>
            <a:r>
              <a:rPr lang="en-GB" b="0" i="0" dirty="0">
                <a:effectLst/>
              </a:rPr>
              <a:t> tornados </a:t>
            </a:r>
            <a:r>
              <a:rPr lang="en-GB" b="0" i="0" dirty="0" err="1">
                <a:effectLst/>
              </a:rPr>
              <a:t>visíveis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ou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audíveis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humanos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0866191-B0A2-66E9-5BAA-AE9DA20142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Dispositivos</a:t>
            </a:r>
            <a:r>
              <a:rPr lang="en-GB" b="1" dirty="0"/>
              <a:t> de </a:t>
            </a:r>
            <a:r>
              <a:rPr lang="en-GB" b="1" dirty="0" err="1"/>
              <a:t>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026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saída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essenciais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recebam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processadas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pelos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. Eles </a:t>
            </a:r>
            <a:r>
              <a:rPr lang="en-GB" b="0" i="0" dirty="0" err="1">
                <a:effectLst/>
              </a:rPr>
              <a:t>abrangem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ampla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gama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funções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desde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exibir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texto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um monitor </a:t>
            </a:r>
            <a:r>
              <a:rPr lang="en-GB" b="0" i="0" dirty="0" err="1">
                <a:effectLst/>
              </a:rPr>
              <a:t>até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imprimir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documentos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reproduzir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áudio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alto-</a:t>
            </a:r>
            <a:r>
              <a:rPr lang="en-GB" b="0" i="0" dirty="0" err="1">
                <a:effectLst/>
              </a:rPr>
              <a:t>falantes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F598621-35C4-0400-DF68-4FAF5420AD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Importância</a:t>
            </a:r>
            <a:r>
              <a:rPr lang="en-GB" b="1" dirty="0"/>
              <a:t> dos </a:t>
            </a:r>
            <a:r>
              <a:rPr lang="en-GB" b="1" dirty="0" err="1"/>
              <a:t>Dispositivos</a:t>
            </a:r>
            <a:r>
              <a:rPr lang="en-GB" b="1" dirty="0"/>
              <a:t> de </a:t>
            </a:r>
            <a:r>
              <a:rPr lang="en-GB" b="1" dirty="0" err="1"/>
              <a:t>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262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</a:rPr>
              <a:t>Assim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entrada,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saída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também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possuem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várias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categorias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incluindo</a:t>
            </a:r>
            <a:r>
              <a:rPr lang="en-GB" b="0" i="0" dirty="0">
                <a:effectLst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Monitor: </a:t>
            </a:r>
            <a:r>
              <a:rPr lang="en-GB" b="0" i="0" dirty="0" err="1">
                <a:effectLst/>
              </a:rPr>
              <a:t>Exibe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visuais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tela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Impressora</a:t>
            </a:r>
            <a:r>
              <a:rPr lang="en-GB" b="0" i="0" dirty="0">
                <a:effectLst/>
              </a:rPr>
              <a:t>: Gera </a:t>
            </a:r>
            <a:r>
              <a:rPr lang="en-GB" b="0" i="0" dirty="0" err="1">
                <a:effectLst/>
              </a:rPr>
              <a:t>cópias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impressas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documentos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i="0" dirty="0">
                <a:effectLst/>
              </a:rPr>
              <a:t>Alto-</a:t>
            </a:r>
            <a:r>
              <a:rPr lang="en-GB" i="0" dirty="0" err="1">
                <a:effectLst/>
              </a:rPr>
              <a:t>falantes</a:t>
            </a:r>
            <a:r>
              <a:rPr lang="en-GB" i="0" dirty="0">
                <a:effectLst/>
              </a:rPr>
              <a:t> e Fones de Ouvido: </a:t>
            </a:r>
            <a:r>
              <a:rPr lang="en-GB" b="0" i="0" dirty="0" err="1">
                <a:effectLst/>
              </a:rPr>
              <a:t>Produzem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áudio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audível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Projetor</a:t>
            </a:r>
            <a:r>
              <a:rPr lang="en-GB" b="0" i="0" dirty="0">
                <a:effectLst/>
              </a:rPr>
              <a:t>: </a:t>
            </a:r>
            <a:r>
              <a:rPr lang="en-GB" b="0" i="0" dirty="0" err="1">
                <a:effectLst/>
              </a:rPr>
              <a:t>Exibe</a:t>
            </a:r>
            <a:r>
              <a:rPr lang="en-GB" b="0" i="0" dirty="0">
                <a:effectLst/>
              </a:rPr>
              <a:t> imagens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tela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maior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Plotters: </a:t>
            </a:r>
            <a:r>
              <a:rPr lang="en-GB" b="0" i="0" dirty="0" err="1">
                <a:effectLst/>
              </a:rPr>
              <a:t>Usados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desenhar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gráficos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alta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qualidade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BF3462C-F3E8-4A5C-8F2E-B04B2F0BE8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Tipos</a:t>
            </a:r>
            <a:r>
              <a:rPr lang="en-GB" b="1" dirty="0"/>
              <a:t> de </a:t>
            </a:r>
            <a:r>
              <a:rPr lang="en-GB" b="1" dirty="0" err="1"/>
              <a:t>Dispositivos</a:t>
            </a:r>
            <a:r>
              <a:rPr lang="en-GB" b="1" dirty="0"/>
              <a:t> de </a:t>
            </a:r>
            <a:r>
              <a:rPr lang="en-GB" b="1" dirty="0" err="1"/>
              <a:t>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30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Da </a:t>
            </a:r>
            <a:r>
              <a:rPr lang="en-GB" b="0" i="0" dirty="0" err="1">
                <a:effectLst/>
              </a:rPr>
              <a:t>mesma</a:t>
            </a:r>
            <a:r>
              <a:rPr lang="en-GB" b="0" i="0" dirty="0">
                <a:effectLst/>
              </a:rPr>
              <a:t> forma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entrada,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saída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precisam</a:t>
            </a:r>
            <a:r>
              <a:rPr lang="en-GB" b="0" i="0" dirty="0">
                <a:effectLst/>
              </a:rPr>
              <a:t> de interfaces </a:t>
            </a:r>
            <a:r>
              <a:rPr lang="en-GB" b="0" i="0" dirty="0" err="1">
                <a:effectLst/>
              </a:rPr>
              <a:t>apropriadas</a:t>
            </a:r>
            <a:r>
              <a:rPr lang="en-GB" b="0" i="0" dirty="0">
                <a:effectLst/>
              </a:rPr>
              <a:t> para se </a:t>
            </a:r>
            <a:r>
              <a:rPr lang="en-GB" b="0" i="0" dirty="0" err="1">
                <a:effectLst/>
              </a:rPr>
              <a:t>comunicar</a:t>
            </a:r>
            <a:r>
              <a:rPr lang="en-GB" b="0" i="0" dirty="0">
                <a:effectLst/>
              </a:rPr>
              <a:t> com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computadores</a:t>
            </a:r>
            <a:r>
              <a:rPr lang="en-GB" b="0" i="0" dirty="0">
                <a:effectLst/>
              </a:rPr>
              <a:t>. Portas USB, HDMI, </a:t>
            </a:r>
            <a:r>
              <a:rPr lang="en-GB" b="0" i="0" dirty="0" err="1">
                <a:effectLst/>
              </a:rPr>
              <a:t>áudio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outras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usadas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conectar</a:t>
            </a:r>
            <a:r>
              <a:rPr lang="en-GB" b="0" i="0" dirty="0">
                <a:effectLst/>
              </a:rPr>
              <a:t> esses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4DBFD75-1BD4-ED25-7EA0-4196E4C51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/>
              <a:t>Interface entre </a:t>
            </a:r>
            <a:r>
              <a:rPr lang="en-GB" b="1" dirty="0" err="1"/>
              <a:t>Dispositivos</a:t>
            </a:r>
            <a:r>
              <a:rPr lang="en-GB" b="1" dirty="0"/>
              <a:t> e </a:t>
            </a:r>
            <a:r>
              <a:rPr lang="en-GB" b="1" dirty="0" err="1"/>
              <a:t>Computadores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793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operacionais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usam</a:t>
            </a:r>
            <a:r>
              <a:rPr lang="en-GB" b="0" i="0" dirty="0">
                <a:effectLst/>
              </a:rPr>
              <a:t> drivers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reconhecer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controlar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saída</a:t>
            </a:r>
            <a:r>
              <a:rPr lang="en-GB" b="0" i="0" dirty="0">
                <a:effectLst/>
              </a:rPr>
              <a:t>. Esses drivers </a:t>
            </a:r>
            <a:r>
              <a:rPr lang="en-GB" b="0" i="0" dirty="0" err="1">
                <a:effectLst/>
              </a:rPr>
              <a:t>garantem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resultados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sejam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exibidos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ou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reproduzidos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corretamente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9CD6D31-5E55-118F-9300-144675A2C7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/>
              <a:t>Drivers de </a:t>
            </a:r>
            <a:r>
              <a:rPr lang="en-GB" b="1" dirty="0" err="1"/>
              <a:t>Dispositivos</a:t>
            </a:r>
            <a:r>
              <a:rPr lang="en-GB" b="1" dirty="0"/>
              <a:t> de </a:t>
            </a:r>
            <a:r>
              <a:rPr lang="en-GB" b="1" dirty="0" err="1"/>
              <a:t>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89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utilizadores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podem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configurar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personalizar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seus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saída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configurações</a:t>
            </a:r>
            <a:r>
              <a:rPr lang="en-GB" b="0" i="0">
                <a:effectLst/>
              </a:rPr>
              <a:t> do </a:t>
            </a:r>
            <a:r>
              <a:rPr lang="en-GB" b="0" i="0" err="1">
                <a:effectLst/>
              </a:rPr>
              <a:t>sistema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operacional</a:t>
            </a:r>
            <a:r>
              <a:rPr lang="en-GB" b="0" i="0">
                <a:effectLst/>
              </a:rPr>
              <a:t>. </a:t>
            </a:r>
            <a:r>
              <a:rPr lang="en-GB" b="0" i="0" err="1">
                <a:effectLst/>
              </a:rPr>
              <a:t>Isso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inclui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ajustar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resolução</a:t>
            </a:r>
            <a:r>
              <a:rPr lang="en-GB" b="0" i="0">
                <a:effectLst/>
              </a:rPr>
              <a:t> do monitor, </a:t>
            </a:r>
            <a:r>
              <a:rPr lang="en-GB" b="0" i="0" err="1">
                <a:effectLst/>
              </a:rPr>
              <a:t>escolher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impressora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padrão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configurar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saída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áudio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58C47C3-3D65-4CC5-39ED-DA5E532302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Configuração</a:t>
            </a:r>
            <a:r>
              <a:rPr lang="en-GB" b="1" dirty="0"/>
              <a:t> de </a:t>
            </a:r>
            <a:r>
              <a:rPr lang="en-GB" b="1" dirty="0" err="1"/>
              <a:t>Dispositivos</a:t>
            </a:r>
            <a:r>
              <a:rPr lang="en-GB" b="1" dirty="0"/>
              <a:t> de </a:t>
            </a:r>
            <a:r>
              <a:rPr lang="en-GB" b="1" dirty="0" err="1"/>
              <a:t>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42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err="1">
                <a:effectLst/>
              </a:rPr>
              <a:t>Destaque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evolução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contínua</a:t>
            </a:r>
            <a:r>
              <a:rPr lang="en-GB" b="0" i="0">
                <a:effectLst/>
              </a:rPr>
              <a:t> dos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saída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incluindo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avanços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qualidade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imagem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resolução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áudio</a:t>
            </a:r>
            <a:r>
              <a:rPr lang="en-GB" b="0" i="0">
                <a:effectLst/>
              </a:rPr>
              <a:t> 3D e </a:t>
            </a:r>
            <a:r>
              <a:rPr lang="en-GB" b="0" i="0" err="1">
                <a:effectLst/>
              </a:rPr>
              <a:t>tecnologias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projeção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3EBBA2D-74DE-0AB8-FB4F-763220F0CA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Evolução</a:t>
            </a:r>
            <a:r>
              <a:rPr lang="en-GB" b="1" dirty="0"/>
              <a:t> e </a:t>
            </a:r>
            <a:r>
              <a:rPr lang="en-GB" b="1" dirty="0" err="1"/>
              <a:t>Inovações</a:t>
            </a:r>
            <a:r>
              <a:rPr lang="en-GB" b="1" dirty="0"/>
              <a:t> </a:t>
            </a:r>
            <a:r>
              <a:rPr lang="en-GB" b="1" dirty="0" err="1"/>
              <a:t>em</a:t>
            </a:r>
            <a:r>
              <a:rPr lang="en-GB" b="1" dirty="0"/>
              <a:t> </a:t>
            </a:r>
            <a:r>
              <a:rPr lang="en-GB" b="1" dirty="0" err="1"/>
              <a:t>Dispositivos</a:t>
            </a:r>
            <a:r>
              <a:rPr lang="en-GB" b="1" dirty="0"/>
              <a:t> de </a:t>
            </a:r>
            <a:r>
              <a:rPr lang="en-GB" b="1" dirty="0" err="1"/>
              <a:t>Saída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305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Internet das </a:t>
            </a:r>
            <a:r>
              <a:rPr lang="en-GB" b="0" i="0" dirty="0" err="1">
                <a:effectLst/>
              </a:rPr>
              <a:t>Coisas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ou</a:t>
            </a:r>
            <a:r>
              <a:rPr lang="en-GB" b="0" i="0" dirty="0">
                <a:effectLst/>
              </a:rPr>
              <a:t> IoT, </a:t>
            </a:r>
            <a:r>
              <a:rPr lang="en-GB" b="0" i="0" dirty="0" err="1">
                <a:effectLst/>
              </a:rPr>
              <a:t>refere</a:t>
            </a:r>
            <a:r>
              <a:rPr lang="en-GB" b="0" i="0" dirty="0">
                <a:effectLst/>
              </a:rPr>
              <a:t>-se a um </a:t>
            </a:r>
            <a:r>
              <a:rPr lang="en-GB" b="0" i="0" dirty="0" err="1">
                <a:effectLst/>
              </a:rPr>
              <a:t>sistema</a:t>
            </a:r>
            <a:r>
              <a:rPr lang="en-GB" b="0" i="0" dirty="0">
                <a:effectLst/>
              </a:rPr>
              <a:t> global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físicos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interconectados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veículos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edifícios</a:t>
            </a:r>
            <a:r>
              <a:rPr lang="en-GB" b="0" i="0" dirty="0">
                <a:effectLst/>
              </a:rPr>
              <a:t> e outros </a:t>
            </a:r>
            <a:r>
              <a:rPr lang="en-GB" b="0" i="0" dirty="0" err="1">
                <a:effectLst/>
              </a:rPr>
              <a:t>objetos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estão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equipados</a:t>
            </a:r>
            <a:r>
              <a:rPr lang="en-GB" b="0" i="0" dirty="0">
                <a:effectLst/>
              </a:rPr>
              <a:t> com </a:t>
            </a: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, software e </a:t>
            </a:r>
            <a:r>
              <a:rPr lang="en-GB" b="0" i="0" dirty="0" err="1">
                <a:effectLst/>
              </a:rPr>
              <a:t>conectividade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recolher</a:t>
            </a:r>
            <a:r>
              <a:rPr lang="en-GB" b="0" i="0" dirty="0">
                <a:effectLst/>
              </a:rPr>
              <a:t> e trocar dados.</a:t>
            </a:r>
          </a:p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Essa </a:t>
            </a:r>
            <a:r>
              <a:rPr lang="en-GB" b="0" i="0" dirty="0" err="1">
                <a:effectLst/>
              </a:rPr>
              <a:t>interconexão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esses </a:t>
            </a:r>
            <a:r>
              <a:rPr lang="en-GB" b="0" i="0" dirty="0" err="1">
                <a:effectLst/>
              </a:rPr>
              <a:t>objetos</a:t>
            </a:r>
            <a:r>
              <a:rPr lang="en-GB" b="0" i="0" dirty="0">
                <a:effectLst/>
              </a:rPr>
              <a:t> '</a:t>
            </a:r>
            <a:r>
              <a:rPr lang="en-GB" b="0" i="0" dirty="0" err="1">
                <a:effectLst/>
              </a:rPr>
              <a:t>inteligentes</a:t>
            </a:r>
            <a:r>
              <a:rPr lang="en-GB" b="0" i="0" dirty="0">
                <a:effectLst/>
              </a:rPr>
              <a:t>’ </a:t>
            </a:r>
            <a:r>
              <a:rPr lang="en-GB" b="0" i="0" dirty="0" err="1">
                <a:effectLst/>
              </a:rPr>
              <a:t>recolham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tomem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decisões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autônomas</a:t>
            </a:r>
            <a:r>
              <a:rPr lang="en-GB" b="0" i="0" dirty="0">
                <a:effectLst/>
              </a:rPr>
              <a:t> e, </a:t>
            </a:r>
            <a:r>
              <a:rPr lang="en-GB" b="0" i="0" dirty="0" err="1">
                <a:effectLst/>
              </a:rPr>
              <a:t>muitas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vezes</a:t>
            </a:r>
            <a:r>
              <a:rPr lang="en-GB" b="0" i="0" dirty="0">
                <a:effectLst/>
              </a:rPr>
              <a:t>, se </a:t>
            </a:r>
            <a:r>
              <a:rPr lang="en-GB" b="0" i="0" dirty="0" err="1">
                <a:effectLst/>
              </a:rPr>
              <a:t>comuniquem</a:t>
            </a:r>
            <a:r>
              <a:rPr lang="en-GB" b="0" i="0" dirty="0">
                <a:effectLst/>
              </a:rPr>
              <a:t> com outros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</a:pPr>
            <a:endParaRPr lang="en-GB" b="0" i="0" dirty="0">
              <a:effectLst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B8E3A4-7B67-1296-0A9F-2B377855D0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Conceito</a:t>
            </a:r>
            <a:r>
              <a:rPr lang="en-GB" dirty="0"/>
              <a:t> de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721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essência</a:t>
            </a:r>
            <a:r>
              <a:rPr lang="en-GB" b="0" i="0" dirty="0">
                <a:effectLst/>
              </a:rPr>
              <a:t> da IoT reside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interconexão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podem</a:t>
            </a:r>
            <a:r>
              <a:rPr lang="en-GB" b="0" i="0" dirty="0">
                <a:effectLst/>
              </a:rPr>
              <a:t> ser </a:t>
            </a:r>
            <a:r>
              <a:rPr lang="en-GB" b="0" i="0" dirty="0" err="1">
                <a:effectLst/>
              </a:rPr>
              <a:t>tão</a:t>
            </a:r>
            <a:r>
              <a:rPr lang="en-GB" b="0" i="0" dirty="0">
                <a:effectLst/>
              </a:rPr>
              <a:t> simples </a:t>
            </a:r>
            <a:r>
              <a:rPr lang="en-GB" b="0" i="0" dirty="0" err="1">
                <a:effectLst/>
              </a:rPr>
              <a:t>quanto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ou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complexos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quanto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veículos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autônomos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b="0" i="0" dirty="0">
                <a:effectLst/>
              </a:rPr>
              <a:t>Essa </a:t>
            </a:r>
            <a:r>
              <a:rPr lang="en-GB" b="0" i="0" dirty="0" err="1">
                <a:effectLst/>
              </a:rPr>
              <a:t>interconexão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permite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compartilhem</a:t>
            </a:r>
            <a:r>
              <a:rPr lang="en-GB" b="0" i="0" dirty="0">
                <a:effectLst/>
              </a:rPr>
              <a:t> dados e </a:t>
            </a:r>
            <a:r>
              <a:rPr lang="en-GB" b="0" i="0" dirty="0" err="1">
                <a:effectLst/>
              </a:rPr>
              <a:t>informações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maneira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eficiente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criando</a:t>
            </a:r>
            <a:r>
              <a:rPr lang="en-GB" b="0" i="0" dirty="0">
                <a:effectLst/>
              </a:rPr>
              <a:t> um </a:t>
            </a:r>
            <a:r>
              <a:rPr lang="en-GB" b="0" i="0" dirty="0" err="1">
                <a:effectLst/>
              </a:rPr>
              <a:t>ecossistema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conectado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15A5D64-40BB-24BF-F953-842C3AD8D9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Interconexão</a:t>
            </a:r>
            <a:r>
              <a:rPr lang="en-GB" dirty="0"/>
              <a:t> de </a:t>
            </a:r>
            <a:r>
              <a:rPr lang="en-GB" dirty="0" err="1"/>
              <a:t>Dispositivos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85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0" i="0">
                <a:effectLst/>
              </a:rPr>
              <a:t>A principal </a:t>
            </a:r>
            <a:r>
              <a:rPr lang="en-GB" b="0" i="0" err="1">
                <a:effectLst/>
              </a:rPr>
              <a:t>função</a:t>
            </a:r>
            <a:r>
              <a:rPr lang="en-GB" b="0" i="0">
                <a:effectLst/>
              </a:rPr>
              <a:t> dos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IoT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recolher</a:t>
            </a:r>
            <a:r>
              <a:rPr lang="en-GB" b="0" i="0">
                <a:effectLst/>
              </a:rPr>
              <a:t> dados de </a:t>
            </a:r>
            <a:r>
              <a:rPr lang="en-GB" b="0" i="0" err="1">
                <a:effectLst/>
              </a:rPr>
              <a:t>seu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ambiente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b="0" i="0" err="1">
                <a:effectLst/>
              </a:rPr>
              <a:t>Esses</a:t>
            </a:r>
            <a:r>
              <a:rPr lang="en-GB" b="0" i="0">
                <a:effectLst/>
              </a:rPr>
              <a:t> dados </a:t>
            </a:r>
            <a:r>
              <a:rPr lang="en-GB" b="0" i="0" err="1">
                <a:effectLst/>
              </a:rPr>
              <a:t>podem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incluir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informações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sobre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temperatura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humidade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localização</a:t>
            </a:r>
            <a:r>
              <a:rPr lang="en-GB" b="0" i="0">
                <a:effectLst/>
              </a:rPr>
              <a:t>, etc.</a:t>
            </a:r>
          </a:p>
          <a:p>
            <a:pPr>
              <a:spcAft>
                <a:spcPts val="600"/>
              </a:spcAft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recolha</a:t>
            </a:r>
            <a:r>
              <a:rPr lang="en-GB" b="0" i="0">
                <a:effectLst/>
              </a:rPr>
              <a:t> de dados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essencial</a:t>
            </a:r>
            <a:r>
              <a:rPr lang="en-GB" b="0" i="0">
                <a:effectLst/>
              </a:rPr>
              <a:t> para a </a:t>
            </a:r>
            <a:r>
              <a:rPr lang="en-GB" b="0" i="0" err="1">
                <a:effectLst/>
              </a:rPr>
              <a:t>tomada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decisões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inteligentes</a:t>
            </a:r>
            <a:r>
              <a:rPr lang="en-GB" b="0" i="0">
                <a:effectLst/>
              </a:rPr>
              <a:t> e a </a:t>
            </a:r>
            <a:r>
              <a:rPr lang="en-GB" b="0" i="0" err="1">
                <a:effectLst/>
              </a:rPr>
              <a:t>automação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processos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320FEDC-86C3-3484-4C53-1939AEB298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/>
              <a:t>Coleta de Dados no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19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0" i="0" err="1">
                <a:effectLst/>
              </a:rPr>
              <a:t>Vamos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ver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alguns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exemplos</a:t>
            </a:r>
            <a:r>
              <a:rPr lang="en-GB" b="0" i="0">
                <a:effectLst/>
              </a:rPr>
              <a:t> simples de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IoT que </a:t>
            </a:r>
            <a:r>
              <a:rPr lang="en-GB" b="0" i="0" err="1">
                <a:effectLst/>
              </a:rPr>
              <a:t>encontramos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nosso</a:t>
            </a:r>
            <a:r>
              <a:rPr lang="en-GB" b="0" i="0">
                <a:effectLst/>
              </a:rPr>
              <a:t> </a:t>
            </a:r>
            <a:r>
              <a:rPr lang="en-GB" err="1"/>
              <a:t>quotidiano</a:t>
            </a:r>
            <a:endParaRPr lang="en-GB"/>
          </a:p>
          <a:p>
            <a:pPr lvl="1"/>
            <a:r>
              <a:rPr lang="en-GB" b="0" i="0" err="1">
                <a:effectLst/>
              </a:rPr>
              <a:t>Termostato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inteligente</a:t>
            </a:r>
            <a:r>
              <a:rPr lang="en-GB" b="0" i="0">
                <a:effectLst/>
              </a:rPr>
              <a:t> que </a:t>
            </a:r>
            <a:r>
              <a:rPr lang="en-GB" b="0" i="0" err="1">
                <a:effectLst/>
              </a:rPr>
              <a:t>ajusta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automaticamente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temperatura</a:t>
            </a:r>
            <a:r>
              <a:rPr lang="en-GB" b="0" i="0">
                <a:effectLst/>
              </a:rPr>
              <a:t> com base </a:t>
            </a:r>
            <a:r>
              <a:rPr lang="en-GB" b="0" i="0" err="1">
                <a:effectLst/>
              </a:rPr>
              <a:t>nas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condições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internas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externas</a:t>
            </a:r>
            <a:r>
              <a:rPr lang="en-GB" b="0" i="0">
                <a:effectLst/>
              </a:rPr>
              <a:t>.</a:t>
            </a:r>
          </a:p>
          <a:p>
            <a:pPr lvl="1"/>
            <a:r>
              <a:rPr lang="en-GB" b="0" i="0">
                <a:effectLst/>
              </a:rPr>
              <a:t>Sensor de </a:t>
            </a:r>
            <a:r>
              <a:rPr lang="en-GB" b="0" i="0" err="1">
                <a:effectLst/>
              </a:rPr>
              <a:t>humidade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uma</a:t>
            </a:r>
            <a:r>
              <a:rPr lang="en-GB" b="0" i="0">
                <a:effectLst/>
              </a:rPr>
              <a:t> planta que </a:t>
            </a:r>
            <a:r>
              <a:rPr lang="en-GB" b="0" i="0" err="1">
                <a:effectLst/>
              </a:rPr>
              <a:t>envia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alertas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quando</a:t>
            </a:r>
            <a:r>
              <a:rPr lang="en-GB" b="0" i="0">
                <a:effectLst/>
              </a:rPr>
              <a:t> a planta </a:t>
            </a:r>
            <a:r>
              <a:rPr lang="en-GB" b="0" i="0" err="1">
                <a:effectLst/>
              </a:rPr>
              <a:t>precisa</a:t>
            </a:r>
            <a:r>
              <a:rPr lang="en-GB" b="0" i="0">
                <a:effectLst/>
              </a:rPr>
              <a:t> ser </a:t>
            </a:r>
            <a:r>
              <a:rPr lang="en-GB" b="0" i="0" err="1">
                <a:effectLst/>
              </a:rPr>
              <a:t>regada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ou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até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liga</a:t>
            </a:r>
            <a:r>
              <a:rPr lang="en-GB"/>
              <a:t> </a:t>
            </a:r>
            <a:r>
              <a:rPr lang="en-GB" err="1"/>
              <a:t>automaticamente</a:t>
            </a:r>
            <a:r>
              <a:rPr lang="en-GB"/>
              <a:t> um </a:t>
            </a:r>
            <a:r>
              <a:rPr lang="en-GB" err="1"/>
              <a:t>sistema</a:t>
            </a:r>
            <a:r>
              <a:rPr lang="en-GB"/>
              <a:t> </a:t>
            </a:r>
            <a:r>
              <a:rPr lang="en-GB" err="1"/>
              <a:t>rega</a:t>
            </a:r>
            <a:endParaRPr lang="en-GB" b="0" i="0">
              <a:effectLst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3B19626-F01C-FB8A-05FE-362C419CF9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Exemplos</a:t>
            </a:r>
            <a:r>
              <a:rPr lang="en-GB" dirty="0"/>
              <a:t> de </a:t>
            </a:r>
            <a:r>
              <a:rPr lang="en-GB" dirty="0" err="1"/>
              <a:t>dispositivos</a:t>
            </a:r>
            <a:r>
              <a:rPr lang="en-GB" dirty="0"/>
              <a:t> </a:t>
            </a:r>
            <a:r>
              <a:rPr lang="en-GB" dirty="0" err="1"/>
              <a:t>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802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75B9-04A0-18F3-4238-734E4793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pt-P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BC3F-F165-C0D3-406E-86AF337D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Rastreadores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condicionamento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físico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Fitbits,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monitorizam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atividade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frequência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cardíaca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sono</a:t>
            </a:r>
            <a:r>
              <a:rPr lang="en-GB" b="0" i="0" dirty="0"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Lâmpadas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inteligentes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podem</a:t>
            </a:r>
            <a:r>
              <a:rPr lang="en-GB" b="0" i="0" dirty="0">
                <a:effectLst/>
              </a:rPr>
              <a:t> ser </a:t>
            </a:r>
            <a:r>
              <a:rPr lang="en-GB" b="0" i="0" dirty="0" err="1">
                <a:effectLst/>
              </a:rPr>
              <a:t>controladas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remotamente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meio</a:t>
            </a:r>
            <a:r>
              <a:rPr lang="en-GB" b="0" i="0" dirty="0">
                <a:effectLst/>
              </a:rPr>
              <a:t> de um </a:t>
            </a:r>
            <a:r>
              <a:rPr lang="en-GB" b="0" i="0" dirty="0" err="1">
                <a:effectLst/>
              </a:rPr>
              <a:t>aplicativo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móvel</a:t>
            </a:r>
            <a:r>
              <a:rPr lang="en-GB" b="0" i="0" dirty="0">
                <a:effectLst/>
              </a:rPr>
              <a:t>.</a:t>
            </a:r>
            <a:endParaRPr lang="en-GB" dirty="0"/>
          </a:p>
          <a:p>
            <a:r>
              <a:rPr lang="en-GB" b="1" i="0" dirty="0">
                <a:effectLst/>
              </a:rPr>
              <a:t>Esses </a:t>
            </a:r>
            <a:r>
              <a:rPr lang="en-GB" b="1" i="0" dirty="0" err="1">
                <a:effectLst/>
              </a:rPr>
              <a:t>exemplos</a:t>
            </a:r>
            <a:r>
              <a:rPr lang="en-GB" b="1" i="0" dirty="0">
                <a:effectLst/>
              </a:rPr>
              <a:t> simples </a:t>
            </a:r>
            <a:r>
              <a:rPr lang="en-GB" b="1" i="0" dirty="0" err="1">
                <a:effectLst/>
              </a:rPr>
              <a:t>ilustram</a:t>
            </a:r>
            <a:r>
              <a:rPr lang="en-GB" b="1" i="0" dirty="0">
                <a:effectLst/>
              </a:rPr>
              <a:t> </a:t>
            </a:r>
            <a:r>
              <a:rPr lang="en-GB" b="1" i="0" dirty="0" err="1">
                <a:effectLst/>
              </a:rPr>
              <a:t>como</a:t>
            </a:r>
            <a:r>
              <a:rPr lang="en-GB" b="1" i="0" dirty="0">
                <a:effectLst/>
              </a:rPr>
              <a:t> a IoT </a:t>
            </a:r>
            <a:r>
              <a:rPr lang="en-GB" b="1" i="0" dirty="0" err="1">
                <a:effectLst/>
              </a:rPr>
              <a:t>está</a:t>
            </a:r>
            <a:r>
              <a:rPr lang="en-GB" b="1" i="0" dirty="0">
                <a:effectLst/>
              </a:rPr>
              <a:t> </a:t>
            </a:r>
            <a:r>
              <a:rPr lang="en-GB" b="1" i="0" dirty="0" err="1">
                <a:effectLst/>
              </a:rPr>
              <a:t>presente</a:t>
            </a:r>
            <a:r>
              <a:rPr lang="en-GB" b="1" i="0" dirty="0">
                <a:effectLst/>
              </a:rPr>
              <a:t> </a:t>
            </a:r>
            <a:r>
              <a:rPr lang="en-GB" b="1" i="0" dirty="0" err="1">
                <a:effectLst/>
              </a:rPr>
              <a:t>em</a:t>
            </a:r>
            <a:r>
              <a:rPr lang="en-GB" b="1" i="0" dirty="0">
                <a:effectLst/>
              </a:rPr>
              <a:t> </a:t>
            </a:r>
            <a:r>
              <a:rPr lang="en-GB" b="1" i="0" dirty="0" err="1">
                <a:effectLst/>
              </a:rPr>
              <a:t>nossas</a:t>
            </a:r>
            <a:r>
              <a:rPr lang="en-GB" b="1" i="0" dirty="0">
                <a:effectLst/>
              </a:rPr>
              <a:t> </a:t>
            </a:r>
            <a:r>
              <a:rPr lang="en-GB" b="1" i="0" dirty="0" err="1">
                <a:effectLst/>
              </a:rPr>
              <a:t>vidas</a:t>
            </a:r>
            <a:r>
              <a:rPr lang="en-GB" b="1" i="0" dirty="0">
                <a:effectLst/>
              </a:rPr>
              <a:t> </a:t>
            </a:r>
            <a:r>
              <a:rPr lang="en-GB" b="1" i="0" dirty="0" err="1">
                <a:effectLst/>
              </a:rPr>
              <a:t>diárias</a:t>
            </a:r>
            <a:r>
              <a:rPr lang="en-GB" b="1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8824A9F-30EA-FD8F-988D-F4AB9D3A62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Exemplos</a:t>
            </a:r>
            <a:r>
              <a:rPr lang="en-GB" dirty="0"/>
              <a:t> de </a:t>
            </a:r>
            <a:r>
              <a:rPr lang="en-GB" dirty="0" err="1"/>
              <a:t>dispositivos</a:t>
            </a:r>
            <a:r>
              <a:rPr lang="en-GB" dirty="0"/>
              <a:t> </a:t>
            </a:r>
            <a:r>
              <a:rPr lang="en-GB" dirty="0" err="1"/>
              <a:t>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903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BC6F-F0D5-2EBB-474F-1CD04765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7AF77-7C10-3046-B632-961AA5C1F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Internet das </a:t>
            </a:r>
            <a:r>
              <a:rPr lang="en-GB" b="0" i="0" dirty="0" err="1">
                <a:effectLst/>
              </a:rPr>
              <a:t>Coisas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rede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interconectados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coletam</a:t>
            </a:r>
            <a:r>
              <a:rPr lang="en-GB" b="0" i="0" dirty="0">
                <a:effectLst/>
              </a:rPr>
              <a:t> dados e se </a:t>
            </a:r>
            <a:r>
              <a:rPr lang="en-GB" b="0" i="0" dirty="0" err="1">
                <a:effectLst/>
              </a:rPr>
              <a:t>comunicam</a:t>
            </a:r>
            <a:r>
              <a:rPr lang="en-GB" b="0" i="0" dirty="0">
                <a:effectLst/>
              </a:rPr>
              <a:t> entre </a:t>
            </a:r>
            <a:r>
              <a:rPr lang="en-GB" b="0" i="0" dirty="0" err="1">
                <a:effectLst/>
              </a:rPr>
              <a:t>si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Essa </a:t>
            </a:r>
            <a:r>
              <a:rPr lang="en-GB" b="0" i="0" dirty="0" err="1">
                <a:effectLst/>
              </a:rPr>
              <a:t>tecnologia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está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transformando</a:t>
            </a:r>
            <a:r>
              <a:rPr lang="en-GB" b="0" i="0" dirty="0">
                <a:effectLst/>
              </a:rPr>
              <a:t> a forma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vivemos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trabalhamos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proporcionando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automação</a:t>
            </a:r>
            <a:r>
              <a:rPr lang="en-GB" b="0" i="0" dirty="0">
                <a:effectLst/>
              </a:rPr>
              <a:t> e insights </a:t>
            </a:r>
            <a:r>
              <a:rPr lang="en-GB" b="0" i="0" dirty="0" err="1">
                <a:effectLst/>
              </a:rPr>
              <a:t>valiosos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Nos </a:t>
            </a:r>
            <a:r>
              <a:rPr lang="en-GB" b="0" i="0" dirty="0" err="1">
                <a:effectLst/>
              </a:rPr>
              <a:t>próximos</a:t>
            </a:r>
            <a:r>
              <a:rPr lang="en-GB" b="0" i="0" dirty="0">
                <a:effectLst/>
              </a:rPr>
              <a:t> slides, </a:t>
            </a:r>
            <a:r>
              <a:rPr lang="en-GB" b="0" i="0" dirty="0" err="1">
                <a:effectLst/>
              </a:rPr>
              <a:t>exploraremos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fundo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evolução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histórica</a:t>
            </a:r>
            <a:r>
              <a:rPr lang="en-GB" b="0" i="0" dirty="0">
                <a:effectLst/>
              </a:rPr>
              <a:t>, o </a:t>
            </a:r>
            <a:r>
              <a:rPr lang="en-GB" b="0" i="0" dirty="0" err="1">
                <a:effectLst/>
              </a:rPr>
              <a:t>estado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atual</a:t>
            </a:r>
            <a:r>
              <a:rPr lang="en-GB" b="0" i="0" dirty="0">
                <a:effectLst/>
              </a:rPr>
              <a:t> e o </a:t>
            </a:r>
            <a:r>
              <a:rPr lang="en-GB" b="0" i="0" dirty="0" err="1">
                <a:effectLst/>
              </a:rPr>
              <a:t>futuro</a:t>
            </a:r>
            <a:r>
              <a:rPr lang="en-GB" b="0" i="0" dirty="0">
                <a:effectLst/>
              </a:rPr>
              <a:t> da IoT.</a:t>
            </a:r>
          </a:p>
          <a:p>
            <a:pPr>
              <a:spcAft>
                <a:spcPts val="600"/>
              </a:spcAft>
            </a:pPr>
            <a:endParaRPr lang="pt-PT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9FD07E-66E0-BDC5-5CAC-4CDF358506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606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O IoT </a:t>
            </a:r>
            <a:r>
              <a:rPr lang="en-GB" b="0" i="0" err="1">
                <a:effectLst/>
              </a:rPr>
              <a:t>teve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suas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raízes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década</a:t>
            </a:r>
            <a:r>
              <a:rPr lang="en-GB" b="0" i="0">
                <a:effectLst/>
              </a:rPr>
              <a:t> de 1980, </a:t>
            </a:r>
            <a:r>
              <a:rPr lang="en-GB" b="0" i="0" err="1">
                <a:effectLst/>
              </a:rPr>
              <a:t>quando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primeiros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conectados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começaram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surgir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 simples, </a:t>
            </a:r>
            <a:r>
              <a:rPr lang="en-GB" b="0" i="0" err="1">
                <a:effectLst/>
              </a:rPr>
              <a:t>como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termômetros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medidores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pressão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foram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alguns</a:t>
            </a:r>
            <a:r>
              <a:rPr lang="en-GB" b="0" i="0">
                <a:effectLst/>
              </a:rPr>
              <a:t> dos </a:t>
            </a:r>
            <a:r>
              <a:rPr lang="en-GB" b="0" i="0" err="1">
                <a:effectLst/>
              </a:rPr>
              <a:t>primeiros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conectados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principal </a:t>
            </a:r>
            <a:r>
              <a:rPr lang="en-GB" b="0" i="0" err="1">
                <a:effectLst/>
              </a:rPr>
              <a:t>motivação</a:t>
            </a:r>
            <a:r>
              <a:rPr lang="en-GB" b="0" i="0">
                <a:effectLst/>
              </a:rPr>
              <a:t> era a coleta de dados para </a:t>
            </a:r>
            <a:r>
              <a:rPr lang="en-GB" b="0" i="0" err="1">
                <a:effectLst/>
              </a:rPr>
              <a:t>monitorar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controlar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sistemas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físicos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</a:pP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2AE08FA-AC3C-BE59-373A-57CF7BA7B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Origens</a:t>
            </a:r>
            <a:r>
              <a:rPr lang="en-GB" dirty="0"/>
              <a:t> e </a:t>
            </a:r>
            <a:r>
              <a:rPr lang="en-GB" dirty="0" err="1"/>
              <a:t>Evolução</a:t>
            </a:r>
            <a:r>
              <a:rPr lang="en-GB" dirty="0"/>
              <a:t> da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917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E729-E450-C813-0FA4-D75900D3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7EA3-5B11-53D3-DC32-3901356C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en-GB" i="0" dirty="0" err="1">
                <a:effectLst/>
              </a:rPr>
              <a:t>Evolução</a:t>
            </a:r>
            <a:r>
              <a:rPr lang="en-GB" i="0" dirty="0">
                <a:effectLst/>
              </a:rPr>
              <a:t> da </a:t>
            </a:r>
            <a:r>
              <a:rPr lang="en-GB" i="0" dirty="0" err="1">
                <a:effectLst/>
              </a:rPr>
              <a:t>Tecnologia</a:t>
            </a:r>
            <a:r>
              <a:rPr lang="en-GB" i="0" dirty="0">
                <a:effectLst/>
              </a:rPr>
              <a:t> IoT</a:t>
            </a:r>
            <a:endParaRPr lang="pt-PT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799046-9642-C9B5-DBFE-D4982A58FB61}"/>
              </a:ext>
            </a:extLst>
          </p:cNvPr>
          <p:cNvSpPr txBox="1">
            <a:spLocks/>
          </p:cNvSpPr>
          <p:nvPr/>
        </p:nvSpPr>
        <p:spPr>
          <a:xfrm>
            <a:off x="579642" y="1224733"/>
            <a:ext cx="5150535" cy="17924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00B0F0"/>
                </a:solidFill>
                <a:latin typeface="Segoe UI Semibold" panose="020B0702040204020203" pitchFamily="34" charset="0"/>
                <a:ea typeface="Open Sans Semibold" panose="020B0706030804020204" pitchFamily="34" charset="0"/>
                <a:cs typeface="Segoe UI Semibold" panose="020B07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 err="1"/>
              <a:t>Evolução</a:t>
            </a:r>
            <a:r>
              <a:rPr lang="en-GB" sz="2800" dirty="0"/>
              <a:t> da </a:t>
            </a:r>
            <a:r>
              <a:rPr lang="en-GB" sz="2800" dirty="0" err="1"/>
              <a:t>Tecnologia</a:t>
            </a:r>
            <a:r>
              <a:rPr lang="en-GB" sz="2800" dirty="0"/>
              <a:t> IoT</a:t>
            </a:r>
            <a:endParaRPr lang="en-GB" sz="2800" dirty="0">
              <a:solidFill>
                <a:schemeClr val="tx1"/>
              </a:solidFill>
              <a:latin typeface="Söhne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C7CC7EE-3DE9-63DF-7BF5-45DF6B3131E2}"/>
              </a:ext>
            </a:extLst>
          </p:cNvPr>
          <p:cNvSpPr txBox="1">
            <a:spLocks/>
          </p:cNvSpPr>
          <p:nvPr/>
        </p:nvSpPr>
        <p:spPr>
          <a:xfrm>
            <a:off x="1020587" y="5662627"/>
            <a:ext cx="9046957" cy="6801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Esses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projetos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foram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precursoras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do que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viria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a ser a IoT,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demonstrando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a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conectividade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de </a:t>
            </a:r>
            <a:r>
              <a:rPr lang="en-GB" sz="2800" b="0" i="0" dirty="0" err="1">
                <a:solidFill>
                  <a:schemeClr val="tx1"/>
                </a:solidFill>
                <a:effectLst/>
                <a:latin typeface="Söhne"/>
              </a:rPr>
              <a:t>dispositivos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quotidiano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Söhne"/>
              </a:rPr>
              <a:t>.</a:t>
            </a:r>
            <a:endParaRPr lang="pt-PT" sz="2800" dirty="0">
              <a:solidFill>
                <a:schemeClr val="tx1"/>
              </a:solidFill>
              <a:latin typeface="Söhne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9638A96-8537-AF1B-3E2C-4C97F99C6A41}"/>
              </a:ext>
            </a:extLst>
          </p:cNvPr>
          <p:cNvSpPr txBox="1">
            <a:spLocks/>
          </p:cNvSpPr>
          <p:nvPr/>
        </p:nvSpPr>
        <p:spPr>
          <a:xfrm>
            <a:off x="5871426" y="1224733"/>
            <a:ext cx="5635083" cy="1750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Söhne"/>
              </a:rPr>
              <a:t>'Connected Coke Machine', que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permitia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saber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se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maquina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precisava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de ser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reabastecida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e se as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bebidas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Söhne"/>
              </a:rPr>
              <a:t>estavam</a:t>
            </a:r>
            <a:r>
              <a:rPr lang="en-GB" sz="2800" dirty="0">
                <a:solidFill>
                  <a:schemeClr val="tx1"/>
                </a:solidFill>
                <a:latin typeface="Söhne"/>
              </a:rPr>
              <a:t> frescas</a:t>
            </a:r>
            <a:endParaRPr lang="pt-PT" sz="2800" dirty="0">
              <a:solidFill>
                <a:schemeClr val="tx1"/>
              </a:solidFill>
              <a:latin typeface="Söhne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5895B04-F0D1-94A5-BDCF-9374DA567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706" y="315615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nternet Toaster, Simon Hackett, Internet History">
            <a:extLst>
              <a:ext uri="{FF2B5EF4-FFF2-40B4-BE49-F238E27FC236}">
                <a16:creationId xmlns:a16="http://schemas.microsoft.com/office/drawing/2014/main" id="{DF8593C9-DEBE-412E-A586-80F93F08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720" y="2958029"/>
            <a:ext cx="1871016" cy="24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192DEFC-AA72-E9F3-3F73-E18BB8839686}"/>
              </a:ext>
            </a:extLst>
          </p:cNvPr>
          <p:cNvSpPr txBox="1">
            <a:spLocks/>
          </p:cNvSpPr>
          <p:nvPr/>
        </p:nvSpPr>
        <p:spPr>
          <a:xfrm>
            <a:off x="579642" y="1826205"/>
            <a:ext cx="5150535" cy="17924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00B0F0"/>
                </a:solidFill>
                <a:latin typeface="Segoe UI Semibold" panose="020B0702040204020203" pitchFamily="34" charset="0"/>
                <a:ea typeface="Open Sans Semibold" panose="020B0706030804020204" pitchFamily="34" charset="0"/>
                <a:cs typeface="Segoe UI Semibold" panose="020B07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>
                <a:solidFill>
                  <a:schemeClr val="tx1"/>
                </a:solidFill>
                <a:latin typeface="Söhne"/>
              </a:rPr>
              <a:t>'Internet Toaster' em 1989, que era capaz de ser controlado pela Internet.”</a:t>
            </a:r>
            <a:endParaRPr lang="en-GB" sz="2800" dirty="0">
              <a:solidFill>
                <a:schemeClr val="tx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9847171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tecnologia</a:t>
            </a:r>
            <a:r>
              <a:rPr lang="en-GB" b="0" i="0" dirty="0">
                <a:effectLst/>
              </a:rPr>
              <a:t> IoT </a:t>
            </a:r>
            <a:r>
              <a:rPr lang="en-GB" b="0" i="0" dirty="0" err="1">
                <a:effectLst/>
              </a:rPr>
              <a:t>evoluiu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significativamente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desde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seus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primeiros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dias</a:t>
            </a:r>
            <a:r>
              <a:rPr lang="en-GB" b="0" i="0" dirty="0">
                <a:effectLst/>
              </a:rPr>
              <a:t>.</a:t>
            </a:r>
            <a:endParaRPr lang="pt-PT" b="0" i="0" dirty="0">
              <a:effectLst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década</a:t>
            </a:r>
            <a:r>
              <a:rPr lang="en-GB" b="0" i="0" dirty="0">
                <a:effectLst/>
              </a:rPr>
              <a:t> de 1990 </a:t>
            </a:r>
            <a:r>
              <a:rPr lang="en-GB" b="0" i="0" dirty="0" err="1">
                <a:effectLst/>
              </a:rPr>
              <a:t>viu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uso</a:t>
            </a:r>
            <a:r>
              <a:rPr lang="en-GB" b="0" i="0" dirty="0">
                <a:effectLst/>
              </a:rPr>
              <a:t> de RFID (</a:t>
            </a:r>
            <a:r>
              <a:rPr lang="en-GB" b="0" i="0" dirty="0" err="1">
                <a:effectLst/>
              </a:rPr>
              <a:t>Identificação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Radiofrequência</a:t>
            </a:r>
            <a:r>
              <a:rPr lang="en-GB" b="0" i="0" dirty="0">
                <a:effectLst/>
              </a:rPr>
              <a:t>) para </a:t>
            </a:r>
            <a:r>
              <a:rPr lang="en-GB" b="0" i="0" dirty="0" err="1">
                <a:effectLst/>
              </a:rPr>
              <a:t>rastreamento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produtos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logística</a:t>
            </a:r>
            <a:r>
              <a:rPr lang="en-GB" b="0" i="0" dirty="0">
                <a:effectLst/>
              </a:rPr>
              <a:t>.</a:t>
            </a:r>
            <a:endParaRPr lang="pt-PT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O </a:t>
            </a:r>
            <a:r>
              <a:rPr lang="en-GB" b="0" i="0" dirty="0" err="1">
                <a:effectLst/>
              </a:rPr>
              <a:t>surgimento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protocolos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comunicação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o MQTT,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década</a:t>
            </a:r>
            <a:r>
              <a:rPr lang="en-GB" b="0" i="0" dirty="0">
                <a:effectLst/>
              </a:rPr>
              <a:t> de 2000, </a:t>
            </a:r>
            <a:r>
              <a:rPr lang="en-GB" b="0" i="0" dirty="0" err="1">
                <a:effectLst/>
              </a:rPr>
              <a:t>tornou</a:t>
            </a:r>
            <a:r>
              <a:rPr lang="en-GB" b="0" i="0" dirty="0">
                <a:effectLst/>
              </a:rPr>
              <a:t> a IoT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eficiente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escalável</a:t>
            </a:r>
            <a:r>
              <a:rPr lang="en-GB" b="0" i="0" dirty="0">
                <a:effectLst/>
              </a:rPr>
              <a:t>.</a:t>
            </a:r>
            <a:endParaRPr lang="pt-PT" b="0" i="0" dirty="0">
              <a:effectLst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Nos </a:t>
            </a:r>
            <a:r>
              <a:rPr lang="en-GB" b="0" i="0" dirty="0" err="1">
                <a:effectLst/>
              </a:rPr>
              <a:t>últimos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anos</a:t>
            </a:r>
            <a:r>
              <a:rPr lang="en-GB" b="0" i="0" dirty="0">
                <a:effectLst/>
              </a:rPr>
              <a:t>, a </a:t>
            </a:r>
            <a:r>
              <a:rPr lang="en-GB" b="0" i="0" dirty="0" err="1">
                <a:effectLst/>
              </a:rPr>
              <a:t>disseminação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baixo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custo</a:t>
            </a:r>
            <a:r>
              <a:rPr lang="en-GB" b="0" i="0" dirty="0">
                <a:effectLst/>
              </a:rPr>
              <a:t>, o </a:t>
            </a:r>
            <a:r>
              <a:rPr lang="en-GB" b="0" i="0" dirty="0" err="1">
                <a:effectLst/>
              </a:rPr>
              <a:t>avanço</a:t>
            </a:r>
            <a:r>
              <a:rPr lang="en-GB" b="0" i="0" dirty="0">
                <a:effectLst/>
              </a:rPr>
              <a:t> da </a:t>
            </a:r>
            <a:r>
              <a:rPr lang="en-GB" b="0" i="0" dirty="0" err="1">
                <a:effectLst/>
              </a:rPr>
              <a:t>conectividade</a:t>
            </a:r>
            <a:r>
              <a:rPr lang="en-GB" b="0" i="0" dirty="0">
                <a:effectLst/>
              </a:rPr>
              <a:t> 5G e a </a:t>
            </a:r>
            <a:r>
              <a:rPr lang="en-GB" b="0" i="0" dirty="0" err="1">
                <a:effectLst/>
              </a:rPr>
              <a:t>integração</a:t>
            </a:r>
            <a:r>
              <a:rPr lang="en-GB" b="0" i="0" dirty="0">
                <a:effectLst/>
              </a:rPr>
              <a:t> de IA </a:t>
            </a:r>
            <a:r>
              <a:rPr lang="en-GB" b="0" i="0" dirty="0" err="1">
                <a:effectLst/>
              </a:rPr>
              <a:t>impulsionaram</a:t>
            </a:r>
            <a:r>
              <a:rPr lang="en-GB" b="0" i="0" dirty="0">
                <a:effectLst/>
              </a:rPr>
              <a:t> a IoT para </a:t>
            </a:r>
            <a:r>
              <a:rPr lang="en-GB" b="0" i="0" dirty="0" err="1">
                <a:effectLst/>
              </a:rPr>
              <a:t>novos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horizontes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39F135C-6AA7-4396-785E-D06CF4CBBC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Evolução</a:t>
            </a:r>
            <a:r>
              <a:rPr lang="en-GB" dirty="0"/>
              <a:t> da </a:t>
            </a:r>
            <a:r>
              <a:rPr lang="en-GB" dirty="0" err="1"/>
              <a:t>Tecnologia</a:t>
            </a:r>
            <a:r>
              <a:rPr lang="en-GB" dirty="0"/>
              <a:t>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41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IoT </a:t>
            </a:r>
            <a:r>
              <a:rPr lang="en-GB" b="0" i="0" err="1">
                <a:effectLst/>
              </a:rPr>
              <a:t>teve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início</a:t>
            </a:r>
            <a:r>
              <a:rPr lang="en-GB" b="0" i="0">
                <a:effectLst/>
              </a:rPr>
              <a:t> com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 simples 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conectados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décadas</a:t>
            </a:r>
            <a:r>
              <a:rPr lang="en-GB" b="0" i="0">
                <a:effectLst/>
              </a:rPr>
              <a:t> de 1980 e 1990.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Exemplos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pioneiros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como</a:t>
            </a:r>
            <a:r>
              <a:rPr lang="en-GB" b="0" i="0">
                <a:effectLst/>
              </a:rPr>
              <a:t> o Internet Toaster e o Connected Coke Machine, </a:t>
            </a:r>
            <a:r>
              <a:rPr lang="en-GB" b="0" i="0" err="1">
                <a:effectLst/>
              </a:rPr>
              <a:t>demonstraram</a:t>
            </a:r>
            <a:r>
              <a:rPr lang="en-GB" b="0" i="0">
                <a:effectLst/>
              </a:rPr>
              <a:t> o </a:t>
            </a:r>
            <a:r>
              <a:rPr lang="en-GB" b="0" i="0" err="1">
                <a:effectLst/>
              </a:rPr>
              <a:t>potencial</a:t>
            </a:r>
            <a:r>
              <a:rPr lang="en-GB" b="0" i="0">
                <a:effectLst/>
              </a:rPr>
              <a:t> da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tecnologia</a:t>
            </a:r>
            <a:r>
              <a:rPr lang="en-GB" b="0" i="0">
                <a:effectLst/>
              </a:rPr>
              <a:t> IoT </a:t>
            </a:r>
            <a:r>
              <a:rPr lang="en-GB" b="0" i="0" err="1">
                <a:effectLst/>
              </a:rPr>
              <a:t>continuou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evoluir</a:t>
            </a:r>
            <a:r>
              <a:rPr lang="en-GB" b="0" i="0">
                <a:effectLst/>
              </a:rPr>
              <a:t> com </a:t>
            </a:r>
            <a:r>
              <a:rPr lang="en-GB" b="0" i="0" err="1">
                <a:effectLst/>
              </a:rPr>
              <a:t>protocolos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comunicação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avançados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acessíveis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O </a:t>
            </a:r>
            <a:r>
              <a:rPr lang="en-GB" b="0" i="0" err="1">
                <a:effectLst/>
              </a:rPr>
              <a:t>próximo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passo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o </a:t>
            </a:r>
            <a:r>
              <a:rPr lang="en-GB" b="0" i="0" err="1">
                <a:effectLst/>
              </a:rPr>
              <a:t>aproveitamento</a:t>
            </a:r>
            <a:r>
              <a:rPr lang="en-GB" b="0" i="0">
                <a:effectLst/>
              </a:rPr>
              <a:t> das </a:t>
            </a:r>
            <a:r>
              <a:rPr lang="en-GB" b="0" i="0" err="1">
                <a:effectLst/>
              </a:rPr>
              <a:t>capacidades</a:t>
            </a:r>
            <a:r>
              <a:rPr lang="en-GB" b="0" i="0">
                <a:effectLst/>
              </a:rPr>
              <a:t> da IoT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setores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como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saúde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cidades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inteligentes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indústria</a:t>
            </a:r>
            <a:r>
              <a:rPr lang="en-GB" b="0" i="0">
                <a:effectLst/>
              </a:rPr>
              <a:t> 4.0.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6F67184-4568-DA98-9618-9B78D9DF72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330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IoT está crescendo em ritmo acelerado em todo o mundo."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Até o final de 2026, estima-se que cerca de 8,8 mil milhões de dispositivos IoT estejam ativos globalmente.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O investimento em IoT atingiu em 2022 o valor de 201 mil milhões e continua a aumentar.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Essas estatísticas refletem a crescente importância da IoT na nossa sociedade moderna.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5FCA545-D073-98EB-50FE-787C224DFD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Expansão</a:t>
            </a:r>
            <a:r>
              <a:rPr lang="en-GB" dirty="0"/>
              <a:t> da Internet das </a:t>
            </a:r>
            <a:r>
              <a:rPr lang="en-GB" dirty="0" err="1"/>
              <a:t>Coisas</a:t>
            </a:r>
            <a:r>
              <a:rPr lang="en-GB" dirty="0"/>
              <a:t> (IoT) no Mundo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112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rcado de IOT">
            <a:extLst>
              <a:ext uri="{FF2B5EF4-FFF2-40B4-BE49-F238E27FC236}">
                <a16:creationId xmlns:a16="http://schemas.microsoft.com/office/drawing/2014/main" id="{3C0A6AB6-D710-9408-2855-0DE626617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952" y="2243983"/>
            <a:ext cx="5513388" cy="289452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27662" y="2243983"/>
            <a:ext cx="5514516" cy="378971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IoT </a:t>
            </a:r>
            <a:r>
              <a:rPr lang="en-GB" b="0" i="0" dirty="0" err="1">
                <a:effectLst/>
              </a:rPr>
              <a:t>está</a:t>
            </a:r>
            <a:r>
              <a:rPr lang="en-GB" b="0" i="0" dirty="0">
                <a:effectLst/>
              </a:rPr>
              <a:t> crescendo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ritmo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acelerado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todo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mundo</a:t>
            </a:r>
            <a:r>
              <a:rPr lang="en-GB" b="0" i="0" dirty="0">
                <a:effectLst/>
              </a:rPr>
              <a:t>."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Até</a:t>
            </a:r>
            <a:r>
              <a:rPr lang="en-GB" b="0" i="0" dirty="0">
                <a:effectLst/>
              </a:rPr>
              <a:t> o final de 2026, </a:t>
            </a:r>
            <a:r>
              <a:rPr lang="en-GB" b="0" i="0" dirty="0" err="1">
                <a:effectLst/>
              </a:rPr>
              <a:t>estima</a:t>
            </a:r>
            <a:r>
              <a:rPr lang="en-GB" b="0" i="0" dirty="0">
                <a:effectLst/>
              </a:rPr>
              <a:t>-se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cerca</a:t>
            </a:r>
            <a:r>
              <a:rPr lang="en-GB" b="0" i="0" dirty="0">
                <a:effectLst/>
              </a:rPr>
              <a:t> de 8,8 mil </a:t>
            </a:r>
            <a:r>
              <a:rPr lang="en-GB" b="0" i="0" dirty="0" err="1">
                <a:effectLst/>
              </a:rPr>
              <a:t>milhões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IoT </a:t>
            </a:r>
            <a:r>
              <a:rPr lang="en-GB" b="0" i="0" dirty="0" err="1">
                <a:effectLst/>
              </a:rPr>
              <a:t>estejam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globalmente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O </a:t>
            </a:r>
            <a:r>
              <a:rPr lang="en-GB" b="0" i="0" dirty="0" err="1">
                <a:effectLst/>
              </a:rPr>
              <a:t>investimento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IoT </a:t>
            </a:r>
            <a:r>
              <a:rPr lang="en-GB" b="0" i="0" dirty="0" err="1">
                <a:effectLst/>
              </a:rPr>
              <a:t>atingiu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2022 o </a:t>
            </a:r>
            <a:r>
              <a:rPr lang="en-GB" b="0" i="0" dirty="0" err="1">
                <a:effectLst/>
              </a:rPr>
              <a:t>valor</a:t>
            </a:r>
            <a:r>
              <a:rPr lang="en-GB" b="0" i="0" dirty="0">
                <a:effectLst/>
              </a:rPr>
              <a:t> de 201 mil </a:t>
            </a:r>
            <a:r>
              <a:rPr lang="en-GB" b="0" i="0" dirty="0" err="1">
                <a:effectLst/>
              </a:rPr>
              <a:t>milhões</a:t>
            </a:r>
            <a:r>
              <a:rPr lang="en-GB" b="0" i="0" dirty="0">
                <a:effectLst/>
              </a:rPr>
              <a:t> e continua a </a:t>
            </a:r>
            <a:r>
              <a:rPr lang="en-GB" b="0" i="0" dirty="0" err="1">
                <a:effectLst/>
              </a:rPr>
              <a:t>aumentar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Essas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estatísticas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refletem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crescente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importância</a:t>
            </a:r>
            <a:r>
              <a:rPr lang="en-GB" b="0" i="0" dirty="0">
                <a:effectLst/>
              </a:rPr>
              <a:t> da IoT </a:t>
            </a:r>
            <a:r>
              <a:rPr lang="en-GB" b="0" i="0" dirty="0" err="1">
                <a:effectLst/>
              </a:rPr>
              <a:t>na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nossa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sociedade</a:t>
            </a:r>
            <a:r>
              <a:rPr lang="en-GB" b="0" i="0" dirty="0">
                <a:effectLst/>
              </a:rPr>
              <a:t> moderna.</a:t>
            </a:r>
          </a:p>
        </p:txBody>
      </p:sp>
      <p:sp>
        <p:nvSpPr>
          <p:cNvPr id="3079" name="Text Placeholder 4">
            <a:extLst>
              <a:ext uri="{FF2B5EF4-FFF2-40B4-BE49-F238E27FC236}">
                <a16:creationId xmlns:a16="http://schemas.microsoft.com/office/drawing/2014/main" id="{1D80BE9D-A7A3-BD4E-1DEA-E8BBD1C26F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8" y="1187484"/>
            <a:ext cx="5512672" cy="417091"/>
          </a:xfrm>
        </p:spPr>
        <p:txBody>
          <a:bodyPr>
            <a:normAutofit fontScale="92500"/>
          </a:bodyPr>
          <a:lstStyle/>
          <a:p>
            <a:r>
              <a:rPr lang="en-GB" dirty="0" err="1"/>
              <a:t>Expansão</a:t>
            </a:r>
            <a:r>
              <a:rPr lang="en-GB" dirty="0"/>
              <a:t> da Internet das </a:t>
            </a:r>
            <a:r>
              <a:rPr lang="en-GB" dirty="0" err="1"/>
              <a:t>Coisas</a:t>
            </a:r>
            <a:r>
              <a:rPr lang="en-GB" dirty="0"/>
              <a:t> (IoT) no Mundo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941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IoT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adotada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variedade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setores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impactando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profundamente</a:t>
            </a:r>
            <a:r>
              <a:rPr lang="en-GB" b="0" i="0" dirty="0">
                <a:effectLst/>
              </a:rPr>
              <a:t> a forma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funcionam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 err="1">
                <a:effectLst/>
              </a:rPr>
              <a:t>Saúde</a:t>
            </a:r>
            <a:r>
              <a:rPr lang="en-GB" b="1" i="0" dirty="0">
                <a:effectLst/>
              </a:rPr>
              <a:t>: </a:t>
            </a:r>
            <a:r>
              <a:rPr lang="en-GB" b="0" i="0" dirty="0" err="1">
                <a:effectLst/>
              </a:rPr>
              <a:t>Monitoramento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pacientes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médicos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conectados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assistência</a:t>
            </a:r>
            <a:r>
              <a:rPr lang="en-GB" b="0" i="0" dirty="0">
                <a:effectLst/>
              </a:rPr>
              <a:t> à </a:t>
            </a:r>
            <a:r>
              <a:rPr lang="en-GB" b="0" i="0" dirty="0" err="1">
                <a:effectLst/>
              </a:rPr>
              <a:t>saúde</a:t>
            </a:r>
            <a:r>
              <a:rPr lang="en-GB" b="0" i="0" dirty="0">
                <a:effectLst/>
              </a:rPr>
              <a:t> remota.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Transporte: </a:t>
            </a:r>
            <a:r>
              <a:rPr lang="en-GB" b="0" i="0" dirty="0" err="1">
                <a:effectLst/>
              </a:rPr>
              <a:t>Rastreamento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frota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transporte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inteligentes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veículos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autônomos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Agricultura</a:t>
            </a:r>
            <a:r>
              <a:rPr lang="en-GB" b="0" i="0" dirty="0">
                <a:effectLst/>
              </a:rPr>
              <a:t>: Agricultura de </a:t>
            </a:r>
            <a:r>
              <a:rPr lang="en-GB" b="0" i="0" dirty="0" err="1">
                <a:effectLst/>
              </a:rPr>
              <a:t>precisão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monitoramento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cultivos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gestão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rebanhos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Estes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apenas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alguns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exemplos</a:t>
            </a:r>
            <a:r>
              <a:rPr lang="en-GB" b="0" i="0" dirty="0">
                <a:effectLst/>
              </a:rPr>
              <a:t> dos </a:t>
            </a:r>
            <a:r>
              <a:rPr lang="en-GB" b="0" i="0" dirty="0" err="1">
                <a:effectLst/>
              </a:rPr>
              <a:t>setores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estão</a:t>
            </a:r>
            <a:r>
              <a:rPr lang="en-GB" b="0" i="0" dirty="0">
                <a:effectLst/>
              </a:rPr>
              <a:t> se </a:t>
            </a:r>
            <a:r>
              <a:rPr lang="en-GB" b="0" i="0" dirty="0" err="1">
                <a:effectLst/>
              </a:rPr>
              <a:t>beneficiando</a:t>
            </a:r>
            <a:r>
              <a:rPr lang="en-GB" b="0" i="0" dirty="0">
                <a:effectLst/>
              </a:rPr>
              <a:t> da IoT.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5B7F227-D9E2-C603-C819-54EB37E7F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Setores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Adotam</a:t>
            </a:r>
            <a:r>
              <a:rPr lang="en-GB" b="1" dirty="0"/>
              <a:t> a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363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IoT </a:t>
            </a:r>
            <a:r>
              <a:rPr lang="en-GB" b="0" i="0" err="1">
                <a:effectLst/>
              </a:rPr>
              <a:t>está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moldando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nossas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vidas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negócios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maneira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significativa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setores</a:t>
            </a:r>
            <a:r>
              <a:rPr lang="en-GB" b="0" i="0">
                <a:effectLst/>
              </a:rPr>
              <a:t> da </a:t>
            </a:r>
            <a:r>
              <a:rPr lang="en-GB" b="0" i="0" err="1">
                <a:effectLst/>
              </a:rPr>
              <a:t>saúde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transporte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agricultura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muitos</a:t>
            </a:r>
            <a:r>
              <a:rPr lang="en-GB" b="0" i="0">
                <a:effectLst/>
              </a:rPr>
              <a:t> outros </a:t>
            </a:r>
            <a:r>
              <a:rPr lang="en-GB" b="0" i="0" err="1">
                <a:effectLst/>
              </a:rPr>
              <a:t>estão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colhendo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benefícios</a:t>
            </a:r>
            <a:r>
              <a:rPr lang="en-GB" b="0" i="0">
                <a:effectLst/>
              </a:rPr>
              <a:t> da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À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medida</a:t>
            </a:r>
            <a:r>
              <a:rPr lang="en-GB" b="0" i="0">
                <a:effectLst/>
              </a:rPr>
              <a:t> que a </a:t>
            </a:r>
            <a:r>
              <a:rPr lang="en-GB" b="0" i="0" err="1">
                <a:effectLst/>
              </a:rPr>
              <a:t>tecnologia</a:t>
            </a:r>
            <a:r>
              <a:rPr lang="en-GB" b="0" i="0">
                <a:effectLst/>
              </a:rPr>
              <a:t> continua a </a:t>
            </a:r>
            <a:r>
              <a:rPr lang="en-GB" b="0" i="0" err="1">
                <a:effectLst/>
              </a:rPr>
              <a:t>evoluir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podemos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esperar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mais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inovações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avanços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Internet das </a:t>
            </a:r>
            <a:r>
              <a:rPr lang="en-GB" b="0" i="0" err="1">
                <a:effectLst/>
              </a:rPr>
              <a:t>Coisas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E8258E8-E233-F113-3FFD-ADB64C1DC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10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Sensores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que </a:t>
            </a:r>
            <a:r>
              <a:rPr lang="en-GB" b="0" i="0" err="1">
                <a:effectLst/>
              </a:rPr>
              <a:t>coletam</a:t>
            </a:r>
            <a:r>
              <a:rPr lang="en-GB" b="0" i="0">
                <a:effectLst/>
              </a:rPr>
              <a:t> dados do </a:t>
            </a:r>
            <a:r>
              <a:rPr lang="en-GB" b="0" i="0" err="1">
                <a:effectLst/>
              </a:rPr>
              <a:t>ambiente</a:t>
            </a:r>
            <a:r>
              <a:rPr lang="en-GB" b="0" i="0">
                <a:effectLst/>
              </a:rPr>
              <a:t>. </a:t>
            </a:r>
            <a:r>
              <a:rPr lang="en-GB" b="0" i="0" err="1">
                <a:effectLst/>
              </a:rPr>
              <a:t>Exemplos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incluem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temperatura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humidade</a:t>
            </a:r>
            <a:r>
              <a:rPr lang="en-GB" b="0" i="0">
                <a:effectLst/>
              </a:rPr>
              <a:t>, luz, </a:t>
            </a:r>
            <a:r>
              <a:rPr lang="en-GB" b="0" i="0" err="1">
                <a:effectLst/>
              </a:rPr>
              <a:t>movimento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gás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Atuadores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que </a:t>
            </a:r>
            <a:r>
              <a:rPr lang="en-GB" b="0" i="0" err="1">
                <a:effectLst/>
              </a:rPr>
              <a:t>realizam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ações</a:t>
            </a:r>
            <a:r>
              <a:rPr lang="en-GB" b="0" i="0">
                <a:effectLst/>
              </a:rPr>
              <a:t> com base </a:t>
            </a:r>
            <a:r>
              <a:rPr lang="en-GB" b="0" i="0" err="1">
                <a:effectLst/>
              </a:rPr>
              <a:t>nos</a:t>
            </a:r>
            <a:r>
              <a:rPr lang="en-GB" b="0" i="0">
                <a:effectLst/>
              </a:rPr>
              <a:t> dados </a:t>
            </a:r>
            <a:r>
              <a:rPr lang="en-GB" b="0" i="0" err="1">
                <a:effectLst/>
              </a:rPr>
              <a:t>coletados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pelos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. </a:t>
            </a:r>
            <a:r>
              <a:rPr lang="en-GB" b="0" i="0" err="1">
                <a:effectLst/>
              </a:rPr>
              <a:t>Exemplos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incluem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motores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válvulas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atuadores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elétricos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6325B08-7116-B31D-2F96-4ACD07E1BA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Sensores</a:t>
            </a:r>
            <a:r>
              <a:rPr lang="en-GB" dirty="0"/>
              <a:t> e </a:t>
            </a:r>
            <a:r>
              <a:rPr lang="en-GB" dirty="0" err="1"/>
              <a:t>Atuadores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135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Wi-Fi: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Conexão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alta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velocidade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alcance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curto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adequada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ambientes </a:t>
            </a:r>
            <a:r>
              <a:rPr lang="en-GB" b="0" i="0" dirty="0" err="1">
                <a:effectLst/>
              </a:rPr>
              <a:t>internos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Bluetooth:</a:t>
            </a:r>
            <a:r>
              <a:rPr lang="en-GB" b="0" i="0" dirty="0">
                <a:effectLst/>
              </a:rPr>
              <a:t> Ideal para </a:t>
            </a:r>
            <a:r>
              <a:rPr lang="en-GB" b="0" i="0" dirty="0" err="1">
                <a:effectLst/>
              </a:rPr>
              <a:t>comunicação</a:t>
            </a:r>
            <a:r>
              <a:rPr lang="en-GB" b="0" i="0" dirty="0">
                <a:effectLst/>
              </a:rPr>
              <a:t> entre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curto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alcance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como</a:t>
            </a:r>
            <a:r>
              <a:rPr lang="en-GB" b="0" i="0" dirty="0">
                <a:effectLst/>
              </a:rPr>
              <a:t> smartphones e </a:t>
            </a:r>
            <a:r>
              <a:rPr lang="en-GB" b="0" i="0" dirty="0" err="1">
                <a:effectLst/>
              </a:rPr>
              <a:t>acessórios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Zigbee: </a:t>
            </a:r>
            <a:r>
              <a:rPr lang="en-GB" b="0" i="0" dirty="0" err="1">
                <a:effectLst/>
              </a:rPr>
              <a:t>Protocolo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baixa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energia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alcance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moderado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amplamente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utilizado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automação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residencial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LoRa (Long Range): </a:t>
            </a:r>
            <a:r>
              <a:rPr lang="en-GB" b="0" i="0" dirty="0" err="1">
                <a:effectLst/>
              </a:rPr>
              <a:t>Conexão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longo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alcance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aplicações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rurais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urbanas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larga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escala</a:t>
            </a:r>
            <a:r>
              <a:rPr lang="en-GB" b="0" i="0" dirty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NB-IoT (Narrowband IoT): </a:t>
            </a:r>
            <a:r>
              <a:rPr lang="en-GB" b="0" i="0" dirty="0" err="1">
                <a:effectLst/>
              </a:rPr>
              <a:t>Protocolo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baixa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potência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baixa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largura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banda</a:t>
            </a:r>
            <a:r>
              <a:rPr lang="en-GB" b="0" i="0" dirty="0">
                <a:effectLst/>
              </a:rPr>
              <a:t> ideal para IoT </a:t>
            </a:r>
            <a:r>
              <a:rPr lang="en-GB" b="0" i="0" dirty="0" err="1">
                <a:effectLst/>
              </a:rPr>
              <a:t>massiva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6163D8E-BD22-453A-A453-4B380A155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Opções</a:t>
            </a:r>
            <a:r>
              <a:rPr lang="en-GB" dirty="0"/>
              <a:t> de </a:t>
            </a:r>
            <a:r>
              <a:rPr lang="en-GB" dirty="0" err="1"/>
              <a:t>Conectividade</a:t>
            </a:r>
            <a:r>
              <a:rPr lang="en-GB" dirty="0"/>
              <a:t> </a:t>
            </a:r>
            <a:r>
              <a:rPr lang="en-GB" dirty="0" err="1"/>
              <a:t>sem</a:t>
            </a:r>
            <a:r>
              <a:rPr lang="en-GB" dirty="0"/>
              <a:t> Fio </a:t>
            </a:r>
            <a:r>
              <a:rPr lang="en-GB" dirty="0" err="1"/>
              <a:t>na</a:t>
            </a:r>
            <a:r>
              <a:rPr lang="en-GB" dirty="0"/>
              <a:t>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881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>
                <a:effectLst/>
              </a:rPr>
              <a:t>Amazon Web Services (AWS) IoT: </a:t>
            </a:r>
            <a:r>
              <a:rPr lang="en-GB" b="0" i="0" err="1">
                <a:effectLst/>
              </a:rPr>
              <a:t>Oferece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uma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variedade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serviços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construir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aplicativos</a:t>
            </a:r>
            <a:r>
              <a:rPr lang="en-GB" b="0" i="0">
                <a:effectLst/>
              </a:rPr>
              <a:t> IoT </a:t>
            </a:r>
            <a:r>
              <a:rPr lang="en-GB" b="0" i="0" err="1">
                <a:effectLst/>
              </a:rPr>
              <a:t>escaláveis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seguros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>
                <a:effectLst/>
              </a:rPr>
              <a:t>Microsoft Azure IoT: </a:t>
            </a:r>
            <a:r>
              <a:rPr lang="en-GB" b="0" i="0">
                <a:effectLst/>
              </a:rPr>
              <a:t>Plataforma da Microsoft para </a:t>
            </a:r>
            <a:r>
              <a:rPr lang="en-GB" b="0" i="0" err="1">
                <a:effectLst/>
              </a:rPr>
              <a:t>desenvolvimento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gerenciamento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soluções</a:t>
            </a:r>
            <a:r>
              <a:rPr lang="en-GB" b="0" i="0">
                <a:effectLst/>
              </a:rPr>
              <a:t>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>
                <a:effectLst/>
              </a:rPr>
              <a:t>Google Cloud IoT: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Permite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integração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e a </a:t>
            </a:r>
            <a:r>
              <a:rPr lang="en-GB" b="0" i="0" err="1">
                <a:effectLst/>
              </a:rPr>
              <a:t>análise</a:t>
            </a:r>
            <a:r>
              <a:rPr lang="en-GB" b="0" i="0">
                <a:effectLst/>
              </a:rPr>
              <a:t> de dados IoT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escala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/>
              <a:t>I</a:t>
            </a:r>
            <a:r>
              <a:rPr lang="en-GB" b="1" i="0">
                <a:effectLst/>
              </a:rPr>
              <a:t>BM Watson IoT: </a:t>
            </a:r>
            <a:r>
              <a:rPr lang="en-GB" b="0" i="0" err="1">
                <a:effectLst/>
              </a:rPr>
              <a:t>Oferece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análise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avançada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recursos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aprendizado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máquina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IoT.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AB61B22-4E75-B6E2-5CB0-79A44EDAB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Plataformas</a:t>
            </a:r>
            <a:r>
              <a:rPr lang="en-GB" b="1" dirty="0"/>
              <a:t> IoT Populares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379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combinação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conectividade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fio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protocolos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comunicação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permite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criação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soluções</a:t>
            </a:r>
            <a:r>
              <a:rPr lang="en-GB" b="0" i="0">
                <a:effectLst/>
              </a:rPr>
              <a:t> IoT </a:t>
            </a:r>
            <a:r>
              <a:rPr lang="en-GB" b="0" i="0" err="1">
                <a:effectLst/>
              </a:rPr>
              <a:t>inovadoras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Plataformas</a:t>
            </a:r>
            <a:r>
              <a:rPr lang="en-GB" b="0" i="0">
                <a:effectLst/>
              </a:rPr>
              <a:t> IoT </a:t>
            </a:r>
            <a:r>
              <a:rPr lang="en-GB" b="0" i="0" err="1">
                <a:effectLst/>
              </a:rPr>
              <a:t>populares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facilitam</a:t>
            </a:r>
            <a:r>
              <a:rPr lang="en-GB" b="0" i="0">
                <a:effectLst/>
              </a:rPr>
              <a:t> o </a:t>
            </a:r>
            <a:r>
              <a:rPr lang="en-GB" b="0" i="0" err="1">
                <a:effectLst/>
              </a:rPr>
              <a:t>desenvolvimento</a:t>
            </a:r>
            <a:r>
              <a:rPr lang="en-GB" b="0" i="0">
                <a:effectLst/>
              </a:rPr>
              <a:t> e a </a:t>
            </a:r>
            <a:r>
              <a:rPr lang="en-GB" b="0" i="0" err="1">
                <a:effectLst/>
              </a:rPr>
              <a:t>escalabilidade</a:t>
            </a:r>
            <a:r>
              <a:rPr lang="en-GB" b="0" i="0">
                <a:effectLst/>
              </a:rPr>
              <a:t> dessas </a:t>
            </a:r>
            <a:r>
              <a:rPr lang="en-GB" b="0" i="0" err="1">
                <a:effectLst/>
              </a:rPr>
              <a:t>soluções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escolha</a:t>
            </a:r>
            <a:r>
              <a:rPr lang="en-GB" b="0" i="0">
                <a:effectLst/>
              </a:rPr>
              <a:t> dos </a:t>
            </a:r>
            <a:r>
              <a:rPr lang="en-GB" b="0" i="0" err="1">
                <a:effectLst/>
              </a:rPr>
              <a:t>componentes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certos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fundamental para o </a:t>
            </a:r>
            <a:r>
              <a:rPr lang="en-GB" b="0" i="0" err="1">
                <a:effectLst/>
              </a:rPr>
              <a:t>sucesso</a:t>
            </a:r>
            <a:r>
              <a:rPr lang="en-GB" b="0" i="0">
                <a:effectLst/>
              </a:rPr>
              <a:t> de um </a:t>
            </a:r>
            <a:r>
              <a:rPr lang="en-GB" b="0" i="0" err="1">
                <a:effectLst/>
              </a:rPr>
              <a:t>projeto</a:t>
            </a:r>
            <a:r>
              <a:rPr lang="en-GB" b="0" i="0">
                <a:effectLst/>
              </a:rPr>
              <a:t> IoT.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98C9D3B-AF22-A2E1-EEB5-4ED1A0060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b="1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6306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Redes de </a:t>
            </a:r>
            <a:r>
              <a:rPr lang="en-GB" b="0" i="0" err="1">
                <a:effectLst/>
              </a:rPr>
              <a:t>sensores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consistem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muitos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pequenos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autônomos</a:t>
            </a:r>
            <a:r>
              <a:rPr lang="en-GB" b="0" i="0">
                <a:effectLst/>
              </a:rPr>
              <a:t> que </a:t>
            </a:r>
            <a:r>
              <a:rPr lang="en-GB" b="0" i="0" err="1">
                <a:effectLst/>
              </a:rPr>
              <a:t>recolhem</a:t>
            </a:r>
            <a:r>
              <a:rPr lang="en-GB" b="0" i="0">
                <a:effectLst/>
              </a:rPr>
              <a:t> dados e se </a:t>
            </a:r>
            <a:r>
              <a:rPr lang="en-GB" b="0" i="0" err="1">
                <a:effectLst/>
              </a:rPr>
              <a:t>comunicam</a:t>
            </a:r>
            <a:r>
              <a:rPr lang="en-GB" b="0" i="0">
                <a:effectLst/>
              </a:rPr>
              <a:t> entre </a:t>
            </a:r>
            <a:r>
              <a:rPr lang="en-GB" b="0" i="0" err="1">
                <a:effectLst/>
              </a:rPr>
              <a:t>si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Princípio</a:t>
            </a:r>
            <a:r>
              <a:rPr lang="en-GB" b="1" i="0">
                <a:effectLst/>
              </a:rPr>
              <a:t> de auto-</a:t>
            </a:r>
            <a:r>
              <a:rPr lang="en-GB" b="1" i="0" err="1">
                <a:effectLst/>
              </a:rPr>
              <a:t>organização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devem</a:t>
            </a:r>
            <a:r>
              <a:rPr lang="en-GB" b="0" i="0">
                <a:effectLst/>
              </a:rPr>
              <a:t> ser </a:t>
            </a:r>
            <a:r>
              <a:rPr lang="en-GB" b="0" i="0" err="1">
                <a:effectLst/>
              </a:rPr>
              <a:t>capazes</a:t>
            </a:r>
            <a:r>
              <a:rPr lang="en-GB" b="0" i="0">
                <a:effectLst/>
              </a:rPr>
              <a:t> de se </a:t>
            </a:r>
            <a:r>
              <a:rPr lang="en-GB" b="0" i="0" err="1">
                <a:effectLst/>
              </a:rPr>
              <a:t>organizar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automaticamente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uma</a:t>
            </a:r>
            <a:r>
              <a:rPr lang="en-GB" b="0" i="0">
                <a:effectLst/>
              </a:rPr>
              <a:t> rede.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Princípio</a:t>
            </a:r>
            <a:r>
              <a:rPr lang="en-GB" b="1" i="0">
                <a:effectLst/>
              </a:rPr>
              <a:t> de </a:t>
            </a:r>
            <a:r>
              <a:rPr lang="en-GB" b="1" i="0" err="1">
                <a:effectLst/>
              </a:rPr>
              <a:t>eficiência</a:t>
            </a:r>
            <a:r>
              <a:rPr lang="en-GB" b="1" i="0">
                <a:effectLst/>
              </a:rPr>
              <a:t> </a:t>
            </a:r>
            <a:r>
              <a:rPr lang="en-GB" b="1" i="0" err="1">
                <a:effectLst/>
              </a:rPr>
              <a:t>energética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Deve</a:t>
            </a:r>
            <a:r>
              <a:rPr lang="en-GB" b="0" i="0">
                <a:effectLst/>
              </a:rPr>
              <a:t>-se </a:t>
            </a:r>
            <a:r>
              <a:rPr lang="en-GB" b="0" i="0" err="1">
                <a:effectLst/>
              </a:rPr>
              <a:t>minimizar</a:t>
            </a:r>
            <a:r>
              <a:rPr lang="en-GB" b="0" i="0">
                <a:effectLst/>
              </a:rPr>
              <a:t> o </a:t>
            </a:r>
            <a:r>
              <a:rPr lang="en-GB" b="0" i="0" err="1">
                <a:effectLst/>
              </a:rPr>
              <a:t>consumo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energia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prolongar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vida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útil</a:t>
            </a:r>
            <a:r>
              <a:rPr lang="en-GB" b="0" i="0">
                <a:effectLst/>
              </a:rPr>
              <a:t> das </a:t>
            </a:r>
            <a:r>
              <a:rPr lang="en-GB" b="0" i="0" err="1">
                <a:effectLst/>
              </a:rPr>
              <a:t>baterias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Princípio</a:t>
            </a:r>
            <a:r>
              <a:rPr lang="en-GB" b="1" i="0">
                <a:effectLst/>
              </a:rPr>
              <a:t> de </a:t>
            </a:r>
            <a:r>
              <a:rPr lang="en-GB" b="1" i="0" err="1">
                <a:effectLst/>
              </a:rPr>
              <a:t>robustez</a:t>
            </a:r>
            <a:r>
              <a:rPr lang="en-GB" b="1" i="0">
                <a:effectLst/>
              </a:rPr>
              <a:t>: </a:t>
            </a:r>
            <a:r>
              <a:rPr lang="en-GB" b="0" i="0">
                <a:effectLst/>
              </a:rPr>
              <a:t>A rede </a:t>
            </a:r>
            <a:r>
              <a:rPr lang="en-GB" b="0" i="0" err="1">
                <a:effectLst/>
              </a:rPr>
              <a:t>deve</a:t>
            </a:r>
            <a:r>
              <a:rPr lang="en-GB" b="0" i="0">
                <a:effectLst/>
              </a:rPr>
              <a:t> ser </a:t>
            </a:r>
            <a:r>
              <a:rPr lang="en-GB" b="0" i="0" err="1">
                <a:effectLst/>
              </a:rPr>
              <a:t>capaz</a:t>
            </a:r>
            <a:r>
              <a:rPr lang="en-GB" b="0" i="0">
                <a:effectLst/>
              </a:rPr>
              <a:t> de se </a:t>
            </a:r>
            <a:r>
              <a:rPr lang="en-GB" b="0" i="0" err="1">
                <a:effectLst/>
              </a:rPr>
              <a:t>adaptar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falhas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mudanças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topologia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5DEC76B-A0D8-8009-E4BE-39DBB5AC6D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Princípios</a:t>
            </a:r>
            <a:r>
              <a:rPr lang="en-GB" dirty="0"/>
              <a:t> de </a:t>
            </a:r>
            <a:r>
              <a:rPr lang="en-GB" dirty="0" err="1"/>
              <a:t>Comunicação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Redes de </a:t>
            </a:r>
            <a:r>
              <a:rPr lang="en-GB" dirty="0" err="1"/>
              <a:t>Sensores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8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À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medida</a:t>
            </a:r>
            <a:r>
              <a:rPr lang="en-GB" b="0" i="0">
                <a:effectLst/>
              </a:rPr>
              <a:t> que o </a:t>
            </a:r>
            <a:r>
              <a:rPr lang="en-GB" b="0" i="0" err="1">
                <a:effectLst/>
              </a:rPr>
              <a:t>número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IoT </a:t>
            </a:r>
            <a:r>
              <a:rPr lang="en-GB" b="0" i="0" err="1">
                <a:effectLst/>
              </a:rPr>
              <a:t>aumenta</a:t>
            </a:r>
            <a:r>
              <a:rPr lang="en-GB" b="0" i="0">
                <a:effectLst/>
              </a:rPr>
              <a:t>, a </a:t>
            </a:r>
            <a:r>
              <a:rPr lang="en-GB" b="0" i="0" err="1">
                <a:effectLst/>
              </a:rPr>
              <a:t>escalabilidade</a:t>
            </a:r>
            <a:r>
              <a:rPr lang="en-GB" b="0" i="0">
                <a:effectLst/>
              </a:rPr>
              <a:t> se </a:t>
            </a:r>
            <a:r>
              <a:rPr lang="en-GB" b="0" i="0" err="1">
                <a:effectLst/>
              </a:rPr>
              <a:t>torna</a:t>
            </a:r>
            <a:r>
              <a:rPr lang="en-GB" b="0" i="0">
                <a:effectLst/>
              </a:rPr>
              <a:t> um </a:t>
            </a:r>
            <a:r>
              <a:rPr lang="en-GB" b="0" i="0" err="1">
                <a:effectLst/>
              </a:rPr>
              <a:t>desafio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crítico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Gerenciamento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muitos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fluxo</a:t>
            </a:r>
            <a:r>
              <a:rPr lang="en-GB" b="0" i="0">
                <a:effectLst/>
              </a:rPr>
              <a:t> de dados </a:t>
            </a:r>
            <a:r>
              <a:rPr lang="en-GB" b="0" i="0" err="1">
                <a:effectLst/>
              </a:rPr>
              <a:t>massivos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podem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sobrecarregar</a:t>
            </a:r>
            <a:r>
              <a:rPr lang="en-GB" b="0" i="0">
                <a:effectLst/>
              </a:rPr>
              <a:t> redes e </a:t>
            </a:r>
            <a:r>
              <a:rPr lang="en-GB" b="0" i="0" err="1">
                <a:effectLst/>
              </a:rPr>
              <a:t>servidores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Soluções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incluem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distribuição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eficiente</a:t>
            </a:r>
            <a:r>
              <a:rPr lang="en-GB" b="0" i="0">
                <a:effectLst/>
              </a:rPr>
              <a:t> de dados, a </a:t>
            </a:r>
            <a:r>
              <a:rPr lang="en-GB" b="0" i="0" err="1">
                <a:effectLst/>
              </a:rPr>
              <a:t>utilização</a:t>
            </a:r>
            <a:r>
              <a:rPr lang="en-GB" b="0" i="0">
                <a:effectLst/>
              </a:rPr>
              <a:t> de redes de </a:t>
            </a:r>
            <a:r>
              <a:rPr lang="en-GB" b="0" i="0" err="1">
                <a:effectLst/>
              </a:rPr>
              <a:t>malha</a:t>
            </a:r>
            <a:r>
              <a:rPr lang="en-GB" b="0" i="0">
                <a:effectLst/>
              </a:rPr>
              <a:t> e a </a:t>
            </a:r>
            <a:r>
              <a:rPr lang="en-GB" b="0" i="0" err="1">
                <a:effectLst/>
              </a:rPr>
              <a:t>computação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borda</a:t>
            </a:r>
            <a:r>
              <a:rPr lang="en-GB" b="0" i="0">
                <a:effectLst/>
              </a:rPr>
              <a:t> (edge computing).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EFC2A81-D8CE-2839-42E0-42020BA95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Desafios</a:t>
            </a:r>
            <a:r>
              <a:rPr lang="en-GB" dirty="0"/>
              <a:t> de </a:t>
            </a:r>
            <a:r>
              <a:rPr lang="en-GB" dirty="0" err="1"/>
              <a:t>Escalabilidade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Comunicação</a:t>
            </a:r>
            <a:r>
              <a:rPr lang="en-GB" dirty="0"/>
              <a:t>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697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Latência</a:t>
            </a:r>
            <a:r>
              <a:rPr lang="en-GB" b="0" i="0">
                <a:effectLst/>
              </a:rPr>
              <a:t> se </a:t>
            </a:r>
            <a:r>
              <a:rPr lang="en-GB" b="0" i="0" err="1">
                <a:effectLst/>
              </a:rPr>
              <a:t>refere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ao</a:t>
            </a:r>
            <a:r>
              <a:rPr lang="en-GB" b="0" i="0">
                <a:effectLst/>
              </a:rPr>
              <a:t> tempo de </a:t>
            </a:r>
            <a:r>
              <a:rPr lang="en-GB" b="0" i="0" err="1">
                <a:effectLst/>
              </a:rPr>
              <a:t>atraso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transmissão</a:t>
            </a:r>
            <a:r>
              <a:rPr lang="en-GB" b="0" i="0">
                <a:effectLst/>
              </a:rPr>
              <a:t> de dados entre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aplicações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críticas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como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veículos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autônomos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ou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saúde</a:t>
            </a:r>
            <a:r>
              <a:rPr lang="en-GB" b="0" i="0">
                <a:effectLst/>
              </a:rPr>
              <a:t>, a </a:t>
            </a:r>
            <a:r>
              <a:rPr lang="en-GB" b="0" i="0" err="1">
                <a:effectLst/>
              </a:rPr>
              <a:t>latência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baixa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essencial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Soluções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incluem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utilização</a:t>
            </a:r>
            <a:r>
              <a:rPr lang="en-GB" b="0" i="0">
                <a:effectLst/>
              </a:rPr>
              <a:t> de redes de 5G de </a:t>
            </a:r>
            <a:r>
              <a:rPr lang="en-GB" b="0" i="0" err="1">
                <a:effectLst/>
              </a:rPr>
              <a:t>alta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velocidade</a:t>
            </a:r>
            <a:r>
              <a:rPr lang="en-GB" b="0" i="0">
                <a:effectLst/>
              </a:rPr>
              <a:t> e o </a:t>
            </a:r>
            <a:r>
              <a:rPr lang="en-GB" b="0" i="0" err="1">
                <a:effectLst/>
              </a:rPr>
              <a:t>processamento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tempo real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edge computing.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549936-44FC-FBBB-7C70-6297B6C949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Desafios</a:t>
            </a:r>
            <a:r>
              <a:rPr lang="en-GB" dirty="0"/>
              <a:t> de </a:t>
            </a:r>
            <a:r>
              <a:rPr lang="en-GB" dirty="0" err="1"/>
              <a:t>Latência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Comunicação</a:t>
            </a:r>
            <a:r>
              <a:rPr lang="en-GB" dirty="0"/>
              <a:t>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755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segurança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fundamental para </a:t>
            </a:r>
            <a:r>
              <a:rPr lang="en-GB" b="0" i="0" err="1">
                <a:effectLst/>
              </a:rPr>
              <a:t>proteger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dados e a </a:t>
            </a:r>
            <a:r>
              <a:rPr lang="en-GB" b="0" i="0" err="1">
                <a:effectLst/>
              </a:rPr>
              <a:t>integridade</a:t>
            </a:r>
            <a:r>
              <a:rPr lang="en-GB" b="0" i="0">
                <a:effectLst/>
              </a:rPr>
              <a:t> dos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Criptografia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dados </a:t>
            </a:r>
            <a:r>
              <a:rPr lang="en-GB" b="0" i="0" err="1">
                <a:effectLst/>
              </a:rPr>
              <a:t>devem</a:t>
            </a:r>
            <a:r>
              <a:rPr lang="en-GB" b="0" i="0">
                <a:effectLst/>
              </a:rPr>
              <a:t> ser </a:t>
            </a:r>
            <a:r>
              <a:rPr lang="en-GB" b="0" i="0" err="1">
                <a:effectLst/>
              </a:rPr>
              <a:t>criptografados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evitar</a:t>
            </a:r>
            <a:r>
              <a:rPr lang="en-GB" b="0" i="0">
                <a:effectLst/>
              </a:rPr>
              <a:t> a </a:t>
            </a:r>
            <a:r>
              <a:rPr lang="en-GB" b="0" i="0" err="1">
                <a:effectLst/>
              </a:rPr>
              <a:t>interceptação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autorizada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Autenticação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devem</a:t>
            </a:r>
            <a:r>
              <a:rPr lang="en-GB" b="0" i="0">
                <a:effectLst/>
              </a:rPr>
              <a:t> ser </a:t>
            </a:r>
            <a:r>
              <a:rPr lang="en-GB" b="0" i="0" err="1">
                <a:effectLst/>
              </a:rPr>
              <a:t>autenticados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garantir</a:t>
            </a:r>
            <a:r>
              <a:rPr lang="en-GB" b="0" i="0">
                <a:effectLst/>
              </a:rPr>
              <a:t> que </a:t>
            </a:r>
            <a:r>
              <a:rPr lang="en-GB" b="0" i="0" err="1">
                <a:effectLst/>
              </a:rPr>
              <a:t>apenas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confiáveis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acessem</a:t>
            </a:r>
            <a:r>
              <a:rPr lang="en-GB" b="0" i="0">
                <a:effectLst/>
              </a:rPr>
              <a:t> a rede.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i="0" err="1">
                <a:effectLst/>
              </a:rPr>
              <a:t>Autorização</a:t>
            </a:r>
            <a:r>
              <a:rPr lang="en-GB" b="1" i="0">
                <a:effectLst/>
              </a:rPr>
              <a:t>: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importante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definir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quem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pode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acessar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quais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recursos</a:t>
            </a:r>
            <a:r>
              <a:rPr lang="en-GB" b="0" i="0">
                <a:effectLst/>
              </a:rPr>
              <a:t> e dados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rede IoT.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81BC2FC-6923-2BF0-DF97-EEC11218FC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Importância</a:t>
            </a:r>
            <a:r>
              <a:rPr lang="en-GB" dirty="0"/>
              <a:t> da </a:t>
            </a:r>
            <a:r>
              <a:rPr lang="en-GB" dirty="0" err="1"/>
              <a:t>Segurança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Comunicação</a:t>
            </a:r>
            <a:r>
              <a:rPr lang="en-GB" dirty="0"/>
              <a:t>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8822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princípios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comunicação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escalabilidade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latência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essenciais</a:t>
            </a:r>
            <a:r>
              <a:rPr lang="en-GB" b="0" i="0">
                <a:effectLst/>
              </a:rPr>
              <a:t> para o </a:t>
            </a:r>
            <a:r>
              <a:rPr lang="en-GB" b="0" i="0" err="1">
                <a:effectLst/>
              </a:rPr>
              <a:t>funcionamento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eficiente</a:t>
            </a:r>
            <a:r>
              <a:rPr lang="en-GB" b="0" i="0">
                <a:effectLst/>
              </a:rPr>
              <a:t> da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segurança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comunicação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crítica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proteger</a:t>
            </a:r>
            <a:r>
              <a:rPr lang="en-GB" b="0" i="0">
                <a:effectLst/>
              </a:rPr>
              <a:t> dados 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contra </a:t>
            </a:r>
            <a:r>
              <a:rPr lang="en-GB" b="0" i="0" err="1">
                <a:effectLst/>
              </a:rPr>
              <a:t>ameaças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evolução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contínua</a:t>
            </a:r>
            <a:r>
              <a:rPr lang="en-GB" b="0" i="0">
                <a:effectLst/>
              </a:rPr>
              <a:t> das </a:t>
            </a:r>
            <a:r>
              <a:rPr lang="en-GB" b="0" i="0" err="1">
                <a:effectLst/>
              </a:rPr>
              <a:t>tecnologias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padrões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necessária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enfrentar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desafios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constante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mudança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0" i="0">
              <a:effectLst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8CED1A-D7AA-4F8E-28D3-F5B09BC03C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4589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princípios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comunicação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escalabilidade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latência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essenciais</a:t>
            </a:r>
            <a:r>
              <a:rPr lang="en-GB" b="0" i="0">
                <a:effectLst/>
              </a:rPr>
              <a:t> para o </a:t>
            </a:r>
            <a:r>
              <a:rPr lang="en-GB" b="0" i="0" err="1">
                <a:effectLst/>
              </a:rPr>
              <a:t>funcionamento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eficiente</a:t>
            </a:r>
            <a:r>
              <a:rPr lang="en-GB" b="0" i="0">
                <a:effectLst/>
              </a:rPr>
              <a:t> da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segurança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comunicação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crítica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proteger</a:t>
            </a:r>
            <a:r>
              <a:rPr lang="en-GB" b="0" i="0">
                <a:effectLst/>
              </a:rPr>
              <a:t> dados e </a:t>
            </a:r>
            <a:r>
              <a:rPr lang="en-GB" b="0" i="0" err="1">
                <a:effectLst/>
              </a:rPr>
              <a:t>dispositivos</a:t>
            </a:r>
            <a:r>
              <a:rPr lang="en-GB" b="0" i="0">
                <a:effectLst/>
              </a:rPr>
              <a:t> contra </a:t>
            </a:r>
            <a:r>
              <a:rPr lang="en-GB" b="0" i="0" err="1">
                <a:effectLst/>
              </a:rPr>
              <a:t>ameaças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</a:t>
            </a:r>
            <a:r>
              <a:rPr lang="en-GB" b="0" i="0" err="1">
                <a:effectLst/>
              </a:rPr>
              <a:t>evolução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contínua</a:t>
            </a:r>
            <a:r>
              <a:rPr lang="en-GB" b="0" i="0">
                <a:effectLst/>
              </a:rPr>
              <a:t> das </a:t>
            </a:r>
            <a:r>
              <a:rPr lang="en-GB" b="0" i="0" err="1">
                <a:effectLst/>
              </a:rPr>
              <a:t>tecnologias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padrões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é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necessária</a:t>
            </a:r>
            <a:r>
              <a:rPr lang="en-GB" b="0" i="0">
                <a:effectLst/>
              </a:rPr>
              <a:t> para </a:t>
            </a:r>
            <a:r>
              <a:rPr lang="en-GB" b="0" i="0" err="1">
                <a:effectLst/>
              </a:rPr>
              <a:t>enfrentar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desafios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constante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mudança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IoT.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0" i="0">
              <a:effectLst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898CDA-7052-3A5D-35DE-FBC6DD84D7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8837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1" i="0" dirty="0" err="1">
                <a:effectLst/>
              </a:rPr>
              <a:t>Domótica</a:t>
            </a:r>
            <a:r>
              <a:rPr lang="en-GB" b="1" i="0" dirty="0">
                <a:effectLst/>
              </a:rPr>
              <a:t>: </a:t>
            </a:r>
            <a:r>
              <a:rPr lang="en-GB" b="0" i="0" dirty="0">
                <a:effectLst/>
              </a:rPr>
              <a:t>Controle </a:t>
            </a:r>
            <a:r>
              <a:rPr lang="en-GB" b="0" i="0" dirty="0" err="1">
                <a:effectLst/>
              </a:rPr>
              <a:t>Inteligente</a:t>
            </a:r>
            <a:r>
              <a:rPr lang="en-GB" b="0" i="0" dirty="0">
                <a:effectLst/>
              </a:rPr>
              <a:t> de Casas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</a:t>
            </a:r>
            <a:r>
              <a:rPr lang="en-GB" b="0" i="0" dirty="0" err="1">
                <a:effectLst/>
              </a:rPr>
              <a:t>domótica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refere</a:t>
            </a:r>
            <a:r>
              <a:rPr lang="en-GB" b="0" i="0" dirty="0">
                <a:effectLst/>
              </a:rPr>
              <a:t>-se à </a:t>
            </a:r>
            <a:r>
              <a:rPr lang="en-GB" b="0" i="0" dirty="0" err="1">
                <a:effectLst/>
              </a:rPr>
              <a:t>automação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residencial</a:t>
            </a:r>
            <a:r>
              <a:rPr lang="en-GB" b="0" i="0" dirty="0">
                <a:effectLst/>
              </a:rPr>
              <a:t> com o </a:t>
            </a:r>
            <a:r>
              <a:rPr lang="en-GB" b="0" i="0" dirty="0" err="1">
                <a:effectLst/>
              </a:rPr>
              <a:t>uso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IoT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Exemplos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incluem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sistemas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iluminação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inteligente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podem</a:t>
            </a:r>
            <a:r>
              <a:rPr lang="en-GB" b="0" i="0" dirty="0">
                <a:effectLst/>
              </a:rPr>
              <a:t> ser </a:t>
            </a:r>
            <a:r>
              <a:rPr lang="en-GB" b="0" i="0" dirty="0" err="1">
                <a:effectLst/>
              </a:rPr>
              <a:t>controlados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remotamente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termostatos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se </a:t>
            </a:r>
            <a:r>
              <a:rPr lang="en-GB" b="0" i="0" dirty="0" err="1">
                <a:effectLst/>
              </a:rPr>
              <a:t>ajustam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automaticamente</a:t>
            </a:r>
            <a:r>
              <a:rPr lang="en-GB" b="0" i="0" dirty="0">
                <a:effectLst/>
              </a:rPr>
              <a:t> com base </a:t>
            </a:r>
            <a:r>
              <a:rPr lang="en-GB" b="0" i="0" dirty="0" err="1">
                <a:effectLst/>
              </a:rPr>
              <a:t>nas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condições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internas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externas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923902A-5CA3-DA04-D316-E66159E20F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/>
              <a:t>Casos de Uso da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269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</a:rPr>
              <a:t>Indústria 4.0: </a:t>
            </a:r>
            <a:r>
              <a:rPr lang="en-GB" b="0" i="0" dirty="0" err="1">
                <a:effectLst/>
              </a:rPr>
              <a:t>Transformação</a:t>
            </a:r>
            <a:r>
              <a:rPr lang="en-GB" b="0" i="0" dirty="0">
                <a:effectLst/>
              </a:rPr>
              <a:t> da </a:t>
            </a:r>
            <a:r>
              <a:rPr lang="en-GB" b="0" i="0" dirty="0" err="1">
                <a:effectLst/>
              </a:rPr>
              <a:t>Manufatura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Indústria 4.0 </a:t>
            </a:r>
            <a:r>
              <a:rPr lang="en-GB" b="0" i="0" dirty="0" err="1">
                <a:effectLst/>
              </a:rPr>
              <a:t>envolve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uso</a:t>
            </a:r>
            <a:r>
              <a:rPr lang="en-GB" b="0" i="0" dirty="0">
                <a:effectLst/>
              </a:rPr>
              <a:t> de IoT para </a:t>
            </a:r>
            <a:r>
              <a:rPr lang="en-GB" b="0" i="0" dirty="0" err="1">
                <a:effectLst/>
              </a:rPr>
              <a:t>monitorar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máquinas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realizar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análises</a:t>
            </a:r>
            <a:r>
              <a:rPr lang="en-GB" b="0" i="0" dirty="0">
                <a:effectLst/>
              </a:rPr>
              <a:t> de dados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tempo real e </a:t>
            </a:r>
            <a:r>
              <a:rPr lang="en-GB" b="0" i="0" dirty="0" err="1">
                <a:effectLst/>
              </a:rPr>
              <a:t>automatizar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processos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industriais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Isso</a:t>
            </a:r>
            <a:r>
              <a:rPr lang="en-GB" b="0" i="0" dirty="0">
                <a:effectLst/>
              </a:rPr>
              <a:t> leva a </a:t>
            </a:r>
            <a:r>
              <a:rPr lang="en-GB" b="0" i="0" dirty="0" err="1">
                <a:effectLst/>
              </a:rPr>
              <a:t>maior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eficiência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manutenção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preditiva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uma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produção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mais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inteligente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D8A90E-2D82-BB69-733E-DD87ABE52A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/>
              <a:t>Casos de Uso da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257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</a:rPr>
              <a:t>Agricultura </a:t>
            </a:r>
            <a:r>
              <a:rPr lang="en-GB" b="1" i="0" dirty="0" err="1">
                <a:effectLst/>
              </a:rPr>
              <a:t>Inteligente</a:t>
            </a:r>
            <a:r>
              <a:rPr lang="en-GB" b="1" i="0" dirty="0">
                <a:effectLst/>
              </a:rPr>
              <a:t> (</a:t>
            </a:r>
            <a:r>
              <a:rPr lang="en-GB" b="1" i="0" dirty="0" err="1">
                <a:effectLst/>
              </a:rPr>
              <a:t>AgTech</a:t>
            </a:r>
            <a:r>
              <a:rPr lang="en-GB" b="1" i="0" dirty="0">
                <a:effectLst/>
              </a:rPr>
              <a:t>):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Na </a:t>
            </a:r>
            <a:r>
              <a:rPr lang="en-GB" b="0" i="0" dirty="0" err="1">
                <a:effectLst/>
              </a:rPr>
              <a:t>agricultura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inteligente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 IoT </a:t>
            </a:r>
            <a:r>
              <a:rPr lang="en-GB" b="0" i="0" dirty="0" err="1">
                <a:effectLst/>
              </a:rPr>
              <a:t>são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usados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otimizar</a:t>
            </a:r>
            <a:r>
              <a:rPr lang="en-GB" b="0" i="0" dirty="0">
                <a:effectLst/>
              </a:rPr>
              <a:t> o </a:t>
            </a:r>
            <a:r>
              <a:rPr lang="en-GB" b="0" i="0" dirty="0" err="1">
                <a:effectLst/>
              </a:rPr>
              <a:t>cultivo</a:t>
            </a:r>
            <a:r>
              <a:rPr lang="en-GB" b="0" i="0" dirty="0">
                <a:effectLst/>
              </a:rPr>
              <a:t> e a </a:t>
            </a:r>
            <a:r>
              <a:rPr lang="en-GB" b="0" i="0" dirty="0" err="1">
                <a:effectLst/>
              </a:rPr>
              <a:t>produção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agrícola</a:t>
            </a:r>
            <a:endParaRPr lang="en-GB" b="0" i="0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Isso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inclui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monitoramento</a:t>
            </a:r>
            <a:r>
              <a:rPr lang="en-GB" b="0" i="0" dirty="0">
                <a:effectLst/>
              </a:rPr>
              <a:t> do solo, </a:t>
            </a:r>
            <a:r>
              <a:rPr lang="en-GB" b="0" i="0" dirty="0" err="1">
                <a:effectLst/>
              </a:rPr>
              <a:t>gestão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água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rastreamento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rebanhos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IoT </a:t>
            </a:r>
            <a:r>
              <a:rPr lang="en-GB" b="0" i="0" dirty="0" err="1">
                <a:effectLst/>
              </a:rPr>
              <a:t>está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ajudando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agricultores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maximizar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produtividade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minimizar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desperdícios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763529F-2BB4-7382-671D-5631018136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/>
              <a:t>Casos de Uso da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60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1" i="0" dirty="0" err="1">
                <a:effectLst/>
              </a:rPr>
              <a:t>Monitoramento</a:t>
            </a:r>
            <a:r>
              <a:rPr lang="en-GB" b="1" i="0" dirty="0">
                <a:effectLst/>
              </a:rPr>
              <a:t> Ambiental com IoT: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 IoT </a:t>
            </a:r>
            <a:r>
              <a:rPr lang="en-GB" b="0" i="0" dirty="0" err="1">
                <a:effectLst/>
              </a:rPr>
              <a:t>é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usada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rastrear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qualidade</a:t>
            </a:r>
            <a:r>
              <a:rPr lang="en-GB" b="0" i="0" dirty="0">
                <a:effectLst/>
              </a:rPr>
              <a:t> do </a:t>
            </a:r>
            <a:r>
              <a:rPr lang="en-GB" b="0" i="0" dirty="0" err="1">
                <a:effectLst/>
              </a:rPr>
              <a:t>ar</a:t>
            </a:r>
            <a:r>
              <a:rPr lang="en-GB" b="0" i="0" dirty="0">
                <a:effectLst/>
              </a:rPr>
              <a:t> e da </a:t>
            </a:r>
            <a:r>
              <a:rPr lang="en-GB" b="0" i="0" dirty="0" err="1">
                <a:effectLst/>
              </a:rPr>
              <a:t>água</a:t>
            </a:r>
            <a:r>
              <a:rPr lang="en-GB" b="0" i="0" dirty="0">
                <a:effectLst/>
              </a:rPr>
              <a:t>, </a:t>
            </a:r>
            <a:r>
              <a:rPr lang="en-GB" b="0" i="0" dirty="0" err="1">
                <a:effectLst/>
              </a:rPr>
              <a:t>prevenir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desastres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naturais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monitorar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saúde</a:t>
            </a:r>
            <a:r>
              <a:rPr lang="en-GB" b="0" i="0" dirty="0">
                <a:effectLst/>
              </a:rPr>
              <a:t> do </a:t>
            </a:r>
            <a:r>
              <a:rPr lang="en-GB" b="0" i="0" dirty="0" err="1">
                <a:effectLst/>
              </a:rPr>
              <a:t>ecossistema</a:t>
            </a:r>
            <a:r>
              <a:rPr lang="en-GB" b="0" i="0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Sensores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tempo real </a:t>
            </a:r>
            <a:r>
              <a:rPr lang="en-GB" b="0" i="0" dirty="0" err="1">
                <a:effectLst/>
              </a:rPr>
              <a:t>fornecem</a:t>
            </a:r>
            <a:r>
              <a:rPr lang="en-GB" b="0" i="0" dirty="0">
                <a:effectLst/>
              </a:rPr>
              <a:t> dados </a:t>
            </a:r>
            <a:r>
              <a:rPr lang="en-GB" b="0" i="0" dirty="0" err="1">
                <a:effectLst/>
              </a:rPr>
              <a:t>críticos</a:t>
            </a:r>
            <a:r>
              <a:rPr lang="en-GB" b="0" i="0" dirty="0">
                <a:effectLst/>
              </a:rPr>
              <a:t> para </a:t>
            </a:r>
            <a:r>
              <a:rPr lang="en-GB" b="0" i="0" dirty="0" err="1">
                <a:effectLst/>
              </a:rPr>
              <a:t>tomada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decisões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proteção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ambiental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EDD389D-147B-2C11-167E-E29D11E6C6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/>
              <a:t>Casos de Uso da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89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</a:rPr>
              <a:t>Lazer: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No </a:t>
            </a:r>
            <a:r>
              <a:rPr lang="en-GB" b="0" i="0" dirty="0" err="1">
                <a:effectLst/>
              </a:rPr>
              <a:t>lazer</a:t>
            </a:r>
            <a:r>
              <a:rPr lang="en-GB" b="0" i="0" dirty="0">
                <a:effectLst/>
              </a:rPr>
              <a:t>, a IoT </a:t>
            </a:r>
            <a:r>
              <a:rPr lang="en-GB" b="0" i="0" dirty="0" err="1">
                <a:effectLst/>
              </a:rPr>
              <a:t>está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presente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em</a:t>
            </a:r>
            <a:r>
              <a:rPr lang="en-GB" b="0" i="0" dirty="0">
                <a:effectLst/>
              </a:rPr>
              <a:t> wearables,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fitness e </a:t>
            </a:r>
            <a:r>
              <a:rPr lang="en-GB" b="0" i="0" dirty="0" err="1">
                <a:effectLst/>
              </a:rPr>
              <a:t>entretenimento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conectado</a:t>
            </a:r>
            <a:endParaRPr lang="en-GB" b="0" i="0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</a:rPr>
              <a:t>Exemplos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incluem</a:t>
            </a:r>
            <a:r>
              <a:rPr lang="en-GB" b="0" i="0" dirty="0">
                <a:effectLst/>
              </a:rPr>
              <a:t> smartwatches </a:t>
            </a:r>
            <a:r>
              <a:rPr lang="en-GB" b="0" i="0" dirty="0" err="1">
                <a:effectLst/>
              </a:rPr>
              <a:t>que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monitoram</a:t>
            </a:r>
            <a:r>
              <a:rPr lang="en-GB" b="0" i="0" dirty="0">
                <a:effectLst/>
              </a:rPr>
              <a:t> a </a:t>
            </a:r>
            <a:r>
              <a:rPr lang="en-GB" b="0" i="0" dirty="0" err="1">
                <a:effectLst/>
              </a:rPr>
              <a:t>saúde</a:t>
            </a:r>
            <a:r>
              <a:rPr lang="en-GB" b="0" i="0" dirty="0">
                <a:effectLst/>
              </a:rPr>
              <a:t> e </a:t>
            </a:r>
            <a:r>
              <a:rPr lang="en-GB" b="0" i="0" dirty="0" err="1">
                <a:effectLst/>
              </a:rPr>
              <a:t>dispositivos</a:t>
            </a:r>
            <a:r>
              <a:rPr lang="en-GB" b="0" i="0" dirty="0">
                <a:effectLst/>
              </a:rPr>
              <a:t> de </a:t>
            </a:r>
            <a:r>
              <a:rPr lang="en-GB" b="0" i="0" dirty="0" err="1">
                <a:effectLst/>
              </a:rPr>
              <a:t>realidade</a:t>
            </a:r>
            <a:r>
              <a:rPr lang="en-GB" b="0" i="0" dirty="0">
                <a:effectLst/>
              </a:rPr>
              <a:t> virtual para </a:t>
            </a:r>
            <a:r>
              <a:rPr lang="en-GB" b="0" i="0" dirty="0" err="1">
                <a:effectLst/>
              </a:rPr>
              <a:t>experiências</a:t>
            </a:r>
            <a:r>
              <a:rPr lang="en-GB" b="0" i="0" dirty="0">
                <a:effectLst/>
              </a:rPr>
              <a:t> </a:t>
            </a:r>
            <a:r>
              <a:rPr lang="en-GB" b="0" i="0" dirty="0" err="1">
                <a:effectLst/>
              </a:rPr>
              <a:t>imersivas</a:t>
            </a:r>
            <a:r>
              <a:rPr lang="en-GB" b="0" i="0" dirty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5CF4A31-0A5A-6266-AA47-38033063A3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/>
              <a:t>Casos de Uso da Internet das </a:t>
            </a:r>
            <a:r>
              <a:rPr lang="en-GB" dirty="0" err="1"/>
              <a:t>Coisas</a:t>
            </a:r>
            <a:r>
              <a:rPr lang="en-GB" dirty="0"/>
              <a:t> (IoT)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582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FE95-3CD6-8390-8BEF-486A5C2B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FF6-1561-F88E-40D6-E3F00A0B0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>
                <a:effectLst/>
              </a:rPr>
              <a:t>A IoT </a:t>
            </a:r>
            <a:r>
              <a:rPr lang="en-GB" b="0" i="0" err="1">
                <a:effectLst/>
              </a:rPr>
              <a:t>está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transformando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múltiplos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setores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trazendo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automação</a:t>
            </a:r>
            <a:r>
              <a:rPr lang="en-GB" b="0" i="0">
                <a:effectLst/>
              </a:rPr>
              <a:t>, </a:t>
            </a:r>
            <a:r>
              <a:rPr lang="en-GB" b="0" i="0" err="1">
                <a:effectLst/>
              </a:rPr>
              <a:t>eficiência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melhores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experiências</a:t>
            </a:r>
            <a:r>
              <a:rPr lang="en-GB" b="0" i="0">
                <a:effectLst/>
              </a:rPr>
              <a:t> para as </a:t>
            </a:r>
            <a:r>
              <a:rPr lang="en-GB" b="0" i="0" err="1">
                <a:effectLst/>
              </a:rPr>
              <a:t>pessoas</a:t>
            </a:r>
            <a:r>
              <a:rPr lang="en-GB" b="0" i="0">
                <a:effectLst/>
              </a:rPr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0" i="0" err="1">
                <a:effectLst/>
              </a:rPr>
              <a:t>Esses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casos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uso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ilustram</a:t>
            </a:r>
            <a:r>
              <a:rPr lang="en-GB" b="0" i="0">
                <a:effectLst/>
              </a:rPr>
              <a:t> o </a:t>
            </a:r>
            <a:r>
              <a:rPr lang="en-GB" b="0" i="0" err="1">
                <a:effectLst/>
              </a:rPr>
              <a:t>amplo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impacto</a:t>
            </a:r>
            <a:r>
              <a:rPr lang="en-GB" b="0" i="0">
                <a:effectLst/>
              </a:rPr>
              <a:t> da IoT </a:t>
            </a:r>
            <a:r>
              <a:rPr lang="en-GB" b="0" i="0" err="1">
                <a:effectLst/>
              </a:rPr>
              <a:t>em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nossas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vidas</a:t>
            </a:r>
            <a:r>
              <a:rPr lang="en-GB" b="0" i="0">
                <a:effectLst/>
              </a:rPr>
              <a:t> e </a:t>
            </a:r>
            <a:r>
              <a:rPr lang="en-GB" b="0" i="0" err="1">
                <a:effectLst/>
              </a:rPr>
              <a:t>na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indústria</a:t>
            </a:r>
            <a:r>
              <a:rPr lang="en-GB" b="0" i="0">
                <a:effectLst/>
              </a:rPr>
              <a:t>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B75A35-3BF9-5548-E290-9A6FA8A7DA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GB" dirty="0" err="1"/>
              <a:t>Resumo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6445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39E8-AD54-CD8B-8F9F-3D4B1B4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3563C0-C85C-D7BD-995A-A25BD25278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 dirty="0" err="1"/>
              <a:t>https</a:t>
            </a:r>
            <a:r>
              <a:rPr lang="pt-PT" dirty="0"/>
              <a:t>://</a:t>
            </a:r>
            <a:r>
              <a:rPr lang="pt-PT" dirty="0" err="1"/>
              <a:t>www.youtube.com</a:t>
            </a:r>
            <a:r>
              <a:rPr lang="pt-PT" dirty="0"/>
              <a:t>/</a:t>
            </a:r>
            <a:r>
              <a:rPr lang="pt-PT" dirty="0" err="1"/>
              <a:t>watch?v</a:t>
            </a:r>
            <a:r>
              <a:rPr lang="pt-PT" dirty="0"/>
              <a:t>=b-hFSkuLd78&amp;t=281s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E04F93-2973-E018-FC7C-1E55BA11A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pt-PT" dirty="0" err="1"/>
              <a:t>Video</a:t>
            </a:r>
            <a:r>
              <a:rPr lang="pt-PT" dirty="0"/>
              <a:t> Educativo – 5G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568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39E8-AD54-CD8B-8F9F-3D4B1B4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AF69D-D232-BE09-19E7-27E8AD7425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 dirty="0" err="1"/>
              <a:t>https</a:t>
            </a:r>
            <a:r>
              <a:rPr lang="pt-PT" dirty="0"/>
              <a:t>://</a:t>
            </a:r>
            <a:r>
              <a:rPr lang="pt-PT" dirty="0" err="1"/>
              <a:t>www.youtube.com</a:t>
            </a:r>
            <a:r>
              <a:rPr lang="pt-PT" dirty="0"/>
              <a:t>/</a:t>
            </a:r>
            <a:r>
              <a:rPr lang="pt-PT" dirty="0" err="1"/>
              <a:t>watch?v</a:t>
            </a:r>
            <a:r>
              <a:rPr lang="pt-PT" dirty="0"/>
              <a:t>=c-JXF_CcpL4&amp;t=83s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BB8974C-FC29-0791-FAE5-ACDE86460C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pt-PT" dirty="0" err="1"/>
              <a:t>Video</a:t>
            </a:r>
            <a:r>
              <a:rPr lang="pt-PT" dirty="0"/>
              <a:t> Educativo – Industria 4.0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2424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39E8-AD54-CD8B-8F9F-3D4B1B4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79D6C-7449-B8FE-7904-8FB70CB88A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 dirty="0" err="1"/>
              <a:t>https</a:t>
            </a:r>
            <a:r>
              <a:rPr lang="pt-PT" dirty="0"/>
              <a:t>://</a:t>
            </a:r>
            <a:r>
              <a:rPr lang="pt-PT" dirty="0" err="1"/>
              <a:t>www.youtube.com</a:t>
            </a:r>
            <a:r>
              <a:rPr lang="pt-PT" dirty="0"/>
              <a:t>/</a:t>
            </a:r>
            <a:r>
              <a:rPr lang="pt-PT" dirty="0" err="1"/>
              <a:t>watch?v</a:t>
            </a:r>
            <a:r>
              <a:rPr lang="pt-PT" dirty="0"/>
              <a:t>=3hScMLH7B4o&amp;t=1s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67FC623-4422-E625-382B-3BA37D9987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pt-PT" dirty="0" err="1"/>
              <a:t>Video</a:t>
            </a:r>
            <a:r>
              <a:rPr lang="pt-PT" dirty="0"/>
              <a:t> Educativo – </a:t>
            </a:r>
            <a:r>
              <a:rPr lang="pt-PT" dirty="0" err="1"/>
              <a:t>Edge</a:t>
            </a:r>
            <a:r>
              <a:rPr lang="pt-PT" dirty="0"/>
              <a:t> </a:t>
            </a:r>
            <a:r>
              <a:rPr lang="pt-PT" dirty="0" err="1"/>
              <a:t>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74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10DCA1F-4290-43A3-A161-E997230B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619" y="-9268"/>
            <a:ext cx="12236619" cy="68672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1E68017-0F2F-40A8-A580-AF36CB2C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619" y="3086100"/>
            <a:ext cx="12236619" cy="6858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O</a:t>
            </a:r>
            <a:r>
              <a:rPr lang="pt-PT" sz="3200" dirty="0">
                <a:solidFill>
                  <a:schemeClr val="bg1"/>
                </a:solidFill>
              </a:rPr>
              <a:t>BRIGADO PELA VOSSA ATENÇÃO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3290261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A6B44AB8-C57E-4B4B-9DE9-D2913E18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01" y="5286562"/>
            <a:ext cx="12236619" cy="1571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-44619" y="-9268"/>
            <a:ext cx="12236619" cy="5304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2341563" y="-471488"/>
            <a:ext cx="2997200" cy="213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54" name="AutoShape 37"/>
          <p:cNvSpPr>
            <a:spLocks noChangeAspect="1" noChangeArrowheads="1" noTextEdit="1"/>
          </p:cNvSpPr>
          <p:nvPr/>
        </p:nvSpPr>
        <p:spPr bwMode="auto">
          <a:xfrm>
            <a:off x="8786813" y="4030663"/>
            <a:ext cx="36703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0" y="5667050"/>
            <a:ext cx="12189619" cy="67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1500"/>
              </a:lnSpc>
              <a:spcBef>
                <a:spcPct val="0"/>
              </a:spcBef>
              <a:buNone/>
              <a:defRPr sz="2600" b="1" u="sng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ts val="2300"/>
              </a:lnSpc>
            </a:pP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www.</a:t>
            </a:r>
            <a:r>
              <a:rPr lang="pt-PT" sz="2800" b="0" u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atec</a:t>
            </a: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.pt</a:t>
            </a:r>
            <a:endParaRPr lang="pt-PT" sz="2800" b="0" u="none" dirty="0">
              <a:solidFill>
                <a:schemeClr val="bg1"/>
              </a:solidFill>
              <a:latin typeface="+mn-lt"/>
              <a:ea typeface="Open Sans Light" panose="020B0306030504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982763" y="1219149"/>
            <a:ext cx="7206856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PALMELA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ATEC · Parque Industrial da Volkswagen Autoeuropa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2950-557 · Quinta do Anjo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212 107 300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956636" y="1304214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82763" y="2935739"/>
            <a:ext cx="7206856" cy="1250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MATOSINHOS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Siemens · Av. Mário Brito (EN107), nº 3570  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Freixieiro · 4456-901 · Perafita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220 400 500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infoporto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56636" y="3036669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BA44BE-E038-44F0-87EB-5B2726461F45}"/>
              </a:ext>
            </a:extLst>
          </p:cNvPr>
          <p:cNvSpPr/>
          <p:nvPr/>
        </p:nvSpPr>
        <p:spPr>
          <a:xfrm>
            <a:off x="-35089" y="567559"/>
            <a:ext cx="4989344" cy="4057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Segoe UI" panose="020B0502040204020203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873A391-1245-4652-BEED-9F4CF796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285" y="2320238"/>
            <a:ext cx="2848821" cy="744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Título e Sub-título">
  <a:themeElements>
    <a:clrScheme name="CORES ATEC">
      <a:dk1>
        <a:srgbClr val="134773"/>
      </a:dk1>
      <a:lt1>
        <a:sysClr val="window" lastClr="FFFFFF"/>
      </a:lt1>
      <a:dk2>
        <a:srgbClr val="6D6E71"/>
      </a:dk2>
      <a:lt2>
        <a:srgbClr val="134773"/>
      </a:lt2>
      <a:accent1>
        <a:srgbClr val="134773"/>
      </a:accent1>
      <a:accent2>
        <a:srgbClr val="0060AC"/>
      </a:accent2>
      <a:accent3>
        <a:srgbClr val="00AEEF"/>
      </a:accent3>
      <a:accent4>
        <a:srgbClr val="E85A26"/>
      </a:accent4>
      <a:accent5>
        <a:srgbClr val="F29122"/>
      </a:accent5>
      <a:accent6>
        <a:srgbClr val="FBAE47"/>
      </a:accent6>
      <a:hlink>
        <a:srgbClr val="134773"/>
      </a:hlink>
      <a:folHlink>
        <a:srgbClr val="00AEEF"/>
      </a:folHlink>
    </a:clrScheme>
    <a:fontScheme name="LETRA ATEC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RES ATEC">
    <a:dk1>
      <a:srgbClr val="134773"/>
    </a:dk1>
    <a:lt1>
      <a:sysClr val="window" lastClr="FFFFFF"/>
    </a:lt1>
    <a:dk2>
      <a:srgbClr val="6D6E71"/>
    </a:dk2>
    <a:lt2>
      <a:srgbClr val="134773"/>
    </a:lt2>
    <a:accent1>
      <a:srgbClr val="134773"/>
    </a:accent1>
    <a:accent2>
      <a:srgbClr val="0060AC"/>
    </a:accent2>
    <a:accent3>
      <a:srgbClr val="00AEEF"/>
    </a:accent3>
    <a:accent4>
      <a:srgbClr val="E85A26"/>
    </a:accent4>
    <a:accent5>
      <a:srgbClr val="F29122"/>
    </a:accent5>
    <a:accent6>
      <a:srgbClr val="FBAE47"/>
    </a:accent6>
    <a:hlink>
      <a:srgbClr val="134773"/>
    </a:hlink>
    <a:folHlink>
      <a:srgbClr val="00AEE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bc2b0-995c-4aff-9aba-f2b12d967e9b" xsi:nil="true"/>
    <lcf76f155ced4ddcb4097134ff3c332f xmlns="c824db9b-d9c7-4797-be33-505d3522994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AA3B46D399499A38902902288AE9" ma:contentTypeVersion="12" ma:contentTypeDescription="Create a new document." ma:contentTypeScope="" ma:versionID="78e900af3bac6852b7b4f0acbc6fa278">
  <xsd:schema xmlns:xsd="http://www.w3.org/2001/XMLSchema" xmlns:xs="http://www.w3.org/2001/XMLSchema" xmlns:p="http://schemas.microsoft.com/office/2006/metadata/properties" xmlns:ns2="c824db9b-d9c7-4797-be33-505d35229944" xmlns:ns3="490bc2b0-995c-4aff-9aba-f2b12d967e9b" targetNamespace="http://schemas.microsoft.com/office/2006/metadata/properties" ma:root="true" ma:fieldsID="47b3e63d2a0c4d23ba1905dcb53d5aef" ns2:_="" ns3:_="">
    <xsd:import namespace="c824db9b-d9c7-4797-be33-505d35229944"/>
    <xsd:import namespace="490bc2b0-995c-4aff-9aba-f2b12d967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db9b-d9c7-4797-be33-505d352299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30164bd-3db1-4035-80db-1f2bd81da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c2b0-995c-4aff-9aba-f2b12d967e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882fea-8b44-44a5-af3e-e8fd1d54f9dc}" ma:internalName="TaxCatchAll" ma:showField="CatchAllData" ma:web="490bc2b0-995c-4aff-9aba-f2b12d967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9C6585-F6AA-41B4-B979-BFB1807B4534}">
  <ds:schemaRefs>
    <ds:schemaRef ds:uri="http://schemas.microsoft.com/office/2006/metadata/properties"/>
    <ds:schemaRef ds:uri="http://schemas.microsoft.com/office/infopath/2007/PartnerControls"/>
    <ds:schemaRef ds:uri="b5d6457f-cca8-4519-abcc-ee100bd73b31"/>
    <ds:schemaRef ds:uri="bd68fa59-262a-45eb-a282-aff4b0a9c043"/>
    <ds:schemaRef ds:uri="490bc2b0-995c-4aff-9aba-f2b12d967e9b"/>
    <ds:schemaRef ds:uri="c824db9b-d9c7-4797-be33-505d35229944"/>
  </ds:schemaRefs>
</ds:datastoreItem>
</file>

<file path=customXml/itemProps2.xml><?xml version="1.0" encoding="utf-8"?>
<ds:datastoreItem xmlns:ds="http://schemas.openxmlformats.org/officeDocument/2006/customXml" ds:itemID="{DFBC3A8C-A081-4506-A808-7B584FA23BF7}"/>
</file>

<file path=customXml/itemProps3.xml><?xml version="1.0" encoding="utf-8"?>
<ds:datastoreItem xmlns:ds="http://schemas.openxmlformats.org/officeDocument/2006/customXml" ds:itemID="{30E6CD22-E652-4FA4-BFBB-AB320C6980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12459</TotalTime>
  <Words>3866</Words>
  <Application>Microsoft Office PowerPoint</Application>
  <PresentationFormat>Ecrã Panorâmico</PresentationFormat>
  <Paragraphs>355</Paragraphs>
  <Slides>69</Slides>
  <Notes>37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69</vt:i4>
      </vt:variant>
    </vt:vector>
  </HeadingPairs>
  <TitlesOfParts>
    <vt:vector size="70" baseType="lpstr">
      <vt:lpstr>Título e Sub-título</vt:lpstr>
      <vt:lpstr>Apresentação do PowerPoint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Evolução da Tecnologia IoT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OBRIGADO PELA VOSSA ATENÇÃO E COLABORAÇÃO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Inês Bastos</dc:creator>
  <cp:lastModifiedBy>André S. Ribeiro</cp:lastModifiedBy>
  <cp:revision>716</cp:revision>
  <cp:lastPrinted>2019-02-18T11:33:32Z</cp:lastPrinted>
  <dcterms:created xsi:type="dcterms:W3CDTF">2017-04-05T12:09:40Z</dcterms:created>
  <dcterms:modified xsi:type="dcterms:W3CDTF">2025-10-10T18:29:50Z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0x010100CEA9AA3B46D399499A38902902288AE9</vt:lpwstr>
  </property>
  <property fmtid="{D5CDD505-2E9C-101B-9397-08002B2CF9AE}" pid="3" name="MediaServiceImageTags">
    <vt:lpwstr/>
  </property>
</Properties>
</file>