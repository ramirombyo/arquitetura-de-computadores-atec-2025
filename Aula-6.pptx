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18"/>
  </p:notesMasterIdLst>
  <p:sldIdLst>
    <p:sldId id="303" r:id="rId5"/>
    <p:sldId id="3035" r:id="rId6"/>
    <p:sldId id="342" r:id="rId7"/>
    <p:sldId id="344" r:id="rId8"/>
    <p:sldId id="3036" r:id="rId9"/>
    <p:sldId id="3037" r:id="rId10"/>
    <p:sldId id="3038" r:id="rId11"/>
    <p:sldId id="3039" r:id="rId12"/>
    <p:sldId id="3040" r:id="rId13"/>
    <p:sldId id="3041" r:id="rId14"/>
    <p:sldId id="3042" r:id="rId15"/>
    <p:sldId id="2991" r:id="rId16"/>
    <p:sldId id="2957" r:id="rId17"/>
  </p:sldIdLst>
  <p:sldSz cx="12192000" cy="6858000"/>
  <p:notesSz cx="7099300" cy="10234613"/>
  <p:defaultTextStyle>
    <a:defPPr>
      <a:defRPr lang="pt-PT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3" userDrawn="1">
          <p15:clr>
            <a:srgbClr val="A4A3A4"/>
          </p15:clr>
        </p15:guide>
        <p15:guide id="2" pos="370" userDrawn="1">
          <p15:clr>
            <a:srgbClr val="A4A3A4"/>
          </p15:clr>
        </p15:guide>
        <p15:guide id="4" orient="horz" pos="1979" userDrawn="1">
          <p15:clr>
            <a:srgbClr val="A4A3A4"/>
          </p15:clr>
        </p15:guide>
        <p15:guide id="5" orient="horz" pos="3770" userDrawn="1">
          <p15:clr>
            <a:srgbClr val="A4A3A4"/>
          </p15:clr>
        </p15:guide>
        <p15:guide id="6" orient="horz" pos="550" userDrawn="1">
          <p15:clr>
            <a:srgbClr val="A4A3A4"/>
          </p15:clr>
        </p15:guide>
        <p15:guide id="7" pos="3613" userDrawn="1">
          <p15:clr>
            <a:srgbClr val="A4A3A4"/>
          </p15:clr>
        </p15:guide>
        <p15:guide id="8" pos="7310" userDrawn="1">
          <p15:clr>
            <a:srgbClr val="A4A3A4"/>
          </p15:clr>
        </p15:guide>
        <p15:guide id="9" pos="619" userDrawn="1">
          <p15:clr>
            <a:srgbClr val="A4A3A4"/>
          </p15:clr>
        </p15:guide>
        <p15:guide id="10" pos="4226" userDrawn="1">
          <p15:clr>
            <a:srgbClr val="A4A3A4"/>
          </p15:clr>
        </p15:guide>
        <p15:guide id="11" orient="horz" pos="3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1F2F2"/>
    <a:srgbClr val="05687F"/>
    <a:srgbClr val="2BACE2"/>
    <a:srgbClr val="042F5B"/>
    <a:srgbClr val="B7B7B7"/>
    <a:srgbClr val="C8C8C8"/>
    <a:srgbClr val="B5B5B5"/>
    <a:srgbClr val="CACACA"/>
    <a:srgbClr val="F29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B7E63-DC7F-4EE5-B5CE-44D0B9B4297B}" v="6" dt="2025-10-06T14:33:45.3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75" autoAdjust="0"/>
    <p:restoredTop sz="96005" autoAdjust="0"/>
  </p:normalViewPr>
  <p:slideViewPr>
    <p:cSldViewPr snapToGrid="0">
      <p:cViewPr varScale="1">
        <p:scale>
          <a:sx n="127" d="100"/>
          <a:sy n="127" d="100"/>
        </p:scale>
        <p:origin x="1096" y="176"/>
      </p:cViewPr>
      <p:guideLst>
        <p:guide orient="horz" pos="1003"/>
        <p:guide pos="370"/>
        <p:guide orient="horz" pos="1979"/>
        <p:guide orient="horz" pos="3770"/>
        <p:guide orient="horz" pos="550"/>
        <p:guide pos="3613"/>
        <p:guide pos="7310"/>
        <p:guide pos="619"/>
        <p:guide pos="4226"/>
        <p:guide orient="horz" pos="3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8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a Sofia Azevedo Varela" userId="S::adriana.varela.t0133354@edu.atec.pt::f10789e9-d137-4f60-a06c-4ad534c2ea1b" providerId="AD" clId="Web-{382B7E63-DC7F-4EE5-B5CE-44D0B9B4297B}"/>
    <pc:docChg chg="modSld">
      <pc:chgData name="Adriana Sofia Azevedo Varela" userId="S::adriana.varela.t0133354@edu.atec.pt::f10789e9-d137-4f60-a06c-4ad534c2ea1b" providerId="AD" clId="Web-{382B7E63-DC7F-4EE5-B5CE-44D0B9B4297B}" dt="2025-10-06T14:33:45.360" v="5"/>
      <pc:docMkLst>
        <pc:docMk/>
      </pc:docMkLst>
      <pc:sldChg chg="addSp delSp">
        <pc:chgData name="Adriana Sofia Azevedo Varela" userId="S::adriana.varela.t0133354@edu.atec.pt::f10789e9-d137-4f60-a06c-4ad534c2ea1b" providerId="AD" clId="Web-{382B7E63-DC7F-4EE5-B5CE-44D0B9B4297B}" dt="2025-10-06T14:33:45.360" v="5"/>
        <pc:sldMkLst>
          <pc:docMk/>
          <pc:sldMk cId="3891638381" sldId="3037"/>
        </pc:sldMkLst>
        <pc:inkChg chg="add del">
          <ac:chgData name="Adriana Sofia Azevedo Varela" userId="S::adriana.varela.t0133354@edu.atec.pt::f10789e9-d137-4f60-a06c-4ad534c2ea1b" providerId="AD" clId="Web-{382B7E63-DC7F-4EE5-B5CE-44D0B9B4297B}" dt="2025-10-06T14:33:21.282" v="1"/>
          <ac:inkMkLst>
            <pc:docMk/>
            <pc:sldMk cId="3891638381" sldId="3037"/>
            <ac:inkMk id="5" creationId="{8460823B-29C2-D909-149D-9C168704B614}"/>
          </ac:inkMkLst>
        </pc:inkChg>
        <pc:inkChg chg="add del">
          <ac:chgData name="Adriana Sofia Azevedo Varela" userId="S::adriana.varela.t0133354@edu.atec.pt::f10789e9-d137-4f60-a06c-4ad534c2ea1b" providerId="AD" clId="Web-{382B7E63-DC7F-4EE5-B5CE-44D0B9B4297B}" dt="2025-10-06T14:33:35.766" v="3"/>
          <ac:inkMkLst>
            <pc:docMk/>
            <pc:sldMk cId="3891638381" sldId="3037"/>
            <ac:inkMk id="6" creationId="{5DDDCFE3-4180-42E6-EB5A-E20BB8984D72}"/>
          </ac:inkMkLst>
        </pc:inkChg>
        <pc:inkChg chg="add del">
          <ac:chgData name="Adriana Sofia Azevedo Varela" userId="S::adriana.varela.t0133354@edu.atec.pt::f10789e9-d137-4f60-a06c-4ad534c2ea1b" providerId="AD" clId="Web-{382B7E63-DC7F-4EE5-B5CE-44D0B9B4297B}" dt="2025-10-06T14:33:45.360" v="5"/>
          <ac:inkMkLst>
            <pc:docMk/>
            <pc:sldMk cId="3891638381" sldId="3037"/>
            <ac:inkMk id="7" creationId="{40BE0B84-F589-86E4-9482-9E6C965A784A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6C4126C-DCDA-49DB-A2BC-A62BEB6C9507}" type="datetimeFigureOut">
              <a:rPr lang="pt-PT" smtClean="0"/>
              <a:pPr/>
              <a:t>06/10/2025</a:t>
            </a:fld>
            <a:endParaRPr lang="pt-P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P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Segoe UI" panose="020B0502040204020203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Segoe UI" panose="020B0502040204020203" pitchFamily="34" charset="0"/>
              </a:defRPr>
            </a:lvl1pPr>
          </a:lstStyle>
          <a:p>
            <a:fld id="{2A46B27F-7627-47E3-BCCB-824837DAC44F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73867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46B27F-7627-47E3-BCCB-824837DAC44F}" type="slidenum">
              <a:rPr lang="pt-PT" smtClean="0"/>
              <a:pPr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45911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844370CF-6371-4608-9DB1-6FFB002993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1457367-E0AD-4641-B199-08FCAFD04C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842E9C6-AE9B-4E89-A06A-8789787426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280517"/>
            <a:ext cx="12192000" cy="731838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 dirty="0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0676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451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8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7274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</p:spTree>
    <p:extLst>
      <p:ext uri="{BB962C8B-B14F-4D97-AF65-F5344CB8AC3E}">
        <p14:creationId xmlns:p14="http://schemas.microsoft.com/office/powerpoint/2010/main" val="326335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014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rgbClr val="13477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69535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211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B2F20D-03D8-4169-B30C-F63D690654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48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Sub-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ACC5560-A4FF-4E86-9DE2-4AE66E915D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83321" y="1224733"/>
            <a:ext cx="10995535" cy="417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923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91123E0-D667-4FE9-87BC-0A11B602EF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60858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pt-PT" dirty="0"/>
              <a:t>CLIQUE PARA EDITAR O ESTILO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579642" y="1224732"/>
            <a:ext cx="11029541" cy="30980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926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F9D2C4-13BB-4100-B9F5-DA96BF39C0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95A1C4-7284-4A03-8A1C-5AFEA742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pt-PT" dirty="0"/>
              <a:t>Clique para editar o estilo de título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714940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-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53849F3-22FA-4D1B-A226-1FA26FC2E4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715734"/>
            <a:ext cx="5514516" cy="37897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66184" y="1224733"/>
            <a:ext cx="5512672" cy="41709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Sub-</a:t>
            </a:r>
            <a:r>
              <a:rPr lang="en-US" dirty="0" err="1"/>
              <a:t>título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864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3C9D125-4EBB-48C0-8865-5B930ED21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  <p:sp>
        <p:nvSpPr>
          <p:cNvPr id="7" name="Marcador de Posição da Imagem 6">
            <a:extLst>
              <a:ext uri="{FF2B5EF4-FFF2-40B4-BE49-F238E27FC236}">
                <a16:creationId xmlns:a16="http://schemas.microsoft.com/office/drawing/2014/main" id="{6AA28ED5-1806-4E62-B34D-D06A6B2907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223963"/>
            <a:ext cx="5513388" cy="4281487"/>
          </a:xfrm>
        </p:spPr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2817" y="390526"/>
            <a:ext cx="9484727" cy="6858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TÍTULO DO SLIDE</a:t>
            </a:r>
            <a:endParaRPr lang="pt-PT" dirty="0"/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0"/>
          </p:nvPr>
        </p:nvSpPr>
        <p:spPr>
          <a:xfrm>
            <a:off x="6064340" y="1223963"/>
            <a:ext cx="5514516" cy="42814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20465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55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ATEC branco - Fundo e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F040E86-0E21-4B5F-8BEE-C084CC25C8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1999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75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39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DBBB4069-AFF1-4D14-BA73-A9C31D80615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50421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pt-P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9120" y="1224732"/>
            <a:ext cx="11033760" cy="417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 txBox="1">
            <a:spLocks/>
          </p:cNvSpPr>
          <p:nvPr userDrawn="1"/>
        </p:nvSpPr>
        <p:spPr>
          <a:xfrm>
            <a:off x="990600" y="542926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92068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4" r:id="rId2"/>
    <p:sldLayoutId id="2147483706" r:id="rId3"/>
    <p:sldLayoutId id="2147483695" r:id="rId4"/>
    <p:sldLayoutId id="2147483707" r:id="rId5"/>
    <p:sldLayoutId id="2147483709" r:id="rId6"/>
    <p:sldLayoutId id="2147483710" r:id="rId7"/>
    <p:sldLayoutId id="2147483699" r:id="rId8"/>
    <p:sldLayoutId id="2147483703" r:id="rId9"/>
    <p:sldLayoutId id="2147483713" r:id="rId10"/>
    <p:sldLayoutId id="2147483704" r:id="rId11"/>
    <p:sldLayoutId id="2147483714" r:id="rId12"/>
    <p:sldLayoutId id="2147483711" r:id="rId13"/>
    <p:sldLayoutId id="2147483712" r:id="rId14"/>
    <p:sldLayoutId id="2147483701" r:id="rId15"/>
    <p:sldLayoutId id="214748371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134773"/>
          </a:solidFill>
          <a:latin typeface="Segoe UI Bold" panose="020B0802040204020203" pitchFamily="34" charset="0"/>
          <a:ea typeface="+mj-ea"/>
          <a:cs typeface="Segoe UI Bold" panose="020B08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rgbClr val="00B0F0"/>
          </a:solidFill>
          <a:latin typeface="Segoe UI Semibold" panose="020B0702040204020203" pitchFamily="34" charset="0"/>
          <a:ea typeface="Open Sans Semibold" panose="020B0706030804020204" pitchFamily="34" charset="0"/>
          <a:cs typeface="Segoe UI Semibold" panose="020B07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3">
              <a:lumMod val="50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3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476C946-46AB-45F8-806D-B34BC9EF66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pt-PT" dirty="0"/>
              <a:t>Arquitetura Computadores</a:t>
            </a:r>
          </a:p>
        </p:txBody>
      </p:sp>
      <p:sp>
        <p:nvSpPr>
          <p:cNvPr id="32" name="AutoShape 18"/>
          <p:cNvSpPr>
            <a:spLocks noChangeAspect="1" noChangeArrowheads="1" noTextEdit="1"/>
          </p:cNvSpPr>
          <p:nvPr/>
        </p:nvSpPr>
        <p:spPr bwMode="auto">
          <a:xfrm>
            <a:off x="-220663" y="5072063"/>
            <a:ext cx="286385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4560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PT" dirty="0"/>
              <a:t>Arquitetura de Computadores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41A90F9-B9B3-4454-A694-62D71243D6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Round Robin (RR)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Exercicios</a:t>
            </a:r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439AA-ACA6-813D-C173-3CDCDCF095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Topicos</a:t>
            </a:r>
            <a:r>
              <a:rPr lang="en-US" dirty="0"/>
              <a:t> Aula</a:t>
            </a:r>
          </a:p>
        </p:txBody>
      </p:sp>
    </p:spTree>
    <p:extLst>
      <p:ext uri="{BB962C8B-B14F-4D97-AF65-F5344CB8AC3E}">
        <p14:creationId xmlns:p14="http://schemas.microsoft.com/office/powerpoint/2010/main" val="223352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Como </a:t>
            </a:r>
            <a:r>
              <a:rPr lang="en-US" b="1" dirty="0" err="1"/>
              <a:t>funciona</a:t>
            </a:r>
            <a:r>
              <a:rPr lang="en-US" b="1" dirty="0"/>
              <a:t>:</a:t>
            </a:r>
          </a:p>
          <a:p>
            <a:pPr lvl="1">
              <a:spcAft>
                <a:spcPts val="600"/>
              </a:spcAft>
            </a:pP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processos</a:t>
            </a:r>
            <a:r>
              <a:rPr lang="en-US" dirty="0"/>
              <a:t> </a:t>
            </a:r>
            <a:r>
              <a:rPr lang="en-US" dirty="0" err="1"/>
              <a:t>recebem</a:t>
            </a:r>
            <a:r>
              <a:rPr lang="en-US" dirty="0"/>
              <a:t> um tempo </a:t>
            </a:r>
            <a:r>
              <a:rPr lang="en-US" dirty="0" err="1"/>
              <a:t>máximo</a:t>
            </a:r>
            <a:r>
              <a:rPr lang="en-US" dirty="0"/>
              <a:t> de </a:t>
            </a:r>
            <a:r>
              <a:rPr lang="en-US" dirty="0" err="1"/>
              <a:t>execução</a:t>
            </a:r>
            <a:r>
              <a:rPr lang="en-US" dirty="0"/>
              <a:t> (quantum).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Se o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terminar</a:t>
            </a:r>
            <a:r>
              <a:rPr lang="en-US" dirty="0"/>
              <a:t> </a:t>
            </a:r>
            <a:r>
              <a:rPr lang="en-US" dirty="0" err="1"/>
              <a:t>nesse</a:t>
            </a:r>
            <a:r>
              <a:rPr lang="en-US" dirty="0"/>
              <a:t> tempo,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interrompido</a:t>
            </a:r>
            <a:r>
              <a:rPr lang="en-US" dirty="0"/>
              <a:t> e </a:t>
            </a:r>
            <a:r>
              <a:rPr lang="en-US" dirty="0" err="1"/>
              <a:t>colocado</a:t>
            </a:r>
            <a:r>
              <a:rPr lang="en-US" dirty="0"/>
              <a:t> no final da fila.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 </a:t>
            </a:r>
            <a:r>
              <a:rPr lang="en-US" dirty="0" err="1"/>
              <a:t>próximo</a:t>
            </a:r>
            <a:r>
              <a:rPr lang="en-US" dirty="0"/>
              <a:t> </a:t>
            </a:r>
            <a:r>
              <a:rPr lang="en-US" dirty="0" err="1"/>
              <a:t>processo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fila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executado</a:t>
            </a:r>
            <a:r>
              <a:rPr lang="en-US" dirty="0"/>
              <a:t>, e o </a:t>
            </a:r>
            <a:r>
              <a:rPr lang="en-US" dirty="0" err="1"/>
              <a:t>ciclo</a:t>
            </a:r>
            <a:r>
              <a:rPr lang="en-US" dirty="0"/>
              <a:t> se </a:t>
            </a:r>
            <a:r>
              <a:rPr lang="en-US" dirty="0" err="1"/>
              <a:t>repete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b="1" dirty="0" err="1"/>
              <a:t>Características</a:t>
            </a:r>
            <a:r>
              <a:rPr lang="en-US" b="1" dirty="0"/>
              <a:t>: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Ideal para </a:t>
            </a: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interativos</a:t>
            </a:r>
            <a:r>
              <a:rPr lang="en-US" dirty="0"/>
              <a:t>,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necessário</a:t>
            </a:r>
            <a:r>
              <a:rPr lang="en-US" dirty="0"/>
              <a:t> </a:t>
            </a:r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um </a:t>
            </a:r>
            <a:r>
              <a:rPr lang="en-US" dirty="0" err="1"/>
              <a:t>processo</a:t>
            </a:r>
            <a:r>
              <a:rPr lang="en-US" dirty="0"/>
              <a:t> monopolize o CPU.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 </a:t>
            </a:r>
            <a:r>
              <a:rPr lang="en-US" dirty="0" err="1"/>
              <a:t>desempenho</a:t>
            </a:r>
            <a:r>
              <a:rPr lang="en-US" dirty="0"/>
              <a:t> </a:t>
            </a:r>
            <a:r>
              <a:rPr lang="en-US" dirty="0" err="1"/>
              <a:t>depende</a:t>
            </a:r>
            <a:r>
              <a:rPr lang="en-US" dirty="0"/>
              <a:t> </a:t>
            </a:r>
            <a:r>
              <a:rPr lang="en-US" dirty="0" err="1"/>
              <a:t>muito</a:t>
            </a:r>
            <a:r>
              <a:rPr lang="en-US" dirty="0"/>
              <a:t> do </a:t>
            </a:r>
            <a:r>
              <a:rPr lang="en-US" dirty="0" err="1"/>
              <a:t>tamanho</a:t>
            </a:r>
            <a:r>
              <a:rPr lang="en-US" dirty="0"/>
              <a:t> do quantum: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Um quantum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pequeno</a:t>
            </a:r>
            <a:r>
              <a:rPr lang="en-US" dirty="0"/>
              <a:t> </a:t>
            </a:r>
            <a:r>
              <a:rPr lang="en-US" dirty="0" err="1"/>
              <a:t>aumenta</a:t>
            </a:r>
            <a:r>
              <a:rPr lang="en-US" dirty="0"/>
              <a:t> a </a:t>
            </a:r>
            <a:r>
              <a:rPr lang="en-US" dirty="0" err="1"/>
              <a:t>sobrecarga</a:t>
            </a:r>
            <a:r>
              <a:rPr lang="en-US" dirty="0"/>
              <a:t> (</a:t>
            </a:r>
            <a:r>
              <a:rPr lang="en-US" dirty="0" err="1"/>
              <a:t>trocas</a:t>
            </a:r>
            <a:r>
              <a:rPr lang="en-US" dirty="0"/>
              <a:t> </a:t>
            </a:r>
            <a:r>
              <a:rPr lang="en-US" dirty="0" err="1"/>
              <a:t>frequentes</a:t>
            </a:r>
            <a:r>
              <a:rPr lang="en-US" dirty="0"/>
              <a:t> de </a:t>
            </a:r>
            <a:r>
              <a:rPr lang="en-US" dirty="0" err="1"/>
              <a:t>contexto</a:t>
            </a:r>
            <a:r>
              <a:rPr lang="en-US" dirty="0"/>
              <a:t>).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Um quantum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grande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o RR se </a:t>
            </a:r>
            <a:r>
              <a:rPr lang="en-US" dirty="0" err="1"/>
              <a:t>comportar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o FIFO.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A8DFDB1-3027-5A3C-4293-C7AA512F9B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Round Robin (RR)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17" y="390526"/>
            <a:ext cx="9484727" cy="685800"/>
          </a:xfrm>
        </p:spPr>
        <p:txBody>
          <a:bodyPr anchor="ctr">
            <a:normAutofit/>
          </a:bodyPr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3246438"/>
          </a:xfrm>
        </p:spPr>
        <p:txBody>
          <a:bodyPr>
            <a:normAutofit/>
          </a:bodyPr>
          <a:lstStyle/>
          <a:p>
            <a:r>
              <a:rPr lang="en-US" b="1"/>
              <a:t>Exemplo:</a:t>
            </a:r>
          </a:p>
          <a:p>
            <a:r>
              <a:rPr lang="en-US"/>
              <a:t>Com um quantum de 4 unidades de tempo:</a:t>
            </a:r>
          </a:p>
          <a:p>
            <a:pPr lvl="1"/>
            <a:r>
              <a:rPr lang="en-US"/>
              <a:t>P1 executa por 4 unidades e, se não terminar, vai para o final da fila.</a:t>
            </a:r>
          </a:p>
          <a:p>
            <a:pPr lvl="1"/>
            <a:r>
              <a:rPr lang="en-US"/>
              <a:t>P2 é executado por 4 unidades, e assim por diante.</a:t>
            </a:r>
          </a:p>
          <a:p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7163C363-C9FD-0626-680D-21D8459315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3321" y="1224733"/>
            <a:ext cx="10995535" cy="417091"/>
          </a:xfrm>
        </p:spPr>
        <p:txBody>
          <a:bodyPr/>
          <a:lstStyle/>
          <a:p>
            <a:r>
              <a:rPr lang="en-US" dirty="0"/>
              <a:t>Round Robin (RR)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E044-C583-A537-D6E4-A664681FC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D7F4E-93C0-4F62-C05D-448F3777B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29318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/>
              <a:t>Exercício</a:t>
            </a:r>
            <a:r>
              <a:rPr lang="en-US" b="1" dirty="0"/>
              <a:t> 1</a:t>
            </a:r>
          </a:p>
          <a:p>
            <a:pPr marL="457200" lvl="1" indent="0">
              <a:buNone/>
            </a:pPr>
            <a:r>
              <a:rPr lang="en-US" b="1" dirty="0"/>
              <a:t>Quantum = 3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Processos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P1: </a:t>
            </a:r>
            <a:r>
              <a:rPr lang="en-US" dirty="0" err="1"/>
              <a:t>chegada</a:t>
            </a:r>
            <a:r>
              <a:rPr lang="en-US" dirty="0"/>
              <a:t> = 0, burst = 5</a:t>
            </a:r>
          </a:p>
          <a:p>
            <a:pPr marL="914400" lvl="2" indent="0">
              <a:buNone/>
            </a:pPr>
            <a:r>
              <a:rPr lang="en-US" dirty="0"/>
              <a:t>P2: </a:t>
            </a:r>
            <a:r>
              <a:rPr lang="en-US" dirty="0" err="1"/>
              <a:t>chegada</a:t>
            </a:r>
            <a:r>
              <a:rPr lang="en-US" dirty="0"/>
              <a:t> = 1, burst = 7</a:t>
            </a:r>
          </a:p>
          <a:p>
            <a:pPr marL="914400" lvl="2" indent="0">
              <a:buNone/>
            </a:pPr>
            <a:r>
              <a:rPr lang="en-US" dirty="0"/>
              <a:t>P3: </a:t>
            </a:r>
            <a:r>
              <a:rPr lang="en-US" dirty="0" err="1"/>
              <a:t>chegada</a:t>
            </a:r>
            <a:r>
              <a:rPr lang="en-US" dirty="0"/>
              <a:t> = 2, burst = 4</a:t>
            </a:r>
          </a:p>
          <a:p>
            <a:pPr marL="914400" lvl="2" indent="0">
              <a:buNone/>
            </a:pPr>
            <a:r>
              <a:rPr lang="en-US" dirty="0"/>
              <a:t>P4: </a:t>
            </a:r>
            <a:r>
              <a:rPr lang="en-US" dirty="0" err="1"/>
              <a:t>chegada</a:t>
            </a:r>
            <a:r>
              <a:rPr lang="en-US" dirty="0"/>
              <a:t> = 3, burst = 6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 err="1"/>
              <a:t>Exercício</a:t>
            </a:r>
            <a:r>
              <a:rPr lang="en-US" b="1" dirty="0"/>
              <a:t> 2</a:t>
            </a:r>
          </a:p>
          <a:p>
            <a:pPr marL="457200" lvl="1" indent="0">
              <a:buNone/>
            </a:pPr>
            <a:r>
              <a:rPr lang="en-US" b="1" dirty="0"/>
              <a:t>Quantum = 2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Processos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P1: </a:t>
            </a:r>
            <a:r>
              <a:rPr lang="en-US" dirty="0" err="1"/>
              <a:t>chegada</a:t>
            </a:r>
            <a:r>
              <a:rPr lang="en-US" dirty="0"/>
              <a:t> = 0, burst = 8</a:t>
            </a:r>
          </a:p>
          <a:p>
            <a:pPr marL="914400" lvl="2" indent="0">
              <a:buNone/>
            </a:pPr>
            <a:r>
              <a:rPr lang="en-US" dirty="0"/>
              <a:t>P2: </a:t>
            </a:r>
            <a:r>
              <a:rPr lang="en-US" dirty="0" err="1"/>
              <a:t>chegada</a:t>
            </a:r>
            <a:r>
              <a:rPr lang="en-US" dirty="0"/>
              <a:t> = 1, burst = 5</a:t>
            </a:r>
          </a:p>
          <a:p>
            <a:pPr marL="914400" lvl="2" indent="0">
              <a:buNone/>
            </a:pPr>
            <a:r>
              <a:rPr lang="en-US" dirty="0"/>
              <a:t>P3: </a:t>
            </a:r>
            <a:r>
              <a:rPr lang="en-US" dirty="0" err="1"/>
              <a:t>chegada</a:t>
            </a:r>
            <a:r>
              <a:rPr lang="en-US" dirty="0"/>
              <a:t> = 2, burst = 10</a:t>
            </a:r>
          </a:p>
          <a:p>
            <a:pPr marL="914400" lvl="2" indent="0">
              <a:buNone/>
            </a:pPr>
            <a:r>
              <a:rPr lang="en-US" dirty="0"/>
              <a:t>P4: </a:t>
            </a:r>
            <a:r>
              <a:rPr lang="en-US" dirty="0" err="1"/>
              <a:t>chegada</a:t>
            </a:r>
            <a:r>
              <a:rPr lang="en-US" dirty="0"/>
              <a:t> = 3, burst = 4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8B7B5-EB95-E774-3486-83C9721E0C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Exercicios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55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BD6DF-C0BF-9E42-5846-848AE435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A233-A672-71B3-A76E-1539BB76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2FFE6-806B-CD5E-0702-0EFDCBC65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453954"/>
          </a:xfrm>
        </p:spPr>
        <p:txBody>
          <a:bodyPr>
            <a:normAutofit fontScale="85000" lnSpcReduction="20000"/>
          </a:bodyPr>
          <a:lstStyle/>
          <a:p>
            <a:r>
              <a:rPr lang="en-US" sz="1100" b="1" dirty="0" err="1"/>
              <a:t>Exercício</a:t>
            </a:r>
            <a:r>
              <a:rPr lang="en-US" sz="1100" b="1" dirty="0"/>
              <a:t> 3</a:t>
            </a:r>
          </a:p>
          <a:p>
            <a:pPr marL="457200" lvl="1" indent="0">
              <a:buNone/>
            </a:pPr>
            <a:r>
              <a:rPr lang="en-US" sz="1100" b="1" dirty="0"/>
              <a:t>Quantum = 4</a:t>
            </a:r>
            <a:endParaRPr lang="en-US" sz="1100" dirty="0"/>
          </a:p>
          <a:p>
            <a:pPr marL="457200" lvl="1" indent="0">
              <a:buNone/>
            </a:pPr>
            <a:r>
              <a:rPr lang="en-US" sz="1100" dirty="0" err="1"/>
              <a:t>Processos</a:t>
            </a:r>
            <a:r>
              <a:rPr lang="en-US" sz="1100" dirty="0"/>
              <a:t>:</a:t>
            </a:r>
          </a:p>
          <a:p>
            <a:pPr marL="914400" lvl="2" indent="0">
              <a:buNone/>
            </a:pPr>
            <a:r>
              <a:rPr lang="en-US" sz="1100" dirty="0"/>
              <a:t>P1: </a:t>
            </a:r>
            <a:r>
              <a:rPr lang="en-US" sz="1100" dirty="0" err="1"/>
              <a:t>chegada</a:t>
            </a:r>
            <a:r>
              <a:rPr lang="en-US" sz="1100" dirty="0"/>
              <a:t> = 0, burst = 9</a:t>
            </a:r>
          </a:p>
          <a:p>
            <a:pPr marL="914400" lvl="2" indent="0">
              <a:buNone/>
            </a:pPr>
            <a:r>
              <a:rPr lang="en-US" sz="1100" dirty="0"/>
              <a:t>P2: </a:t>
            </a:r>
            <a:r>
              <a:rPr lang="en-US" sz="1100" dirty="0" err="1"/>
              <a:t>chegada</a:t>
            </a:r>
            <a:r>
              <a:rPr lang="en-US" sz="1100" dirty="0"/>
              <a:t> = 0, burst = 5</a:t>
            </a:r>
          </a:p>
          <a:p>
            <a:pPr marL="914400" lvl="2" indent="0">
              <a:buNone/>
            </a:pPr>
            <a:r>
              <a:rPr lang="en-US" sz="1100" dirty="0"/>
              <a:t>P3: </a:t>
            </a:r>
            <a:r>
              <a:rPr lang="en-US" sz="1100" dirty="0" err="1"/>
              <a:t>chegada</a:t>
            </a:r>
            <a:r>
              <a:rPr lang="en-US" sz="1100" dirty="0"/>
              <a:t> = 1, burst = 7</a:t>
            </a:r>
          </a:p>
          <a:p>
            <a:pPr marL="914400" lvl="2" indent="0">
              <a:buNone/>
            </a:pPr>
            <a:r>
              <a:rPr lang="en-US" sz="1100" dirty="0"/>
              <a:t>P4: </a:t>
            </a:r>
            <a:r>
              <a:rPr lang="en-US" sz="1100" dirty="0" err="1"/>
              <a:t>chegada</a:t>
            </a:r>
            <a:r>
              <a:rPr lang="en-US" sz="1100" dirty="0"/>
              <a:t> = 2, burst = 6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 err="1"/>
              <a:t>Exercício</a:t>
            </a:r>
            <a:r>
              <a:rPr lang="en-US" sz="1100" b="1" dirty="0"/>
              <a:t> 4</a:t>
            </a:r>
          </a:p>
          <a:p>
            <a:pPr marL="457200" lvl="1" indent="0">
              <a:buNone/>
            </a:pPr>
            <a:r>
              <a:rPr lang="en-US" sz="1100" b="1" dirty="0"/>
              <a:t>Quantum = 5</a:t>
            </a:r>
            <a:endParaRPr lang="en-US" sz="1100" dirty="0"/>
          </a:p>
          <a:p>
            <a:pPr marL="457200" lvl="1" indent="0">
              <a:buNone/>
            </a:pPr>
            <a:r>
              <a:rPr lang="en-US" sz="1100" dirty="0" err="1"/>
              <a:t>Processos</a:t>
            </a:r>
            <a:r>
              <a:rPr lang="en-US" sz="1100" dirty="0"/>
              <a:t>:</a:t>
            </a:r>
          </a:p>
          <a:p>
            <a:pPr marL="914400" lvl="2" indent="0">
              <a:buNone/>
            </a:pPr>
            <a:r>
              <a:rPr lang="en-US" sz="1100" dirty="0"/>
              <a:t>P1: </a:t>
            </a:r>
            <a:r>
              <a:rPr lang="en-US" sz="1100" dirty="0" err="1"/>
              <a:t>chegada</a:t>
            </a:r>
            <a:r>
              <a:rPr lang="en-US" sz="1100" dirty="0"/>
              <a:t> = 0, burst = 12</a:t>
            </a:r>
          </a:p>
          <a:p>
            <a:pPr marL="914400" lvl="2" indent="0">
              <a:buNone/>
            </a:pPr>
            <a:r>
              <a:rPr lang="en-US" sz="1100" dirty="0"/>
              <a:t>P2: </a:t>
            </a:r>
            <a:r>
              <a:rPr lang="en-US" sz="1100" dirty="0" err="1"/>
              <a:t>chegada</a:t>
            </a:r>
            <a:r>
              <a:rPr lang="en-US" sz="1100" dirty="0"/>
              <a:t> = 2, burst = 7</a:t>
            </a:r>
          </a:p>
          <a:p>
            <a:pPr marL="914400" lvl="2" indent="0">
              <a:buNone/>
            </a:pPr>
            <a:r>
              <a:rPr lang="en-US" sz="1100" dirty="0"/>
              <a:t>P3: </a:t>
            </a:r>
            <a:r>
              <a:rPr lang="en-US" sz="1100" dirty="0" err="1"/>
              <a:t>chegada</a:t>
            </a:r>
            <a:r>
              <a:rPr lang="en-US" sz="1100" dirty="0"/>
              <a:t> = 4, burst = 5</a:t>
            </a:r>
          </a:p>
          <a:p>
            <a:pPr marL="914400" lvl="2" indent="0">
              <a:buNone/>
            </a:pPr>
            <a:r>
              <a:rPr lang="en-US" sz="1100" dirty="0"/>
              <a:t>P4: </a:t>
            </a:r>
            <a:r>
              <a:rPr lang="en-US" sz="1100" dirty="0" err="1"/>
              <a:t>chegada</a:t>
            </a:r>
            <a:r>
              <a:rPr lang="en-US" sz="1100" dirty="0"/>
              <a:t> = 6, burst = 10</a:t>
            </a:r>
          </a:p>
          <a:p>
            <a:br>
              <a:rPr lang="en-US" sz="1100" dirty="0"/>
            </a:br>
            <a:endParaRPr lang="en-US" sz="1100" dirty="0"/>
          </a:p>
          <a:p>
            <a:r>
              <a:rPr lang="en-US" sz="1100" b="1" dirty="0" err="1"/>
              <a:t>Exercício</a:t>
            </a:r>
            <a:r>
              <a:rPr lang="en-US" sz="1100" b="1" dirty="0"/>
              <a:t> 5</a:t>
            </a:r>
          </a:p>
          <a:p>
            <a:pPr marL="457200" lvl="1" indent="0">
              <a:buNone/>
            </a:pPr>
            <a:r>
              <a:rPr lang="en-US" sz="1100" b="1" dirty="0"/>
              <a:t>Quantum = 3</a:t>
            </a:r>
            <a:endParaRPr lang="en-US" sz="1100" dirty="0"/>
          </a:p>
          <a:p>
            <a:pPr marL="457200" lvl="1" indent="0">
              <a:buNone/>
            </a:pPr>
            <a:r>
              <a:rPr lang="en-US" sz="1100" dirty="0" err="1"/>
              <a:t>Processos</a:t>
            </a:r>
            <a:r>
              <a:rPr lang="en-US" sz="1100" dirty="0"/>
              <a:t>:</a:t>
            </a:r>
          </a:p>
          <a:p>
            <a:pPr marL="914400" lvl="2" indent="0">
              <a:buNone/>
            </a:pPr>
            <a:r>
              <a:rPr lang="en-US" sz="1100" dirty="0"/>
              <a:t>P1: </a:t>
            </a:r>
            <a:r>
              <a:rPr lang="en-US" sz="1100" dirty="0" err="1"/>
              <a:t>chegada</a:t>
            </a:r>
            <a:r>
              <a:rPr lang="en-US" sz="1100" dirty="0"/>
              <a:t> = 0, burst = 11</a:t>
            </a:r>
          </a:p>
          <a:p>
            <a:pPr marL="914400" lvl="2" indent="0">
              <a:buNone/>
            </a:pPr>
            <a:r>
              <a:rPr lang="en-US" sz="1100" dirty="0"/>
              <a:t>P2: </a:t>
            </a:r>
            <a:r>
              <a:rPr lang="en-US" sz="1100" dirty="0" err="1"/>
              <a:t>chegada</a:t>
            </a:r>
            <a:r>
              <a:rPr lang="en-US" sz="1100" dirty="0"/>
              <a:t> = 1, burst = 4</a:t>
            </a:r>
          </a:p>
          <a:p>
            <a:pPr marL="914400" lvl="2" indent="0">
              <a:buNone/>
            </a:pPr>
            <a:r>
              <a:rPr lang="en-US" sz="1100" dirty="0"/>
              <a:t>P3: </a:t>
            </a:r>
            <a:r>
              <a:rPr lang="en-US" sz="1100" dirty="0" err="1"/>
              <a:t>chegada</a:t>
            </a:r>
            <a:r>
              <a:rPr lang="en-US" sz="1100" dirty="0"/>
              <a:t> = 2, burst = 9</a:t>
            </a:r>
          </a:p>
          <a:p>
            <a:pPr marL="914400" lvl="2" indent="0">
              <a:buNone/>
            </a:pPr>
            <a:r>
              <a:rPr lang="en-US" sz="1100" dirty="0"/>
              <a:t>P4: </a:t>
            </a:r>
            <a:r>
              <a:rPr lang="en-US" sz="1100" dirty="0" err="1"/>
              <a:t>chegada</a:t>
            </a:r>
            <a:r>
              <a:rPr lang="en-US" sz="1100" dirty="0"/>
              <a:t> = 3, burst = 5</a:t>
            </a:r>
          </a:p>
          <a:p>
            <a:pPr marL="914400" lvl="2" indent="0">
              <a:buNone/>
            </a:pPr>
            <a:r>
              <a:rPr lang="en-US" sz="1100" dirty="0"/>
              <a:t>P5: </a:t>
            </a:r>
            <a:r>
              <a:rPr lang="en-US" sz="1100" dirty="0" err="1"/>
              <a:t>chegada</a:t>
            </a:r>
            <a:r>
              <a:rPr lang="en-US" sz="1100" dirty="0"/>
              <a:t> = 4, burst = 7</a:t>
            </a:r>
          </a:p>
          <a:p>
            <a:endParaRPr lang="en-US" sz="11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619820-758D-8EDF-F5DE-A333656B1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Exercicios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638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922A2-00FA-8F91-03AA-3D43872D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47DF-9DE5-4F20-EA66-DF684D59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14F5A-B3A3-E3B3-42A0-0DBD862A49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453954"/>
          </a:xfrm>
        </p:spPr>
        <p:txBody>
          <a:bodyPr>
            <a:normAutofit/>
          </a:bodyPr>
          <a:lstStyle/>
          <a:p>
            <a:r>
              <a:rPr lang="en-US" b="1" dirty="0">
                <a:sym typeface="+mn-ea"/>
              </a:rPr>
              <a:t>Como </a:t>
            </a:r>
            <a:r>
              <a:rPr lang="en-US" b="1" dirty="0" err="1">
                <a:sym typeface="+mn-ea"/>
              </a:rPr>
              <a:t>funciona</a:t>
            </a:r>
            <a:r>
              <a:rPr lang="en-US" b="1" dirty="0">
                <a:sym typeface="+mn-ea"/>
              </a:rPr>
              <a:t>:</a:t>
            </a:r>
          </a:p>
          <a:p>
            <a:pPr lvl="1"/>
            <a:r>
              <a:rPr lang="en-US" dirty="0">
                <a:sym typeface="+mn-ea"/>
              </a:rPr>
              <a:t>Cada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recebe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uma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.</a:t>
            </a:r>
          </a:p>
          <a:p>
            <a:pPr lvl="1"/>
            <a:r>
              <a:rPr lang="en-US" dirty="0">
                <a:sym typeface="+mn-ea"/>
              </a:rPr>
              <a:t>O CPU </a:t>
            </a:r>
            <a:r>
              <a:rPr lang="en-US" dirty="0" err="1">
                <a:sym typeface="+mn-ea"/>
              </a:rPr>
              <a:t>executa</a:t>
            </a:r>
            <a:r>
              <a:rPr lang="en-US" dirty="0">
                <a:sym typeface="+mn-ea"/>
              </a:rPr>
              <a:t> sempre o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com a </a:t>
            </a:r>
            <a:r>
              <a:rPr lang="en-US" dirty="0" err="1">
                <a:sym typeface="+mn-ea"/>
              </a:rPr>
              <a:t>maior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 (</a:t>
            </a:r>
            <a:r>
              <a:rPr lang="en-US" dirty="0" err="1">
                <a:sym typeface="+mn-ea"/>
              </a:rPr>
              <a:t>número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mais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baixo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ou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mais</a:t>
            </a:r>
            <a:r>
              <a:rPr lang="en-US" dirty="0">
                <a:sym typeface="+mn-ea"/>
              </a:rPr>
              <a:t> alto, </a:t>
            </a:r>
            <a:r>
              <a:rPr lang="en-US" dirty="0" err="1">
                <a:sym typeface="+mn-ea"/>
              </a:rPr>
              <a:t>dependendo</a:t>
            </a:r>
            <a:r>
              <a:rPr lang="en-US" dirty="0">
                <a:sym typeface="+mn-ea"/>
              </a:rPr>
              <a:t> do </a:t>
            </a:r>
            <a:r>
              <a:rPr lang="en-US" dirty="0" err="1">
                <a:sym typeface="+mn-ea"/>
              </a:rPr>
              <a:t>sistema</a:t>
            </a:r>
            <a:r>
              <a:rPr lang="en-US" dirty="0">
                <a:sym typeface="+mn-ea"/>
              </a:rPr>
              <a:t>).</a:t>
            </a:r>
          </a:p>
          <a:p>
            <a:pPr lvl="1"/>
            <a:r>
              <a:rPr lang="en-US" dirty="0">
                <a:sym typeface="+mn-ea"/>
              </a:rPr>
              <a:t>Pode ser </a:t>
            </a:r>
            <a:r>
              <a:rPr lang="en-US" dirty="0" err="1">
                <a:sym typeface="+mn-ea"/>
              </a:rPr>
              <a:t>preemptivo</a:t>
            </a:r>
            <a:r>
              <a:rPr lang="en-US" dirty="0">
                <a:sym typeface="+mn-ea"/>
              </a:rPr>
              <a:t> (um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com </a:t>
            </a:r>
            <a:r>
              <a:rPr lang="en-US" dirty="0" err="1">
                <a:sym typeface="+mn-ea"/>
              </a:rPr>
              <a:t>maior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pode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interromper</a:t>
            </a:r>
            <a:r>
              <a:rPr lang="en-US" dirty="0">
                <a:sym typeface="+mn-ea"/>
              </a:rPr>
              <a:t> o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atual</a:t>
            </a:r>
            <a:r>
              <a:rPr lang="en-US" dirty="0">
                <a:sym typeface="+mn-ea"/>
              </a:rPr>
              <a:t>) </a:t>
            </a:r>
            <a:r>
              <a:rPr lang="en-US" dirty="0" err="1">
                <a:sym typeface="+mn-ea"/>
              </a:rPr>
              <a:t>ou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não-preemptivo</a:t>
            </a:r>
            <a:r>
              <a:rPr lang="en-US" dirty="0">
                <a:sym typeface="+mn-ea"/>
              </a:rPr>
              <a:t> (o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atual</a:t>
            </a:r>
            <a:r>
              <a:rPr lang="en-US" dirty="0">
                <a:sym typeface="+mn-ea"/>
              </a:rPr>
              <a:t> termina antes de ceder o CPU).</a:t>
            </a:r>
          </a:p>
          <a:p>
            <a:r>
              <a:rPr lang="en-US" b="1" dirty="0" err="1">
                <a:sym typeface="+mn-ea"/>
              </a:rPr>
              <a:t>Características</a:t>
            </a:r>
            <a:r>
              <a:rPr lang="en-US" b="1" dirty="0">
                <a:sym typeface="+mn-ea"/>
              </a:rPr>
              <a:t>:</a:t>
            </a:r>
          </a:p>
          <a:p>
            <a:pPr lvl="1"/>
            <a:r>
              <a:rPr lang="en-US" dirty="0" err="1">
                <a:sym typeface="+mn-ea"/>
              </a:rPr>
              <a:t>Processos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críticos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podem</a:t>
            </a:r>
            <a:r>
              <a:rPr lang="en-US" dirty="0">
                <a:sym typeface="+mn-ea"/>
              </a:rPr>
              <a:t> ser </a:t>
            </a:r>
            <a:r>
              <a:rPr lang="en-US" dirty="0" err="1">
                <a:sym typeface="+mn-ea"/>
              </a:rPr>
              <a:t>priorizados</a:t>
            </a:r>
            <a:r>
              <a:rPr lang="en-US" dirty="0">
                <a:sym typeface="+mn-ea"/>
              </a:rPr>
              <a:t>.</a:t>
            </a:r>
          </a:p>
          <a:p>
            <a:pPr lvl="1"/>
            <a:r>
              <a:rPr lang="en-US" dirty="0">
                <a:sym typeface="+mn-ea"/>
              </a:rPr>
              <a:t>Pode </a:t>
            </a:r>
            <a:r>
              <a:rPr lang="en-US" dirty="0" err="1">
                <a:sym typeface="+mn-ea"/>
              </a:rPr>
              <a:t>causar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inanição</a:t>
            </a:r>
            <a:r>
              <a:rPr lang="en-US" dirty="0">
                <a:sym typeface="+mn-ea"/>
              </a:rPr>
              <a:t> (starvation), </a:t>
            </a:r>
            <a:r>
              <a:rPr lang="en-US" dirty="0" err="1">
                <a:sym typeface="+mn-ea"/>
              </a:rPr>
              <a:t>em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que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processos</a:t>
            </a:r>
            <a:r>
              <a:rPr lang="en-US" dirty="0">
                <a:sym typeface="+mn-ea"/>
              </a:rPr>
              <a:t> de </a:t>
            </a:r>
            <a:r>
              <a:rPr lang="en-US" dirty="0" err="1">
                <a:sym typeface="+mn-ea"/>
              </a:rPr>
              <a:t>baixa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nunca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são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executados</a:t>
            </a:r>
            <a:r>
              <a:rPr lang="en-US" dirty="0">
                <a:sym typeface="+mn-ea"/>
              </a:rPr>
              <a:t>, pois </a:t>
            </a:r>
            <a:r>
              <a:rPr lang="en-US" dirty="0" err="1">
                <a:sym typeface="+mn-ea"/>
              </a:rPr>
              <a:t>estão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constantemente</a:t>
            </a:r>
            <a:r>
              <a:rPr lang="en-US" dirty="0">
                <a:sym typeface="+mn-ea"/>
              </a:rPr>
              <a:t> a ser </a:t>
            </a:r>
            <a:r>
              <a:rPr lang="en-US" dirty="0" err="1">
                <a:sym typeface="+mn-ea"/>
              </a:rPr>
              <a:t>preemptados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processos</a:t>
            </a:r>
            <a:r>
              <a:rPr lang="en-US" dirty="0">
                <a:sym typeface="+mn-ea"/>
              </a:rPr>
              <a:t> de </a:t>
            </a:r>
            <a:r>
              <a:rPr lang="en-US" dirty="0" err="1">
                <a:sym typeface="+mn-ea"/>
              </a:rPr>
              <a:t>alta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.</a:t>
            </a:r>
          </a:p>
          <a:p>
            <a:pPr lvl="1"/>
            <a:r>
              <a:rPr lang="en-US" dirty="0" err="1">
                <a:sym typeface="+mn-ea"/>
              </a:rPr>
              <a:t>Soluções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como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dinâmica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podem</a:t>
            </a:r>
            <a:r>
              <a:rPr lang="en-US" dirty="0">
                <a:sym typeface="+mn-ea"/>
              </a:rPr>
              <a:t> ser </a:t>
            </a:r>
            <a:r>
              <a:rPr lang="en-US" dirty="0" err="1">
                <a:sym typeface="+mn-ea"/>
              </a:rPr>
              <a:t>usadas</a:t>
            </a:r>
            <a:r>
              <a:rPr lang="en-US" dirty="0">
                <a:sym typeface="+mn-ea"/>
              </a:rPr>
              <a:t> para </a:t>
            </a:r>
            <a:r>
              <a:rPr lang="en-US" dirty="0" err="1">
                <a:sym typeface="+mn-ea"/>
              </a:rPr>
              <a:t>evitar</a:t>
            </a:r>
            <a:r>
              <a:rPr lang="en-US" dirty="0">
                <a:sym typeface="+mn-ea"/>
              </a:rPr>
              <a:t> a </a:t>
            </a:r>
            <a:r>
              <a:rPr lang="en-US" dirty="0" err="1">
                <a:sym typeface="+mn-ea"/>
              </a:rPr>
              <a:t>inanição</a:t>
            </a:r>
            <a:r>
              <a:rPr lang="en-US" dirty="0">
                <a:sym typeface="+mn-ea"/>
              </a:rPr>
              <a:t> (a </a:t>
            </a:r>
            <a:r>
              <a:rPr lang="en-US" dirty="0" err="1">
                <a:sym typeface="+mn-ea"/>
              </a:rPr>
              <a:t>prioridade</a:t>
            </a:r>
            <a:r>
              <a:rPr lang="en-US" dirty="0">
                <a:sym typeface="+mn-ea"/>
              </a:rPr>
              <a:t> de um </a:t>
            </a:r>
            <a:r>
              <a:rPr lang="en-US" dirty="0" err="1">
                <a:sym typeface="+mn-ea"/>
              </a:rPr>
              <a:t>processo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aumenta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quanto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mais</a:t>
            </a:r>
            <a:r>
              <a:rPr lang="en-US" dirty="0">
                <a:sym typeface="+mn-ea"/>
              </a:rPr>
              <a:t> tempo </a:t>
            </a:r>
            <a:r>
              <a:rPr lang="en-US" dirty="0" err="1">
                <a:sym typeface="+mn-ea"/>
              </a:rPr>
              <a:t>ele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espera</a:t>
            </a:r>
            <a:r>
              <a:rPr lang="en-US" dirty="0">
                <a:sym typeface="+mn-ea"/>
              </a:rPr>
              <a:t>).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32128-602D-F06B-A7DD-F8D6124F0E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>
                <a:sym typeface="+mn-ea"/>
              </a:rPr>
              <a:t>Escalonamento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por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Prioridade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607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EF7E-8339-371B-EA9E-629FC413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FD9B6-F170-19C0-C6A0-6B5CBCA8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CBB39-3170-4DB3-C24A-F56178F7A4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453954"/>
          </a:xfrm>
        </p:spPr>
        <p:txBody>
          <a:bodyPr>
            <a:normAutofit/>
          </a:bodyPr>
          <a:lstStyle/>
          <a:p>
            <a:r>
              <a:rPr lang="en-US" b="1" dirty="0" err="1"/>
              <a:t>Ordem</a:t>
            </a:r>
            <a:r>
              <a:rPr lang="en-US" b="1" dirty="0"/>
              <a:t> de </a:t>
            </a:r>
            <a:r>
              <a:rPr lang="en-US" b="1" dirty="0" err="1"/>
              <a:t>execução</a:t>
            </a:r>
            <a:r>
              <a:rPr lang="en-US" b="1" dirty="0"/>
              <a:t> (</a:t>
            </a:r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preemptivo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P1 </a:t>
            </a:r>
            <a:r>
              <a:rPr lang="en-US" dirty="0" err="1"/>
              <a:t>começa</a:t>
            </a:r>
            <a:r>
              <a:rPr lang="en-US" dirty="0"/>
              <a:t> </a:t>
            </a:r>
            <a:r>
              <a:rPr lang="en-US" dirty="0" err="1"/>
              <a:t>primeiro</a:t>
            </a:r>
            <a:r>
              <a:rPr lang="en-US" dirty="0"/>
              <a:t> (</a:t>
            </a:r>
            <a:r>
              <a:rPr lang="en-US" dirty="0" err="1"/>
              <a:t>chegou</a:t>
            </a:r>
            <a:r>
              <a:rPr lang="en-US" dirty="0"/>
              <a:t> no tempo 0).</a:t>
            </a:r>
          </a:p>
          <a:p>
            <a:pPr lvl="1"/>
            <a:r>
              <a:rPr lang="en-US" dirty="0"/>
              <a:t>Quando P1 </a:t>
            </a:r>
            <a:r>
              <a:rPr lang="en-US" dirty="0" err="1"/>
              <a:t>acaba</a:t>
            </a:r>
            <a:r>
              <a:rPr lang="en-US" dirty="0"/>
              <a:t>, entre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chegaram</a:t>
            </a:r>
            <a:r>
              <a:rPr lang="en-US" dirty="0"/>
              <a:t> (P2, P3, P4), o P2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prioridade</a:t>
            </a:r>
            <a:r>
              <a:rPr lang="en-US" dirty="0"/>
              <a:t> → </a:t>
            </a:r>
            <a:r>
              <a:rPr lang="en-US" dirty="0" err="1"/>
              <a:t>executa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Depois</a:t>
            </a:r>
            <a:r>
              <a:rPr lang="en-US" dirty="0"/>
              <a:t> segue P4, e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fim</a:t>
            </a:r>
            <a:r>
              <a:rPr lang="en-US" dirty="0"/>
              <a:t> P3.</a:t>
            </a:r>
          </a:p>
          <a:p>
            <a:pPr lvl="1"/>
            <a:endParaRPr lang="en-US" dirty="0"/>
          </a:p>
          <a:p>
            <a:r>
              <a:rPr lang="en-US" b="1" dirty="0" err="1"/>
              <a:t>Ordem</a:t>
            </a:r>
            <a:r>
              <a:rPr lang="en-US" b="1" dirty="0"/>
              <a:t> Final:</a:t>
            </a:r>
            <a:r>
              <a:rPr lang="en-US" dirty="0"/>
              <a:t> P1 → P2 → P4 → P3</a:t>
            </a:r>
          </a:p>
          <a:p>
            <a:endParaRPr lang="en-US" sz="1800" dirty="0">
              <a:sym typeface="+mn-e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F311E-A90C-984B-C595-3C22923DD0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 err="1"/>
              <a:t>Exemplo</a:t>
            </a:r>
            <a:r>
              <a:rPr lang="en-US" b="1" dirty="0"/>
              <a:t> 1 - </a:t>
            </a:r>
            <a:r>
              <a:rPr lang="en-US" b="1" dirty="0" err="1"/>
              <a:t>Escalonamento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Prioridade</a:t>
            </a:r>
            <a:r>
              <a:rPr lang="en-US" b="1" dirty="0"/>
              <a:t> </a:t>
            </a:r>
            <a:r>
              <a:rPr lang="en-US" b="1" dirty="0" err="1"/>
              <a:t>não</a:t>
            </a:r>
            <a:r>
              <a:rPr lang="en-US" b="1" dirty="0"/>
              <a:t> </a:t>
            </a:r>
            <a:r>
              <a:rPr lang="en-US" b="1" dirty="0" err="1"/>
              <a:t>preemptivo</a:t>
            </a:r>
            <a:endParaRPr lang="en-US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D362B5F-8E5C-7F13-E50D-BC672C9B2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294817"/>
              </p:ext>
            </p:extLst>
          </p:nvPr>
        </p:nvGraphicFramePr>
        <p:xfrm>
          <a:off x="2032000" y="3677953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624252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5961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798895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2740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Processo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Tempo de Chegada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Tempo de Execução (Burst)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Prioridade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883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643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686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9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3396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133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932A4-A474-AEB2-D3BC-94A59E44C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8EAC-E265-44CA-1B1D-BB35F02C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F66BF2-55CA-5FC6-8744-31D5A3B555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453954"/>
          </a:xfrm>
        </p:spPr>
        <p:txBody>
          <a:bodyPr>
            <a:normAutofit/>
          </a:bodyPr>
          <a:lstStyle/>
          <a:p>
            <a:r>
              <a:rPr lang="en-US" b="1" dirty="0" err="1"/>
              <a:t>Usando</a:t>
            </a:r>
            <a:r>
              <a:rPr lang="en-US" b="1" dirty="0"/>
              <a:t> </a:t>
            </a:r>
            <a:r>
              <a:rPr lang="en-US" b="1" dirty="0" err="1"/>
              <a:t>os</a:t>
            </a:r>
            <a:r>
              <a:rPr lang="en-US" b="1" dirty="0"/>
              <a:t> </a:t>
            </a:r>
            <a:r>
              <a:rPr lang="en-US" b="1" dirty="0" err="1"/>
              <a:t>mesmos</a:t>
            </a:r>
            <a:r>
              <a:rPr lang="en-US" b="1" dirty="0"/>
              <a:t> dados mas </a:t>
            </a:r>
            <a:r>
              <a:rPr lang="en-US" b="1" dirty="0" err="1"/>
              <a:t>preemptivo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P1 </a:t>
            </a:r>
            <a:r>
              <a:rPr lang="en-US" dirty="0" err="1"/>
              <a:t>começa</a:t>
            </a:r>
            <a:r>
              <a:rPr lang="en-US" dirty="0"/>
              <a:t> no tempo 0.</a:t>
            </a:r>
          </a:p>
          <a:p>
            <a:pPr lvl="1"/>
            <a:r>
              <a:rPr lang="en-US" dirty="0"/>
              <a:t>Quando P2 </a:t>
            </a:r>
            <a:r>
              <a:rPr lang="en-US" dirty="0" err="1"/>
              <a:t>chega</a:t>
            </a:r>
            <a:r>
              <a:rPr lang="en-US" dirty="0"/>
              <a:t> (tempo 1),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b="1" dirty="0" err="1"/>
              <a:t>prioridade</a:t>
            </a:r>
            <a:r>
              <a:rPr lang="en-US" b="1" dirty="0"/>
              <a:t> </a:t>
            </a:r>
            <a:r>
              <a:rPr lang="en-US" b="1" dirty="0" err="1"/>
              <a:t>mais</a:t>
            </a:r>
            <a:r>
              <a:rPr lang="en-US" b="1" dirty="0"/>
              <a:t> </a:t>
            </a:r>
            <a:r>
              <a:rPr lang="en-US" b="1" dirty="0" err="1"/>
              <a:t>alta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P1 → P1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interrompido</a:t>
            </a:r>
            <a:r>
              <a:rPr lang="en-US" dirty="0"/>
              <a:t> → P2 </a:t>
            </a:r>
            <a:r>
              <a:rPr lang="en-US" dirty="0" err="1"/>
              <a:t>executa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Após</a:t>
            </a:r>
            <a:r>
              <a:rPr lang="en-US" dirty="0"/>
              <a:t> P2 </a:t>
            </a:r>
            <a:r>
              <a:rPr lang="en-US" dirty="0" err="1"/>
              <a:t>terminar</a:t>
            </a:r>
            <a:r>
              <a:rPr lang="en-US" dirty="0"/>
              <a:t>, P1 </a:t>
            </a:r>
            <a:r>
              <a:rPr lang="en-US" dirty="0" err="1"/>
              <a:t>retoma</a:t>
            </a:r>
            <a:r>
              <a:rPr lang="en-US" dirty="0"/>
              <a:t> (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prioridade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P3 e P4).</a:t>
            </a:r>
          </a:p>
          <a:p>
            <a:pPr lvl="1"/>
            <a:r>
              <a:rPr lang="en-US" dirty="0" err="1"/>
              <a:t>Depois</a:t>
            </a:r>
            <a:r>
              <a:rPr lang="en-US" dirty="0"/>
              <a:t> segue P4, e no </a:t>
            </a:r>
            <a:r>
              <a:rPr lang="en-US" dirty="0" err="1"/>
              <a:t>fim</a:t>
            </a:r>
            <a:r>
              <a:rPr lang="en-US" dirty="0"/>
              <a:t> P3.</a:t>
            </a:r>
          </a:p>
          <a:p>
            <a:pPr lvl="1"/>
            <a:endParaRPr lang="en-US" dirty="0"/>
          </a:p>
          <a:p>
            <a:r>
              <a:rPr lang="en-US" b="1" dirty="0" err="1"/>
              <a:t>Ordem</a:t>
            </a:r>
            <a:r>
              <a:rPr lang="en-US" b="1" dirty="0"/>
              <a:t> Final:</a:t>
            </a:r>
            <a:r>
              <a:rPr lang="en-US" dirty="0"/>
              <a:t> P1 (</a:t>
            </a:r>
            <a:r>
              <a:rPr lang="en-US" dirty="0" err="1"/>
              <a:t>até</a:t>
            </a:r>
            <a:r>
              <a:rPr lang="en-US" dirty="0"/>
              <a:t> 1) → P2 → P1 (restante) → P4 → P3</a:t>
            </a:r>
          </a:p>
          <a:p>
            <a:endParaRPr lang="en-US" sz="1800" dirty="0">
              <a:sym typeface="+mn-e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F25AB-45B0-CE4E-FBB9-77DE4A035F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 err="1"/>
              <a:t>Exemplo</a:t>
            </a:r>
            <a:r>
              <a:rPr lang="en-US" b="1" dirty="0"/>
              <a:t> 2 – </a:t>
            </a:r>
            <a:r>
              <a:rPr lang="en-US" b="1" dirty="0" err="1"/>
              <a:t>Escalonamento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Prioridade</a:t>
            </a:r>
            <a:r>
              <a:rPr lang="en-US" b="1" dirty="0"/>
              <a:t> </a:t>
            </a:r>
            <a:r>
              <a:rPr lang="en-US" b="1" dirty="0" err="1"/>
              <a:t>Preemptivo</a:t>
            </a:r>
            <a:endParaRPr lang="en-US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A548BF7-3F2E-ECE1-3F16-DF65DF964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780357"/>
              </p:ext>
            </p:extLst>
          </p:nvPr>
        </p:nvGraphicFramePr>
        <p:xfrm>
          <a:off x="2015249" y="3942711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624252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459612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798895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27402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Processo</a:t>
                      </a:r>
                      <a:endParaRPr lang="en-US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Tempo de Chegada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Tempo de </a:t>
                      </a:r>
                      <a:r>
                        <a:rPr lang="en-US" sz="1100" dirty="0" err="1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Execução</a:t>
                      </a: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(Burst)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Prioridade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883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6436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686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979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1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63396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826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416-9EE7-E0F9-8079-C42981D1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DF12-0FC2-C7E3-6E3F-078AEF8C2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56EC2-45E1-475A-A546-FE395FB79C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293180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AD56C-71EC-8DBD-2E8E-B1A2ED5935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Exercícios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Preemptivos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00288C5-2DAA-E8DB-083D-3C90F0186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588269"/>
              </p:ext>
            </p:extLst>
          </p:nvPr>
        </p:nvGraphicFramePr>
        <p:xfrm>
          <a:off x="1376818" y="1985796"/>
          <a:ext cx="3406196" cy="129217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51549">
                  <a:extLst>
                    <a:ext uri="{9D8B030D-6E8A-4147-A177-3AD203B41FA5}">
                      <a16:colId xmlns:a16="http://schemas.microsoft.com/office/drawing/2014/main" val="488912246"/>
                    </a:ext>
                  </a:extLst>
                </a:gridCol>
                <a:gridCol w="851549">
                  <a:extLst>
                    <a:ext uri="{9D8B030D-6E8A-4147-A177-3AD203B41FA5}">
                      <a16:colId xmlns:a16="http://schemas.microsoft.com/office/drawing/2014/main" val="1374109175"/>
                    </a:ext>
                  </a:extLst>
                </a:gridCol>
                <a:gridCol w="851549">
                  <a:extLst>
                    <a:ext uri="{9D8B030D-6E8A-4147-A177-3AD203B41FA5}">
                      <a16:colId xmlns:a16="http://schemas.microsoft.com/office/drawing/2014/main" val="825483406"/>
                    </a:ext>
                  </a:extLst>
                </a:gridCol>
                <a:gridCol w="851549">
                  <a:extLst>
                    <a:ext uri="{9D8B030D-6E8A-4147-A177-3AD203B41FA5}">
                      <a16:colId xmlns:a16="http://schemas.microsoft.com/office/drawing/2014/main" val="3608785121"/>
                    </a:ext>
                  </a:extLst>
                </a:gridCol>
              </a:tblGrid>
              <a:tr h="3453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160698455"/>
                  </a:ext>
                </a:extLst>
              </a:tr>
              <a:tr h="315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P1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3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3618002077"/>
                  </a:ext>
                </a:extLst>
              </a:tr>
              <a:tr h="315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5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048861114"/>
                  </a:ext>
                </a:extLst>
              </a:tr>
              <a:tr h="3156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P3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7601992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B52020-CF44-0C83-4D6A-538107651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224430"/>
              </p:ext>
            </p:extLst>
          </p:nvPr>
        </p:nvGraphicFramePr>
        <p:xfrm>
          <a:off x="7933944" y="1984631"/>
          <a:ext cx="2897276" cy="12933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24319">
                  <a:extLst>
                    <a:ext uri="{9D8B030D-6E8A-4147-A177-3AD203B41FA5}">
                      <a16:colId xmlns:a16="http://schemas.microsoft.com/office/drawing/2014/main" val="3678955019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2798827867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1554263396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698909591"/>
                    </a:ext>
                  </a:extLst>
                </a:gridCol>
              </a:tblGrid>
              <a:tr h="325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70685102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P1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6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420825564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93907244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463594108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5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18522448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8D18F74-6E26-37CA-97F7-64E5E82F7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485398"/>
              </p:ext>
            </p:extLst>
          </p:nvPr>
        </p:nvGraphicFramePr>
        <p:xfrm>
          <a:off x="4910293" y="1984630"/>
          <a:ext cx="2897276" cy="12933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24319">
                  <a:extLst>
                    <a:ext uri="{9D8B030D-6E8A-4147-A177-3AD203B41FA5}">
                      <a16:colId xmlns:a16="http://schemas.microsoft.com/office/drawing/2014/main" val="2788267256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41949143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258309773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480769534"/>
                    </a:ext>
                  </a:extLst>
                </a:gridCol>
              </a:tblGrid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21026432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P1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0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7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4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3845883338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1147977631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1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796771401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5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18283035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B9B07B0-EF7C-4494-7DF7-2F572E8629DA}"/>
              </a:ext>
            </a:extLst>
          </p:cNvPr>
          <p:cNvSpPr txBox="1"/>
          <p:nvPr/>
        </p:nvSpPr>
        <p:spPr>
          <a:xfrm>
            <a:off x="1266286" y="3580030"/>
            <a:ext cx="827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Determina</a:t>
            </a:r>
            <a:r>
              <a:rPr lang="en-US" dirty="0"/>
              <a:t> a </a:t>
            </a:r>
            <a:r>
              <a:rPr lang="en-US" dirty="0" err="1"/>
              <a:t>ordem</a:t>
            </a:r>
            <a:r>
              <a:rPr lang="en-US" dirty="0"/>
              <a:t> de </a:t>
            </a:r>
            <a:r>
              <a:rPr lang="en-US" dirty="0" err="1"/>
              <a:t>execução</a:t>
            </a:r>
            <a:r>
              <a:rPr lang="en-US" dirty="0"/>
              <a:t>, tempo de </a:t>
            </a:r>
            <a:r>
              <a:rPr lang="en-US" dirty="0" err="1"/>
              <a:t>espera</a:t>
            </a:r>
            <a:r>
              <a:rPr lang="en-US" dirty="0"/>
              <a:t> </a:t>
            </a:r>
            <a:r>
              <a:rPr lang="en-US" dirty="0" err="1"/>
              <a:t>médio</a:t>
            </a:r>
            <a:r>
              <a:rPr lang="en-US" dirty="0"/>
              <a:t> e turnaround </a:t>
            </a:r>
            <a:r>
              <a:rPr lang="en-US" dirty="0" err="1"/>
              <a:t>médio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109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9D69-7117-0B7D-1D93-85F0C167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E934-B0E3-090B-3AE4-198426F45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Arquitetura de Computadores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DEC43-9183-D06C-C24D-3E3532E980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9642" y="1715734"/>
            <a:ext cx="10999214" cy="4293180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89EDA-E91F-A3E8-9F39-10CEAD11AA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Exercícios</a:t>
            </a:r>
            <a:r>
              <a:rPr lang="en-US" dirty="0"/>
              <a:t> </a:t>
            </a:r>
            <a:r>
              <a:rPr lang="en-US" dirty="0" err="1"/>
              <a:t>Preemptivos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41251F-C5C6-510B-A0F5-C0E1D4E4B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528652"/>
              </p:ext>
            </p:extLst>
          </p:nvPr>
        </p:nvGraphicFramePr>
        <p:xfrm>
          <a:off x="1376818" y="1985796"/>
          <a:ext cx="3407100" cy="12998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51775">
                  <a:extLst>
                    <a:ext uri="{9D8B030D-6E8A-4147-A177-3AD203B41FA5}">
                      <a16:colId xmlns:a16="http://schemas.microsoft.com/office/drawing/2014/main" val="488912246"/>
                    </a:ext>
                  </a:extLst>
                </a:gridCol>
                <a:gridCol w="851775">
                  <a:extLst>
                    <a:ext uri="{9D8B030D-6E8A-4147-A177-3AD203B41FA5}">
                      <a16:colId xmlns:a16="http://schemas.microsoft.com/office/drawing/2014/main" val="1374109175"/>
                    </a:ext>
                  </a:extLst>
                </a:gridCol>
                <a:gridCol w="851775">
                  <a:extLst>
                    <a:ext uri="{9D8B030D-6E8A-4147-A177-3AD203B41FA5}">
                      <a16:colId xmlns:a16="http://schemas.microsoft.com/office/drawing/2014/main" val="825483406"/>
                    </a:ext>
                  </a:extLst>
                </a:gridCol>
                <a:gridCol w="851775">
                  <a:extLst>
                    <a:ext uri="{9D8B030D-6E8A-4147-A177-3AD203B41FA5}">
                      <a16:colId xmlns:a16="http://schemas.microsoft.com/office/drawing/2014/main" val="3608785121"/>
                    </a:ext>
                  </a:extLst>
                </a:gridCol>
              </a:tblGrid>
              <a:tr h="3474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160698455"/>
                  </a:ext>
                </a:extLst>
              </a:tr>
              <a:tr h="317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P1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0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4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/>
                        <a:t>3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3618002077"/>
                  </a:ext>
                </a:extLst>
              </a:tr>
              <a:tr h="317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P2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1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5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1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048861114"/>
                  </a:ext>
                </a:extLst>
              </a:tr>
              <a:tr h="3174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/>
                        <a:t>P3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/>
                        <a:t>2</a:t>
                      </a:r>
                    </a:p>
                  </a:txBody>
                  <a:tcPr marL="26094" marR="26094" marT="13047" marB="1304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dirty="0"/>
                        <a:t>2</a:t>
                      </a:r>
                    </a:p>
                  </a:txBody>
                  <a:tcPr marL="26094" marR="26094" marT="13047" marB="13047" anchor="ctr"/>
                </a:tc>
                <a:extLst>
                  <a:ext uri="{0D108BD9-81ED-4DB2-BD59-A6C34878D82A}">
                    <a16:rowId xmlns:a16="http://schemas.microsoft.com/office/drawing/2014/main" val="17601992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C03287-980C-2C9D-EFE1-189B256A9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742275"/>
              </p:ext>
            </p:extLst>
          </p:nvPr>
        </p:nvGraphicFramePr>
        <p:xfrm>
          <a:off x="7933944" y="1984631"/>
          <a:ext cx="2897276" cy="12933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24319">
                  <a:extLst>
                    <a:ext uri="{9D8B030D-6E8A-4147-A177-3AD203B41FA5}">
                      <a16:colId xmlns:a16="http://schemas.microsoft.com/office/drawing/2014/main" val="3678955019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2798827867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1554263396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698909591"/>
                    </a:ext>
                  </a:extLst>
                </a:gridCol>
              </a:tblGrid>
              <a:tr h="3256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70685102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P1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0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8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420825564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93907244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6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463594108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P4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5</a:t>
                      </a:r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185224488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C408F5C-8D85-AA4C-38BA-CA0EE6039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08560"/>
              </p:ext>
            </p:extLst>
          </p:nvPr>
        </p:nvGraphicFramePr>
        <p:xfrm>
          <a:off x="4910293" y="1984630"/>
          <a:ext cx="2897276" cy="13010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24319">
                  <a:extLst>
                    <a:ext uri="{9D8B030D-6E8A-4147-A177-3AD203B41FA5}">
                      <a16:colId xmlns:a16="http://schemas.microsoft.com/office/drawing/2014/main" val="2788267256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41949143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258309773"/>
                    </a:ext>
                  </a:extLst>
                </a:gridCol>
                <a:gridCol w="724319">
                  <a:extLst>
                    <a:ext uri="{9D8B030D-6E8A-4147-A177-3AD203B41FA5}">
                      <a16:colId xmlns:a16="http://schemas.microsoft.com/office/drawing/2014/main" val="3480769534"/>
                    </a:ext>
                  </a:extLst>
                </a:gridCol>
              </a:tblGrid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Processo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Chegada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Tempo de </a:t>
                      </a:r>
                      <a:r>
                        <a:rPr lang="en-US" sz="1000" b="1" dirty="0" err="1"/>
                        <a:t>Execução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 err="1"/>
                        <a:t>Prioridade</a:t>
                      </a:r>
                      <a:endParaRPr lang="en-US" sz="1000" b="1" dirty="0"/>
                    </a:p>
                  </a:txBody>
                  <a:tcPr marL="20876" marR="20876" marT="10438" marB="10438" anchor="ctr"/>
                </a:tc>
                <a:extLst>
                  <a:ext uri="{0D108BD9-81ED-4DB2-BD59-A6C34878D82A}">
                    <a16:rowId xmlns:a16="http://schemas.microsoft.com/office/drawing/2014/main" val="221026432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883338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977631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771401"/>
                  </a:ext>
                </a:extLst>
              </a:tr>
              <a:tr h="2419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P4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83035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ED097B3-666E-BC6E-AF79-F1B3B222AE15}"/>
              </a:ext>
            </a:extLst>
          </p:cNvPr>
          <p:cNvSpPr txBox="1"/>
          <p:nvPr/>
        </p:nvSpPr>
        <p:spPr>
          <a:xfrm>
            <a:off x="1266286" y="3580030"/>
            <a:ext cx="8277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Determina</a:t>
            </a:r>
            <a:r>
              <a:rPr lang="en-US" dirty="0"/>
              <a:t> a </a:t>
            </a:r>
            <a:r>
              <a:rPr lang="en-US" dirty="0" err="1"/>
              <a:t>ordem</a:t>
            </a:r>
            <a:r>
              <a:rPr lang="en-US" dirty="0"/>
              <a:t> de </a:t>
            </a:r>
            <a:r>
              <a:rPr lang="en-US" dirty="0" err="1"/>
              <a:t>execução</a:t>
            </a:r>
            <a:r>
              <a:rPr lang="en-US" dirty="0"/>
              <a:t>, tempo de </a:t>
            </a:r>
            <a:r>
              <a:rPr lang="en-US" dirty="0" err="1"/>
              <a:t>espera</a:t>
            </a:r>
            <a:r>
              <a:rPr lang="en-US" dirty="0"/>
              <a:t> </a:t>
            </a:r>
            <a:r>
              <a:rPr lang="en-US" dirty="0" err="1"/>
              <a:t>médio</a:t>
            </a:r>
            <a:r>
              <a:rPr lang="en-US" dirty="0"/>
              <a:t> e turnaround </a:t>
            </a:r>
            <a:r>
              <a:rPr lang="en-US" dirty="0" err="1"/>
              <a:t>médio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172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510DCA1F-4290-43A3-A161-E997230BE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4619" y="-9268"/>
            <a:ext cx="12236619" cy="68672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21E68017-0F2F-40A8-A580-AF36CB2C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619" y="3086100"/>
            <a:ext cx="12236619" cy="685800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bg1"/>
                </a:solidFill>
              </a:rPr>
              <a:t>O</a:t>
            </a:r>
            <a:r>
              <a:rPr lang="pt-PT" sz="3200" dirty="0">
                <a:solidFill>
                  <a:schemeClr val="bg1"/>
                </a:solidFill>
              </a:rPr>
              <a:t>BRIGADO PELA VOSSA ATENÇÃO E COLABORAÇÃO</a:t>
            </a:r>
          </a:p>
        </p:txBody>
      </p:sp>
    </p:spTree>
    <p:extLst>
      <p:ext uri="{BB962C8B-B14F-4D97-AF65-F5344CB8AC3E}">
        <p14:creationId xmlns:p14="http://schemas.microsoft.com/office/powerpoint/2010/main" val="3329026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>
            <a:extLst>
              <a:ext uri="{FF2B5EF4-FFF2-40B4-BE49-F238E27FC236}">
                <a16:creationId xmlns:a16="http://schemas.microsoft.com/office/drawing/2014/main" id="{A6B44AB8-C57E-4B4B-9DE9-D2913E180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501" y="5286562"/>
            <a:ext cx="12236619" cy="15714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-44619" y="-9268"/>
            <a:ext cx="12236619" cy="53040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solidFill>
                <a:srgbClr val="2BACE2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AutoShape 3"/>
          <p:cNvSpPr>
            <a:spLocks noChangeAspect="1" noChangeArrowheads="1" noTextEdit="1"/>
          </p:cNvSpPr>
          <p:nvPr/>
        </p:nvSpPr>
        <p:spPr bwMode="auto">
          <a:xfrm>
            <a:off x="2341563" y="-471488"/>
            <a:ext cx="2997200" cy="2130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latin typeface="Segoe UI" panose="020B0502040204020203" pitchFamily="34" charset="0"/>
            </a:endParaRPr>
          </a:p>
        </p:txBody>
      </p:sp>
      <p:sp>
        <p:nvSpPr>
          <p:cNvPr id="54" name="AutoShape 37"/>
          <p:cNvSpPr>
            <a:spLocks noChangeAspect="1" noChangeArrowheads="1" noTextEdit="1"/>
          </p:cNvSpPr>
          <p:nvPr/>
        </p:nvSpPr>
        <p:spPr bwMode="auto">
          <a:xfrm>
            <a:off x="8786813" y="4030663"/>
            <a:ext cx="3670300" cy="325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dirty="0">
              <a:latin typeface="Segoe UI" panose="020B0502040204020203" pitchFamily="34" charset="0"/>
            </a:endParaRPr>
          </a:p>
        </p:txBody>
      </p:sp>
      <p:sp>
        <p:nvSpPr>
          <p:cNvPr id="85" name="Title 1"/>
          <p:cNvSpPr txBox="1">
            <a:spLocks/>
          </p:cNvSpPr>
          <p:nvPr/>
        </p:nvSpPr>
        <p:spPr>
          <a:xfrm>
            <a:off x="0" y="5667050"/>
            <a:ext cx="12189619" cy="6718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ts val="1500"/>
              </a:lnSpc>
              <a:spcBef>
                <a:spcPct val="0"/>
              </a:spcBef>
              <a:buNone/>
              <a:defRPr sz="2600" b="1" u="sng" kern="1200" baseline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ts val="2300"/>
              </a:lnSpc>
            </a:pPr>
            <a:r>
              <a:rPr lang="pt-PT" sz="2800" b="0" u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www.</a:t>
            </a:r>
            <a:r>
              <a:rPr lang="pt-PT" sz="2800" b="0" u="none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atec</a:t>
            </a:r>
            <a:r>
              <a:rPr lang="pt-PT" sz="2800" b="0" u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Open Sans bold" panose="020B0806030504020204" pitchFamily="34" charset="0"/>
              </a:rPr>
              <a:t>.pt</a:t>
            </a:r>
            <a:endParaRPr lang="pt-PT" sz="2800" b="0" u="none" dirty="0">
              <a:solidFill>
                <a:schemeClr val="bg1"/>
              </a:solidFill>
              <a:latin typeface="+mn-lt"/>
              <a:ea typeface="Open Sans Light" panose="020B0306030504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982763" y="1219149"/>
            <a:ext cx="7206856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 dirty="0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PALMELA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ATEC · Parque Industrial da Volkswagen Autoeuropa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2950-557 · Quinta do Anjo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212 107 300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956636" y="1304214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982763" y="2935739"/>
            <a:ext cx="7206856" cy="1250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pt-PT" sz="1600" b="1" dirty="0">
                <a:solidFill>
                  <a:schemeClr val="accent3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MATOSINHOS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Edifício Siemens · Av. Mário Brito (EN107), nº 3570  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 Light" panose="020B0502040204020203" pitchFamily="34" charset="0"/>
                <a:ea typeface="Open Sans Light" panose="020B0306030504020204" pitchFamily="34" charset="0"/>
                <a:cs typeface="Segoe UI Light" panose="020B0502040204020203" pitchFamily="34" charset="0"/>
              </a:rPr>
              <a:t>Freixieiro · 4456-901 · Perafita</a:t>
            </a:r>
          </a:p>
          <a:p>
            <a:pPr>
              <a:lnSpc>
                <a:spcPts val="2300"/>
              </a:lnSpc>
            </a:pP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Tel.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220 400 500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Open Sans" panose="020B0606030504020204" pitchFamily="34" charset="0"/>
                <a:cs typeface="Segoe UI" panose="020B0502040204020203" pitchFamily="34" charset="0"/>
              </a:rPr>
              <a:t> | </a:t>
            </a:r>
            <a:r>
              <a:rPr lang="pt-PT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Open Sans bold" panose="020B0806030504020204" pitchFamily="34" charset="0"/>
              </a:rPr>
              <a:t>infoporto</a:t>
            </a:r>
            <a:r>
              <a:rPr lang="pt-PT" dirty="0">
                <a:solidFill>
                  <a:schemeClr val="bg1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@atec.pt</a:t>
            </a:r>
          </a:p>
        </p:txBody>
      </p:sp>
      <p:cxnSp>
        <p:nvCxnSpPr>
          <p:cNvPr id="58" name="Straight Connector 57"/>
          <p:cNvCxnSpPr/>
          <p:nvPr/>
        </p:nvCxnSpPr>
        <p:spPr>
          <a:xfrm>
            <a:off x="4956636" y="3036669"/>
            <a:ext cx="0" cy="10711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">
            <a:extLst>
              <a:ext uri="{FF2B5EF4-FFF2-40B4-BE49-F238E27FC236}">
                <a16:creationId xmlns:a16="http://schemas.microsoft.com/office/drawing/2014/main" id="{F5BA44BE-E038-44F0-87EB-5B2726461F45}"/>
              </a:ext>
            </a:extLst>
          </p:cNvPr>
          <p:cNvSpPr/>
          <p:nvPr/>
        </p:nvSpPr>
        <p:spPr>
          <a:xfrm>
            <a:off x="-35089" y="567559"/>
            <a:ext cx="4989344" cy="40577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Segoe UI" panose="020B0502040204020203" pitchFamily="34" charset="0"/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D873A391-1245-4652-BEED-9F4CF7965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285" y="2320238"/>
            <a:ext cx="2848821" cy="744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3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7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Título e Sub-título">
  <a:themeElements>
    <a:clrScheme name="CORES ATEC">
      <a:dk1>
        <a:srgbClr val="134773"/>
      </a:dk1>
      <a:lt1>
        <a:sysClr val="window" lastClr="FFFFFF"/>
      </a:lt1>
      <a:dk2>
        <a:srgbClr val="6D6E71"/>
      </a:dk2>
      <a:lt2>
        <a:srgbClr val="134773"/>
      </a:lt2>
      <a:accent1>
        <a:srgbClr val="134773"/>
      </a:accent1>
      <a:accent2>
        <a:srgbClr val="0060AC"/>
      </a:accent2>
      <a:accent3>
        <a:srgbClr val="00AEEF"/>
      </a:accent3>
      <a:accent4>
        <a:srgbClr val="E85A26"/>
      </a:accent4>
      <a:accent5>
        <a:srgbClr val="F29122"/>
      </a:accent5>
      <a:accent6>
        <a:srgbClr val="FBAE47"/>
      </a:accent6>
      <a:hlink>
        <a:srgbClr val="134773"/>
      </a:hlink>
      <a:folHlink>
        <a:srgbClr val="00AEEF"/>
      </a:folHlink>
    </a:clrScheme>
    <a:fontScheme name="LETRA ATEC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A9AA3B46D399499A38902902288AE9" ma:contentTypeVersion="11" ma:contentTypeDescription="Create a new document." ma:contentTypeScope="" ma:versionID="94b41e59adfbdd1dbf1551b61b72d2df">
  <xsd:schema xmlns:xsd="http://www.w3.org/2001/XMLSchema" xmlns:xs="http://www.w3.org/2001/XMLSchema" xmlns:p="http://schemas.microsoft.com/office/2006/metadata/properties" xmlns:ns2="c824db9b-d9c7-4797-be33-505d35229944" xmlns:ns3="490bc2b0-995c-4aff-9aba-f2b12d967e9b" targetNamespace="http://schemas.microsoft.com/office/2006/metadata/properties" ma:root="true" ma:fieldsID="4a3bca8d44f619a046909ccf39ada52c" ns2:_="" ns3:_="">
    <xsd:import namespace="c824db9b-d9c7-4797-be33-505d35229944"/>
    <xsd:import namespace="490bc2b0-995c-4aff-9aba-f2b12d967e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4db9b-d9c7-4797-be33-505d352299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30164bd-3db1-4035-80db-1f2bd81da9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0bc2b0-995c-4aff-9aba-f2b12d967e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1882fea-8b44-44a5-af3e-e8fd1d54f9dc}" ma:internalName="TaxCatchAll" ma:showField="CatchAllData" ma:web="490bc2b0-995c-4aff-9aba-f2b12d967e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0bc2b0-995c-4aff-9aba-f2b12d967e9b" xsi:nil="true"/>
    <lcf76f155ced4ddcb4097134ff3c332f xmlns="c824db9b-d9c7-4797-be33-505d3522994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FA70B25-DDB6-4E02-996A-545E2BC6C8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24db9b-d9c7-4797-be33-505d35229944"/>
    <ds:schemaRef ds:uri="490bc2b0-995c-4aff-9aba-f2b12d967e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E6CD22-E652-4FA4-BFBB-AB320C6980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9C6585-F6AA-41B4-B979-BFB1807B4534}">
  <ds:schemaRefs>
    <ds:schemaRef ds:uri="http://schemas.microsoft.com/office/2006/metadata/properties"/>
    <ds:schemaRef ds:uri="http://schemas.microsoft.com/office/infopath/2007/PartnerControls"/>
    <ds:schemaRef ds:uri="b5d6457f-cca8-4519-abcc-ee100bd73b31"/>
    <ds:schemaRef ds:uri="bd68fa59-262a-45eb-a282-aff4b0a9c043"/>
    <ds:schemaRef ds:uri="490bc2b0-995c-4aff-9aba-f2b12d967e9b"/>
    <ds:schemaRef ds:uri="c824db9b-d9c7-4797-be33-505d3522994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12526</TotalTime>
  <Words>987</Words>
  <Application>Microsoft Office PowerPoint</Application>
  <PresentationFormat>Ecrã Panorâmico</PresentationFormat>
  <Paragraphs>264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4" baseType="lpstr">
      <vt:lpstr>Título e Sub-título</vt:lpstr>
      <vt:lpstr>Apresentação do PowerPoint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Arquitetura de Computadores</vt:lpstr>
      <vt:lpstr>OBRIGADO PELA VOSSA ATENÇÃO E COLABORAÇÃO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Inês Bastos</dc:creator>
  <cp:lastModifiedBy>André S. Ribeiro</cp:lastModifiedBy>
  <cp:revision>725</cp:revision>
  <cp:lastPrinted>2019-02-18T11:33:32Z</cp:lastPrinted>
  <dcterms:created xsi:type="dcterms:W3CDTF">2017-04-05T12:09:40Z</dcterms:created>
  <dcterms:modified xsi:type="dcterms:W3CDTF">2025-10-06T14:33:49Z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0x010100CEA9AA3B46D399499A38902902288AE9</vt:lpwstr>
  </property>
  <property fmtid="{D5CDD505-2E9C-101B-9397-08002B2CF9AE}" pid="3" name="MediaServiceImageTags">
    <vt:lpwstr/>
  </property>
</Properties>
</file>